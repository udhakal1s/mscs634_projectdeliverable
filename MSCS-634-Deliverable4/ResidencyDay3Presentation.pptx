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CFF2C9-FE7F-45C9-B14B-2C959509DD60}" v="102" dt="2026-02-15T15:16:52.3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312" autoAdjust="0"/>
  </p:normalViewPr>
  <p:slideViewPr>
    <p:cSldViewPr snapToGrid="0">
      <p:cViewPr varScale="1">
        <p:scale>
          <a:sx n="61" d="100"/>
          <a:sy n="61" d="100"/>
        </p:scale>
        <p:origin x="15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37852C-5231-4368-960F-970467FB508A}" type="doc">
      <dgm:prSet loTypeId="urn:microsoft.com/office/officeart/2005/8/layout/matrix3" loCatId="matrix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68678DE-71EA-4B15-9ECB-424F27ED085B}">
      <dgm:prSet/>
      <dgm:spPr/>
      <dgm:t>
        <a:bodyPr/>
        <a:lstStyle/>
        <a:p>
          <a:r>
            <a:rPr lang="en-US"/>
            <a:t>EDA &amp; Cleaning (Deliverable 1)</a:t>
          </a:r>
        </a:p>
      </dgm:t>
    </dgm:pt>
    <dgm:pt modelId="{7E99972F-AC88-4FC6-958F-A526C2D9F1EA}" type="parTrans" cxnId="{BC5D8324-F89E-4039-B476-3962366502EE}">
      <dgm:prSet/>
      <dgm:spPr/>
      <dgm:t>
        <a:bodyPr/>
        <a:lstStyle/>
        <a:p>
          <a:endParaRPr lang="en-US"/>
        </a:p>
      </dgm:t>
    </dgm:pt>
    <dgm:pt modelId="{4B54FA77-0456-4124-AB88-CF89EB70199D}" type="sibTrans" cxnId="{BC5D8324-F89E-4039-B476-3962366502EE}">
      <dgm:prSet/>
      <dgm:spPr/>
      <dgm:t>
        <a:bodyPr/>
        <a:lstStyle/>
        <a:p>
          <a:endParaRPr lang="en-US"/>
        </a:p>
      </dgm:t>
    </dgm:pt>
    <dgm:pt modelId="{03947CE2-8B23-43A3-B448-6E3687E1082B}">
      <dgm:prSet/>
      <dgm:spPr/>
      <dgm:t>
        <a:bodyPr/>
        <a:lstStyle/>
        <a:p>
          <a:r>
            <a:rPr lang="en-US"/>
            <a:t>Regression Modeling (Deliverable 2)</a:t>
          </a:r>
        </a:p>
      </dgm:t>
    </dgm:pt>
    <dgm:pt modelId="{7F2BC329-88FB-414B-BA7A-0AB8BFEDA41F}" type="parTrans" cxnId="{208D7774-499D-4C09-BF01-3CD4B22362F4}">
      <dgm:prSet/>
      <dgm:spPr/>
      <dgm:t>
        <a:bodyPr/>
        <a:lstStyle/>
        <a:p>
          <a:endParaRPr lang="en-US"/>
        </a:p>
      </dgm:t>
    </dgm:pt>
    <dgm:pt modelId="{37C4C6E5-01EB-4AFB-9175-B6AE20624EC7}" type="sibTrans" cxnId="{208D7774-499D-4C09-BF01-3CD4B22362F4}">
      <dgm:prSet/>
      <dgm:spPr/>
      <dgm:t>
        <a:bodyPr/>
        <a:lstStyle/>
        <a:p>
          <a:endParaRPr lang="en-US"/>
        </a:p>
      </dgm:t>
    </dgm:pt>
    <dgm:pt modelId="{F087BDEF-C177-4F40-BFD0-6D052B146FD3}">
      <dgm:prSet/>
      <dgm:spPr/>
      <dgm:t>
        <a:bodyPr/>
        <a:lstStyle/>
        <a:p>
          <a:r>
            <a:rPr lang="en-US"/>
            <a:t>Classification, Clustering, Association Rules (Deliverable 3)</a:t>
          </a:r>
        </a:p>
      </dgm:t>
    </dgm:pt>
    <dgm:pt modelId="{736DFEFC-76EF-44C7-BBAB-903DE642D374}" type="parTrans" cxnId="{24D6961D-F1FE-42FB-92D6-A05ED9EF68F8}">
      <dgm:prSet/>
      <dgm:spPr/>
      <dgm:t>
        <a:bodyPr/>
        <a:lstStyle/>
        <a:p>
          <a:endParaRPr lang="en-US"/>
        </a:p>
      </dgm:t>
    </dgm:pt>
    <dgm:pt modelId="{CD21BF0B-5C18-4A1E-BD4E-C7947B1A613F}" type="sibTrans" cxnId="{24D6961D-F1FE-42FB-92D6-A05ED9EF68F8}">
      <dgm:prSet/>
      <dgm:spPr/>
      <dgm:t>
        <a:bodyPr/>
        <a:lstStyle/>
        <a:p>
          <a:endParaRPr lang="en-US"/>
        </a:p>
      </dgm:t>
    </dgm:pt>
    <dgm:pt modelId="{BA6989A9-327A-4B2A-BAC9-3171E05E9A3A}">
      <dgm:prSet/>
      <dgm:spPr/>
      <dgm:t>
        <a:bodyPr/>
        <a:lstStyle/>
        <a:p>
          <a:r>
            <a:rPr lang="en-US"/>
            <a:t>Key findings + implications</a:t>
          </a:r>
        </a:p>
      </dgm:t>
    </dgm:pt>
    <dgm:pt modelId="{EE229F40-615E-46F1-9FFC-256F1072D31B}" type="parTrans" cxnId="{5E79AC49-CDC1-4160-B4BF-9E01F6833A64}">
      <dgm:prSet/>
      <dgm:spPr/>
      <dgm:t>
        <a:bodyPr/>
        <a:lstStyle/>
        <a:p>
          <a:endParaRPr lang="en-US"/>
        </a:p>
      </dgm:t>
    </dgm:pt>
    <dgm:pt modelId="{297724FB-CBD5-46DB-A26C-86C61087C72A}" type="sibTrans" cxnId="{5E79AC49-CDC1-4160-B4BF-9E01F6833A64}">
      <dgm:prSet/>
      <dgm:spPr/>
      <dgm:t>
        <a:bodyPr/>
        <a:lstStyle/>
        <a:p>
          <a:endParaRPr lang="en-US"/>
        </a:p>
      </dgm:t>
    </dgm:pt>
    <dgm:pt modelId="{FDBEBEEF-1438-428C-80DD-757F8A2AD3B3}" type="pres">
      <dgm:prSet presAssocID="{FE37852C-5231-4368-960F-970467FB508A}" presName="matrix" presStyleCnt="0">
        <dgm:presLayoutVars>
          <dgm:chMax val="1"/>
          <dgm:dir/>
          <dgm:resizeHandles val="exact"/>
        </dgm:presLayoutVars>
      </dgm:prSet>
      <dgm:spPr/>
    </dgm:pt>
    <dgm:pt modelId="{CF5FC9C4-353D-4F13-8436-5457E26CC5B0}" type="pres">
      <dgm:prSet presAssocID="{FE37852C-5231-4368-960F-970467FB508A}" presName="diamond" presStyleLbl="bgShp" presStyleIdx="0" presStyleCnt="1"/>
      <dgm:spPr/>
    </dgm:pt>
    <dgm:pt modelId="{2A2FDE3C-F92A-4536-BE00-26E12B840F79}" type="pres">
      <dgm:prSet presAssocID="{FE37852C-5231-4368-960F-970467FB508A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938E08-2F4D-499C-9227-62BC18A8C31A}" type="pres">
      <dgm:prSet presAssocID="{FE37852C-5231-4368-960F-970467FB508A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4646A5E-EEDB-423A-B352-3EDE13261C0B}" type="pres">
      <dgm:prSet presAssocID="{FE37852C-5231-4368-960F-970467FB508A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1844CF13-4711-4DFF-82B0-5124F8501E10}" type="pres">
      <dgm:prSet presAssocID="{FE37852C-5231-4368-960F-970467FB508A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9D69A03-580C-4E7F-9685-BD36BEA272C0}" type="presOf" srcId="{F087BDEF-C177-4F40-BFD0-6D052B146FD3}" destId="{44646A5E-EEDB-423A-B352-3EDE13261C0B}" srcOrd="0" destOrd="0" presId="urn:microsoft.com/office/officeart/2005/8/layout/matrix3"/>
    <dgm:cxn modelId="{24D6961D-F1FE-42FB-92D6-A05ED9EF68F8}" srcId="{FE37852C-5231-4368-960F-970467FB508A}" destId="{F087BDEF-C177-4F40-BFD0-6D052B146FD3}" srcOrd="2" destOrd="0" parTransId="{736DFEFC-76EF-44C7-BBAB-903DE642D374}" sibTransId="{CD21BF0B-5C18-4A1E-BD4E-C7947B1A613F}"/>
    <dgm:cxn modelId="{BC5D8324-F89E-4039-B476-3962366502EE}" srcId="{FE37852C-5231-4368-960F-970467FB508A}" destId="{968678DE-71EA-4B15-9ECB-424F27ED085B}" srcOrd="0" destOrd="0" parTransId="{7E99972F-AC88-4FC6-958F-A526C2D9F1EA}" sibTransId="{4B54FA77-0456-4124-AB88-CF89EB70199D}"/>
    <dgm:cxn modelId="{B1F12334-496E-4ACB-9037-05C0D128CE39}" type="presOf" srcId="{03947CE2-8B23-43A3-B448-6E3687E1082B}" destId="{67938E08-2F4D-499C-9227-62BC18A8C31A}" srcOrd="0" destOrd="0" presId="urn:microsoft.com/office/officeart/2005/8/layout/matrix3"/>
    <dgm:cxn modelId="{3A8A7C37-1602-4A82-9FE5-36EE7BD82FE7}" type="presOf" srcId="{FE37852C-5231-4368-960F-970467FB508A}" destId="{FDBEBEEF-1438-428C-80DD-757F8A2AD3B3}" srcOrd="0" destOrd="0" presId="urn:microsoft.com/office/officeart/2005/8/layout/matrix3"/>
    <dgm:cxn modelId="{5E79AC49-CDC1-4160-B4BF-9E01F6833A64}" srcId="{FE37852C-5231-4368-960F-970467FB508A}" destId="{BA6989A9-327A-4B2A-BAC9-3171E05E9A3A}" srcOrd="3" destOrd="0" parTransId="{EE229F40-615E-46F1-9FFC-256F1072D31B}" sibTransId="{297724FB-CBD5-46DB-A26C-86C61087C72A}"/>
    <dgm:cxn modelId="{208D7774-499D-4C09-BF01-3CD4B22362F4}" srcId="{FE37852C-5231-4368-960F-970467FB508A}" destId="{03947CE2-8B23-43A3-B448-6E3687E1082B}" srcOrd="1" destOrd="0" parTransId="{7F2BC329-88FB-414B-BA7A-0AB8BFEDA41F}" sibTransId="{37C4C6E5-01EB-4AFB-9175-B6AE20624EC7}"/>
    <dgm:cxn modelId="{C18431B7-1CD0-4511-AAC0-07644C180E84}" type="presOf" srcId="{968678DE-71EA-4B15-9ECB-424F27ED085B}" destId="{2A2FDE3C-F92A-4536-BE00-26E12B840F79}" srcOrd="0" destOrd="0" presId="urn:microsoft.com/office/officeart/2005/8/layout/matrix3"/>
    <dgm:cxn modelId="{A89061D9-3B53-45FB-B75C-BDE5E8B313E4}" type="presOf" srcId="{BA6989A9-327A-4B2A-BAC9-3171E05E9A3A}" destId="{1844CF13-4711-4DFF-82B0-5124F8501E10}" srcOrd="0" destOrd="0" presId="urn:microsoft.com/office/officeart/2005/8/layout/matrix3"/>
    <dgm:cxn modelId="{50526A0E-CD7A-4D0C-95F1-1F335BBEF8FA}" type="presParOf" srcId="{FDBEBEEF-1438-428C-80DD-757F8A2AD3B3}" destId="{CF5FC9C4-353D-4F13-8436-5457E26CC5B0}" srcOrd="0" destOrd="0" presId="urn:microsoft.com/office/officeart/2005/8/layout/matrix3"/>
    <dgm:cxn modelId="{36487ECE-3436-40DA-889A-8B46BACD22BE}" type="presParOf" srcId="{FDBEBEEF-1438-428C-80DD-757F8A2AD3B3}" destId="{2A2FDE3C-F92A-4536-BE00-26E12B840F79}" srcOrd="1" destOrd="0" presId="urn:microsoft.com/office/officeart/2005/8/layout/matrix3"/>
    <dgm:cxn modelId="{11457D1E-7F3B-488E-9329-526A9B01B76E}" type="presParOf" srcId="{FDBEBEEF-1438-428C-80DD-757F8A2AD3B3}" destId="{67938E08-2F4D-499C-9227-62BC18A8C31A}" srcOrd="2" destOrd="0" presId="urn:microsoft.com/office/officeart/2005/8/layout/matrix3"/>
    <dgm:cxn modelId="{9616F32B-537A-468A-92FC-BC8441E90009}" type="presParOf" srcId="{FDBEBEEF-1438-428C-80DD-757F8A2AD3B3}" destId="{44646A5E-EEDB-423A-B352-3EDE13261C0B}" srcOrd="3" destOrd="0" presId="urn:microsoft.com/office/officeart/2005/8/layout/matrix3"/>
    <dgm:cxn modelId="{F2AD458C-2F62-4049-8A61-EE68EE9C5A41}" type="presParOf" srcId="{FDBEBEEF-1438-428C-80DD-757F8A2AD3B3}" destId="{1844CF13-4711-4DFF-82B0-5124F8501E1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5D5FEE-323A-48A2-BAAB-B0FDC79E133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1D80A8-B445-45CC-A65A-74A7E39475B9}">
      <dgm:prSet/>
      <dgm:spPr/>
      <dgm:t>
        <a:bodyPr/>
        <a:lstStyle/>
        <a:p>
          <a:r>
            <a:rPr lang="en-US"/>
            <a:t>Dataset: Bank Marketing (rows ≈ 45,211)</a:t>
          </a:r>
        </a:p>
      </dgm:t>
    </dgm:pt>
    <dgm:pt modelId="{8A9ECFEA-BEDD-411D-B670-6233990C4724}" type="parTrans" cxnId="{41E701AB-1058-465B-B8D4-E107BDA6C726}">
      <dgm:prSet/>
      <dgm:spPr/>
      <dgm:t>
        <a:bodyPr/>
        <a:lstStyle/>
        <a:p>
          <a:endParaRPr lang="en-US"/>
        </a:p>
      </dgm:t>
    </dgm:pt>
    <dgm:pt modelId="{6C41BC86-D643-4BCC-BC6E-632F0D4B3615}" type="sibTrans" cxnId="{41E701AB-1058-465B-B8D4-E107BDA6C726}">
      <dgm:prSet/>
      <dgm:spPr/>
      <dgm:t>
        <a:bodyPr/>
        <a:lstStyle/>
        <a:p>
          <a:endParaRPr lang="en-US"/>
        </a:p>
      </dgm:t>
    </dgm:pt>
    <dgm:pt modelId="{0153FDB0-0C58-4DC0-8720-5A6DC8A6E045}">
      <dgm:prSet/>
      <dgm:spPr/>
      <dgm:t>
        <a:bodyPr/>
        <a:lstStyle/>
        <a:p>
          <a:r>
            <a:rPr lang="en-US"/>
            <a:t>Target used in EDA &amp; classification: y (subscription: 0/1)</a:t>
          </a:r>
        </a:p>
      </dgm:t>
    </dgm:pt>
    <dgm:pt modelId="{63145E73-38CE-46C6-AC7E-B6818F541EFE}" type="parTrans" cxnId="{745C35F8-D918-409B-91CA-14BA75C6271E}">
      <dgm:prSet/>
      <dgm:spPr/>
      <dgm:t>
        <a:bodyPr/>
        <a:lstStyle/>
        <a:p>
          <a:endParaRPr lang="en-US"/>
        </a:p>
      </dgm:t>
    </dgm:pt>
    <dgm:pt modelId="{24BC5C84-F719-4A4C-80F4-071456F35A18}" type="sibTrans" cxnId="{745C35F8-D918-409B-91CA-14BA75C6271E}">
      <dgm:prSet/>
      <dgm:spPr/>
      <dgm:t>
        <a:bodyPr/>
        <a:lstStyle/>
        <a:p>
          <a:endParaRPr lang="en-US"/>
        </a:p>
      </dgm:t>
    </dgm:pt>
    <dgm:pt modelId="{A8344A03-0DC6-403F-942A-AD4E87527978}">
      <dgm:prSet/>
      <dgm:spPr/>
      <dgm:t>
        <a:bodyPr/>
        <a:lstStyle/>
        <a:p>
          <a:r>
            <a:rPr lang="en-US"/>
            <a:t>Mixed features: numeric + categorical (job, education, loan, etc.)</a:t>
          </a:r>
        </a:p>
      </dgm:t>
    </dgm:pt>
    <dgm:pt modelId="{4BC26E4C-A5ED-4AA2-9CD6-57B438A42A98}" type="parTrans" cxnId="{7D4B5EA3-17E1-4EB4-8C3F-AA0FB53B1C71}">
      <dgm:prSet/>
      <dgm:spPr/>
      <dgm:t>
        <a:bodyPr/>
        <a:lstStyle/>
        <a:p>
          <a:endParaRPr lang="en-US"/>
        </a:p>
      </dgm:t>
    </dgm:pt>
    <dgm:pt modelId="{BFB66590-FA03-45EE-A6AE-F64E99134C9C}" type="sibTrans" cxnId="{7D4B5EA3-17E1-4EB4-8C3F-AA0FB53B1C71}">
      <dgm:prSet/>
      <dgm:spPr/>
      <dgm:t>
        <a:bodyPr/>
        <a:lstStyle/>
        <a:p>
          <a:endParaRPr lang="en-US"/>
        </a:p>
      </dgm:t>
    </dgm:pt>
    <dgm:pt modelId="{577A74E1-5411-416E-8ACF-B9E88BBD8723}">
      <dgm:prSet/>
      <dgm:spPr/>
      <dgm:t>
        <a:bodyPr/>
        <a:lstStyle/>
        <a:p>
          <a:r>
            <a:rPr lang="en-US"/>
            <a:t>Common “unknown” coded values; pdays has special meaning</a:t>
          </a:r>
        </a:p>
      </dgm:t>
    </dgm:pt>
    <dgm:pt modelId="{401E3EE7-6F8C-49E3-A8B7-5F2789E96F50}" type="parTrans" cxnId="{CC9A469B-78CC-4EE1-9684-C90263DF173B}">
      <dgm:prSet/>
      <dgm:spPr/>
      <dgm:t>
        <a:bodyPr/>
        <a:lstStyle/>
        <a:p>
          <a:endParaRPr lang="en-US"/>
        </a:p>
      </dgm:t>
    </dgm:pt>
    <dgm:pt modelId="{4EE5D367-DAB9-417F-BAE4-8D09798CC31D}" type="sibTrans" cxnId="{CC9A469B-78CC-4EE1-9684-C90263DF173B}">
      <dgm:prSet/>
      <dgm:spPr/>
      <dgm:t>
        <a:bodyPr/>
        <a:lstStyle/>
        <a:p>
          <a:endParaRPr lang="en-US"/>
        </a:p>
      </dgm:t>
    </dgm:pt>
    <dgm:pt modelId="{DB80D1B2-21A2-46DE-AB40-33751C2DDC2E}" type="pres">
      <dgm:prSet presAssocID="{A25D5FEE-323A-48A2-BAAB-B0FDC79E1331}" presName="linear" presStyleCnt="0">
        <dgm:presLayoutVars>
          <dgm:animLvl val="lvl"/>
          <dgm:resizeHandles val="exact"/>
        </dgm:presLayoutVars>
      </dgm:prSet>
      <dgm:spPr/>
    </dgm:pt>
    <dgm:pt modelId="{E2AD5285-4077-4B27-956F-6837AAB74D23}" type="pres">
      <dgm:prSet presAssocID="{5E1D80A8-B445-45CC-A65A-74A7E39475B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EF0B79-E20B-4EA3-A670-AA83474274A6}" type="pres">
      <dgm:prSet presAssocID="{6C41BC86-D643-4BCC-BC6E-632F0D4B3615}" presName="spacer" presStyleCnt="0"/>
      <dgm:spPr/>
    </dgm:pt>
    <dgm:pt modelId="{706AB9D0-07C3-4FD9-8091-8E2CC78B3E70}" type="pres">
      <dgm:prSet presAssocID="{0153FDB0-0C58-4DC0-8720-5A6DC8A6E0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8AD1815-4B17-4C3E-AB11-9A3CC735CF7F}" type="pres">
      <dgm:prSet presAssocID="{24BC5C84-F719-4A4C-80F4-071456F35A18}" presName="spacer" presStyleCnt="0"/>
      <dgm:spPr/>
    </dgm:pt>
    <dgm:pt modelId="{3DA9236F-EAC1-4278-BC23-7B5921A19F25}" type="pres">
      <dgm:prSet presAssocID="{A8344A03-0DC6-403F-942A-AD4E8752797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07F3591-15E7-4C6D-BB60-313C77114DDF}" type="pres">
      <dgm:prSet presAssocID="{BFB66590-FA03-45EE-A6AE-F64E99134C9C}" presName="spacer" presStyleCnt="0"/>
      <dgm:spPr/>
    </dgm:pt>
    <dgm:pt modelId="{49BC6C74-7443-4B42-BD4B-B227D86E75D3}" type="pres">
      <dgm:prSet presAssocID="{577A74E1-5411-416E-8ACF-B9E88BBD872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3DB920F-2028-40FB-BC76-511134559C40}" type="presOf" srcId="{0153FDB0-0C58-4DC0-8720-5A6DC8A6E045}" destId="{706AB9D0-07C3-4FD9-8091-8E2CC78B3E70}" srcOrd="0" destOrd="0" presId="urn:microsoft.com/office/officeart/2005/8/layout/vList2"/>
    <dgm:cxn modelId="{1305631E-5AAA-446A-A5BC-965DF73CBCD6}" type="presOf" srcId="{A25D5FEE-323A-48A2-BAAB-B0FDC79E1331}" destId="{DB80D1B2-21A2-46DE-AB40-33751C2DDC2E}" srcOrd="0" destOrd="0" presId="urn:microsoft.com/office/officeart/2005/8/layout/vList2"/>
    <dgm:cxn modelId="{3FABD82F-F854-4884-86F2-4C1CB0D933B0}" type="presOf" srcId="{5E1D80A8-B445-45CC-A65A-74A7E39475B9}" destId="{E2AD5285-4077-4B27-956F-6837AAB74D23}" srcOrd="0" destOrd="0" presId="urn:microsoft.com/office/officeart/2005/8/layout/vList2"/>
    <dgm:cxn modelId="{00D9F76C-6FCF-4286-A1D2-231873A2C528}" type="presOf" srcId="{A8344A03-0DC6-403F-942A-AD4E87527978}" destId="{3DA9236F-EAC1-4278-BC23-7B5921A19F25}" srcOrd="0" destOrd="0" presId="urn:microsoft.com/office/officeart/2005/8/layout/vList2"/>
    <dgm:cxn modelId="{CC9A469B-78CC-4EE1-9684-C90263DF173B}" srcId="{A25D5FEE-323A-48A2-BAAB-B0FDC79E1331}" destId="{577A74E1-5411-416E-8ACF-B9E88BBD8723}" srcOrd="3" destOrd="0" parTransId="{401E3EE7-6F8C-49E3-A8B7-5F2789E96F50}" sibTransId="{4EE5D367-DAB9-417F-BAE4-8D09798CC31D}"/>
    <dgm:cxn modelId="{7D4B5EA3-17E1-4EB4-8C3F-AA0FB53B1C71}" srcId="{A25D5FEE-323A-48A2-BAAB-B0FDC79E1331}" destId="{A8344A03-0DC6-403F-942A-AD4E87527978}" srcOrd="2" destOrd="0" parTransId="{4BC26E4C-A5ED-4AA2-9CD6-57B438A42A98}" sibTransId="{BFB66590-FA03-45EE-A6AE-F64E99134C9C}"/>
    <dgm:cxn modelId="{41E701AB-1058-465B-B8D4-E107BDA6C726}" srcId="{A25D5FEE-323A-48A2-BAAB-B0FDC79E1331}" destId="{5E1D80A8-B445-45CC-A65A-74A7E39475B9}" srcOrd="0" destOrd="0" parTransId="{8A9ECFEA-BEDD-411D-B670-6233990C4724}" sibTransId="{6C41BC86-D643-4BCC-BC6E-632F0D4B3615}"/>
    <dgm:cxn modelId="{D6E9B6CB-F11A-4B9C-A641-EE6FB68CCC75}" type="presOf" srcId="{577A74E1-5411-416E-8ACF-B9E88BBD8723}" destId="{49BC6C74-7443-4B42-BD4B-B227D86E75D3}" srcOrd="0" destOrd="0" presId="urn:microsoft.com/office/officeart/2005/8/layout/vList2"/>
    <dgm:cxn modelId="{745C35F8-D918-409B-91CA-14BA75C6271E}" srcId="{A25D5FEE-323A-48A2-BAAB-B0FDC79E1331}" destId="{0153FDB0-0C58-4DC0-8720-5A6DC8A6E045}" srcOrd="1" destOrd="0" parTransId="{63145E73-38CE-46C6-AC7E-B6818F541EFE}" sibTransId="{24BC5C84-F719-4A4C-80F4-071456F35A18}"/>
    <dgm:cxn modelId="{D1F60BA4-F2F5-4822-B845-B6DF28335630}" type="presParOf" srcId="{DB80D1B2-21A2-46DE-AB40-33751C2DDC2E}" destId="{E2AD5285-4077-4B27-956F-6837AAB74D23}" srcOrd="0" destOrd="0" presId="urn:microsoft.com/office/officeart/2005/8/layout/vList2"/>
    <dgm:cxn modelId="{FD9179AC-BC44-4C12-A928-FC7F23374458}" type="presParOf" srcId="{DB80D1B2-21A2-46DE-AB40-33751C2DDC2E}" destId="{C2EF0B79-E20B-4EA3-A670-AA83474274A6}" srcOrd="1" destOrd="0" presId="urn:microsoft.com/office/officeart/2005/8/layout/vList2"/>
    <dgm:cxn modelId="{F469295A-BAB2-44F4-9CCD-C30E8FEA629B}" type="presParOf" srcId="{DB80D1B2-21A2-46DE-AB40-33751C2DDC2E}" destId="{706AB9D0-07C3-4FD9-8091-8E2CC78B3E70}" srcOrd="2" destOrd="0" presId="urn:microsoft.com/office/officeart/2005/8/layout/vList2"/>
    <dgm:cxn modelId="{84F6B737-CAC7-4118-A43A-55EB96E90599}" type="presParOf" srcId="{DB80D1B2-21A2-46DE-AB40-33751C2DDC2E}" destId="{A8AD1815-4B17-4C3E-AB11-9A3CC735CF7F}" srcOrd="3" destOrd="0" presId="urn:microsoft.com/office/officeart/2005/8/layout/vList2"/>
    <dgm:cxn modelId="{F38A9EB1-0689-47F1-9EA6-DEC9FBA90EC3}" type="presParOf" srcId="{DB80D1B2-21A2-46DE-AB40-33751C2DDC2E}" destId="{3DA9236F-EAC1-4278-BC23-7B5921A19F25}" srcOrd="4" destOrd="0" presId="urn:microsoft.com/office/officeart/2005/8/layout/vList2"/>
    <dgm:cxn modelId="{8CC2FE50-1B44-41F1-900C-38C1287F3EB1}" type="presParOf" srcId="{DB80D1B2-21A2-46DE-AB40-33751C2DDC2E}" destId="{507F3591-15E7-4C6D-BB60-313C77114DDF}" srcOrd="5" destOrd="0" presId="urn:microsoft.com/office/officeart/2005/8/layout/vList2"/>
    <dgm:cxn modelId="{A70B4D9A-D68F-4216-BDC1-C31C499B7280}" type="presParOf" srcId="{DB80D1B2-21A2-46DE-AB40-33751C2DDC2E}" destId="{49BC6C74-7443-4B42-BD4B-B227D86E75D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42090D-0427-45D7-8A5A-7A29C299AE5E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BE988A-5296-4E82-A212-299842DBE451}">
      <dgm:prSet/>
      <dgm:spPr/>
      <dgm:t>
        <a:bodyPr/>
        <a:lstStyle/>
        <a:p>
          <a:r>
            <a:rPr lang="en-US"/>
            <a:t>Validation checks: shape, schema, duplicates, missing values</a:t>
          </a:r>
        </a:p>
      </dgm:t>
    </dgm:pt>
    <dgm:pt modelId="{61797ED2-FD81-445C-A323-F44E17E10784}" type="parTrans" cxnId="{77CF44E4-5C66-452F-BF32-325E10BEB5AA}">
      <dgm:prSet/>
      <dgm:spPr/>
      <dgm:t>
        <a:bodyPr/>
        <a:lstStyle/>
        <a:p>
          <a:endParaRPr lang="en-US"/>
        </a:p>
      </dgm:t>
    </dgm:pt>
    <dgm:pt modelId="{DB5993A8-A860-461F-803F-52E41598BAD3}" type="sibTrans" cxnId="{77CF44E4-5C66-452F-BF32-325E10BEB5AA}">
      <dgm:prSet/>
      <dgm:spPr/>
      <dgm:t>
        <a:bodyPr/>
        <a:lstStyle/>
        <a:p>
          <a:endParaRPr lang="en-US"/>
        </a:p>
      </dgm:t>
    </dgm:pt>
    <dgm:pt modelId="{149CDABE-DE00-4720-A62D-2849A8BF7F89}">
      <dgm:prSet/>
      <dgm:spPr/>
      <dgm:t>
        <a:bodyPr/>
        <a:lstStyle/>
        <a:p>
          <a:r>
            <a:rPr lang="en-US"/>
            <a:t>Cleaning actions from notebook:</a:t>
          </a:r>
        </a:p>
      </dgm:t>
    </dgm:pt>
    <dgm:pt modelId="{DAE0C19E-B308-4581-A317-4F622A897143}" type="parTrans" cxnId="{B92EEEC1-6016-410E-9217-295EB250F58B}">
      <dgm:prSet/>
      <dgm:spPr/>
      <dgm:t>
        <a:bodyPr/>
        <a:lstStyle/>
        <a:p>
          <a:endParaRPr lang="en-US"/>
        </a:p>
      </dgm:t>
    </dgm:pt>
    <dgm:pt modelId="{0656D24B-4788-4906-AA2E-02550491FFB8}" type="sibTrans" cxnId="{B92EEEC1-6016-410E-9217-295EB250F58B}">
      <dgm:prSet/>
      <dgm:spPr/>
      <dgm:t>
        <a:bodyPr/>
        <a:lstStyle/>
        <a:p>
          <a:endParaRPr lang="en-US"/>
        </a:p>
      </dgm:t>
    </dgm:pt>
    <dgm:pt modelId="{950EAEEC-9AF6-4831-91FC-AE06944DC17C}">
      <dgm:prSet/>
      <dgm:spPr/>
      <dgm:t>
        <a:bodyPr/>
        <a:lstStyle/>
        <a:p>
          <a:r>
            <a:rPr lang="en-US"/>
            <a:t>Standardize column names</a:t>
          </a:r>
        </a:p>
      </dgm:t>
    </dgm:pt>
    <dgm:pt modelId="{FBB20AA6-51A2-4D15-A55F-18C3E16DD23F}" type="parTrans" cxnId="{3A06DD1A-465C-4FBF-8B0F-DDFA871A93FE}">
      <dgm:prSet/>
      <dgm:spPr/>
      <dgm:t>
        <a:bodyPr/>
        <a:lstStyle/>
        <a:p>
          <a:endParaRPr lang="en-US"/>
        </a:p>
      </dgm:t>
    </dgm:pt>
    <dgm:pt modelId="{F4DEAB10-566F-4599-BEDA-F10DE0BB5B2F}" type="sibTrans" cxnId="{3A06DD1A-465C-4FBF-8B0F-DDFA871A93FE}">
      <dgm:prSet/>
      <dgm:spPr/>
      <dgm:t>
        <a:bodyPr/>
        <a:lstStyle/>
        <a:p>
          <a:endParaRPr lang="en-US"/>
        </a:p>
      </dgm:t>
    </dgm:pt>
    <dgm:pt modelId="{FEE04F78-0216-45C6-85E2-28DA67A3C293}">
      <dgm:prSet/>
      <dgm:spPr/>
      <dgm:t>
        <a:bodyPr/>
        <a:lstStyle/>
        <a:p>
          <a:r>
            <a:rPr lang="en-US"/>
            <a:t>Map target y: {no-&gt;0, yes-&gt;1}</a:t>
          </a:r>
        </a:p>
      </dgm:t>
    </dgm:pt>
    <dgm:pt modelId="{E967E5E6-94F9-48AC-B54B-C80123DD54AA}" type="parTrans" cxnId="{8D59C6FD-594F-47ED-8068-D49C01ADD55E}">
      <dgm:prSet/>
      <dgm:spPr/>
      <dgm:t>
        <a:bodyPr/>
        <a:lstStyle/>
        <a:p>
          <a:endParaRPr lang="en-US"/>
        </a:p>
      </dgm:t>
    </dgm:pt>
    <dgm:pt modelId="{53E5C72C-C9DA-4AF5-B410-3D463217D493}" type="sibTrans" cxnId="{8D59C6FD-594F-47ED-8068-D49C01ADD55E}">
      <dgm:prSet/>
      <dgm:spPr/>
      <dgm:t>
        <a:bodyPr/>
        <a:lstStyle/>
        <a:p>
          <a:endParaRPr lang="en-US"/>
        </a:p>
      </dgm:t>
    </dgm:pt>
    <dgm:pt modelId="{6A9FE146-BFAC-4194-AD34-D9B7E2D8B041}">
      <dgm:prSet/>
      <dgm:spPr/>
      <dgm:t>
        <a:bodyPr/>
        <a:lstStyle/>
        <a:p>
          <a:r>
            <a:rPr lang="en-US"/>
            <a:t>Convert pdays = -1 to missing + create prev_contacted indicator</a:t>
          </a:r>
        </a:p>
      </dgm:t>
    </dgm:pt>
    <dgm:pt modelId="{05283C2C-F57C-42B2-A6C9-B7D7B33F23F0}" type="parTrans" cxnId="{EA9A0E7D-2DF3-4F97-9412-659D34A1348B}">
      <dgm:prSet/>
      <dgm:spPr/>
      <dgm:t>
        <a:bodyPr/>
        <a:lstStyle/>
        <a:p>
          <a:endParaRPr lang="en-US"/>
        </a:p>
      </dgm:t>
    </dgm:pt>
    <dgm:pt modelId="{44E233D5-0DDD-4B2B-AB1F-B4FB01CBB4F8}" type="sibTrans" cxnId="{EA9A0E7D-2DF3-4F97-9412-659D34A1348B}">
      <dgm:prSet/>
      <dgm:spPr/>
      <dgm:t>
        <a:bodyPr/>
        <a:lstStyle/>
        <a:p>
          <a:endParaRPr lang="en-US"/>
        </a:p>
      </dgm:t>
    </dgm:pt>
    <dgm:pt modelId="{63FBD66E-F8BD-4BA9-B221-4BC1ABD0EB0A}">
      <dgm:prSet/>
      <dgm:spPr/>
      <dgm:t>
        <a:bodyPr/>
        <a:lstStyle/>
        <a:p>
          <a:r>
            <a:rPr lang="en-US"/>
            <a:t>Add *_unknown flags for categorical columns containing “unknown”</a:t>
          </a:r>
        </a:p>
      </dgm:t>
    </dgm:pt>
    <dgm:pt modelId="{64341DCE-00AF-401C-8C64-4E3C44F54077}" type="parTrans" cxnId="{BC8BC766-2A43-43B0-A504-1D4A9F58C555}">
      <dgm:prSet/>
      <dgm:spPr/>
      <dgm:t>
        <a:bodyPr/>
        <a:lstStyle/>
        <a:p>
          <a:endParaRPr lang="en-US"/>
        </a:p>
      </dgm:t>
    </dgm:pt>
    <dgm:pt modelId="{F03C0A8C-E7AD-41E9-A4AA-AD78C7AD7FCF}" type="sibTrans" cxnId="{BC8BC766-2A43-43B0-A504-1D4A9F58C555}">
      <dgm:prSet/>
      <dgm:spPr/>
      <dgm:t>
        <a:bodyPr/>
        <a:lstStyle/>
        <a:p>
          <a:endParaRPr lang="en-US"/>
        </a:p>
      </dgm:t>
    </dgm:pt>
    <dgm:pt modelId="{14D75B89-22E2-4C14-A4D5-1FB01AF3476F}" type="pres">
      <dgm:prSet presAssocID="{DF42090D-0427-45D7-8A5A-7A29C299AE5E}" presName="Name0" presStyleCnt="0">
        <dgm:presLayoutVars>
          <dgm:dir/>
          <dgm:animLvl val="lvl"/>
          <dgm:resizeHandles val="exact"/>
        </dgm:presLayoutVars>
      </dgm:prSet>
      <dgm:spPr/>
    </dgm:pt>
    <dgm:pt modelId="{D31A7E6C-EA78-4EB0-A717-CF5DEC409FE1}" type="pres">
      <dgm:prSet presAssocID="{149CDABE-DE00-4720-A62D-2849A8BF7F89}" presName="boxAndChildren" presStyleCnt="0"/>
      <dgm:spPr/>
    </dgm:pt>
    <dgm:pt modelId="{33148178-13A7-4E27-A4EB-B4FD5597BA21}" type="pres">
      <dgm:prSet presAssocID="{149CDABE-DE00-4720-A62D-2849A8BF7F89}" presName="parentTextBox" presStyleLbl="node1" presStyleIdx="0" presStyleCnt="2"/>
      <dgm:spPr/>
    </dgm:pt>
    <dgm:pt modelId="{049B18E1-5FBA-46BA-9424-E2F265C3084F}" type="pres">
      <dgm:prSet presAssocID="{149CDABE-DE00-4720-A62D-2849A8BF7F89}" presName="entireBox" presStyleLbl="node1" presStyleIdx="0" presStyleCnt="2"/>
      <dgm:spPr/>
    </dgm:pt>
    <dgm:pt modelId="{8C77C8CA-9B6A-41E4-8CCC-1DEB1DED899E}" type="pres">
      <dgm:prSet presAssocID="{149CDABE-DE00-4720-A62D-2849A8BF7F89}" presName="descendantBox" presStyleCnt="0"/>
      <dgm:spPr/>
    </dgm:pt>
    <dgm:pt modelId="{7897CF6D-9BEA-46CA-B63D-F28DE2284249}" type="pres">
      <dgm:prSet presAssocID="{950EAEEC-9AF6-4831-91FC-AE06944DC17C}" presName="childTextBox" presStyleLbl="fgAccFollowNode1" presStyleIdx="0" presStyleCnt="4">
        <dgm:presLayoutVars>
          <dgm:bulletEnabled val="1"/>
        </dgm:presLayoutVars>
      </dgm:prSet>
      <dgm:spPr/>
    </dgm:pt>
    <dgm:pt modelId="{AF3FBBD7-2987-4B83-A4DD-EEBDDA79F8BE}" type="pres">
      <dgm:prSet presAssocID="{FEE04F78-0216-45C6-85E2-28DA67A3C293}" presName="childTextBox" presStyleLbl="fgAccFollowNode1" presStyleIdx="1" presStyleCnt="4">
        <dgm:presLayoutVars>
          <dgm:bulletEnabled val="1"/>
        </dgm:presLayoutVars>
      </dgm:prSet>
      <dgm:spPr/>
    </dgm:pt>
    <dgm:pt modelId="{06780175-7B9F-48F2-87AA-A8591EE387DD}" type="pres">
      <dgm:prSet presAssocID="{6A9FE146-BFAC-4194-AD34-D9B7E2D8B041}" presName="childTextBox" presStyleLbl="fgAccFollowNode1" presStyleIdx="2" presStyleCnt="4">
        <dgm:presLayoutVars>
          <dgm:bulletEnabled val="1"/>
        </dgm:presLayoutVars>
      </dgm:prSet>
      <dgm:spPr/>
    </dgm:pt>
    <dgm:pt modelId="{68068246-85B3-4DDF-81E3-7772D3D6A0D6}" type="pres">
      <dgm:prSet presAssocID="{63FBD66E-F8BD-4BA9-B221-4BC1ABD0EB0A}" presName="childTextBox" presStyleLbl="fgAccFollowNode1" presStyleIdx="3" presStyleCnt="4">
        <dgm:presLayoutVars>
          <dgm:bulletEnabled val="1"/>
        </dgm:presLayoutVars>
      </dgm:prSet>
      <dgm:spPr/>
    </dgm:pt>
    <dgm:pt modelId="{C28F3D3F-7436-409E-A94C-E7E592162F25}" type="pres">
      <dgm:prSet presAssocID="{DB5993A8-A860-461F-803F-52E41598BAD3}" presName="sp" presStyleCnt="0"/>
      <dgm:spPr/>
    </dgm:pt>
    <dgm:pt modelId="{0A989B6D-711B-46D9-BB0F-B8FAFAC87005}" type="pres">
      <dgm:prSet presAssocID="{5CBE988A-5296-4E82-A212-299842DBE451}" presName="arrowAndChildren" presStyleCnt="0"/>
      <dgm:spPr/>
    </dgm:pt>
    <dgm:pt modelId="{ABA3D5EB-F52E-4A40-8C9F-E19C74461666}" type="pres">
      <dgm:prSet presAssocID="{5CBE988A-5296-4E82-A212-299842DBE451}" presName="parentTextArrow" presStyleLbl="node1" presStyleIdx="1" presStyleCnt="2"/>
      <dgm:spPr/>
    </dgm:pt>
  </dgm:ptLst>
  <dgm:cxnLst>
    <dgm:cxn modelId="{3A06DD1A-465C-4FBF-8B0F-DDFA871A93FE}" srcId="{149CDABE-DE00-4720-A62D-2849A8BF7F89}" destId="{950EAEEC-9AF6-4831-91FC-AE06944DC17C}" srcOrd="0" destOrd="0" parTransId="{FBB20AA6-51A2-4D15-A55F-18C3E16DD23F}" sibTransId="{F4DEAB10-566F-4599-BEDA-F10DE0BB5B2F}"/>
    <dgm:cxn modelId="{BEBDD833-8CBC-4A35-B11C-63D8B0ECB0FE}" type="presOf" srcId="{6A9FE146-BFAC-4194-AD34-D9B7E2D8B041}" destId="{06780175-7B9F-48F2-87AA-A8591EE387DD}" srcOrd="0" destOrd="0" presId="urn:microsoft.com/office/officeart/2005/8/layout/process4"/>
    <dgm:cxn modelId="{2E487035-6482-4555-B6D5-224191125618}" type="presOf" srcId="{149CDABE-DE00-4720-A62D-2849A8BF7F89}" destId="{33148178-13A7-4E27-A4EB-B4FD5597BA21}" srcOrd="0" destOrd="0" presId="urn:microsoft.com/office/officeart/2005/8/layout/process4"/>
    <dgm:cxn modelId="{BC8BC766-2A43-43B0-A504-1D4A9F58C555}" srcId="{149CDABE-DE00-4720-A62D-2849A8BF7F89}" destId="{63FBD66E-F8BD-4BA9-B221-4BC1ABD0EB0A}" srcOrd="3" destOrd="0" parTransId="{64341DCE-00AF-401C-8C64-4E3C44F54077}" sibTransId="{F03C0A8C-E7AD-41E9-A4AA-AD78C7AD7FCF}"/>
    <dgm:cxn modelId="{3A6BB96D-8BC7-4D77-BC36-1CB53F94B07C}" type="presOf" srcId="{149CDABE-DE00-4720-A62D-2849A8BF7F89}" destId="{049B18E1-5FBA-46BA-9424-E2F265C3084F}" srcOrd="1" destOrd="0" presId="urn:microsoft.com/office/officeart/2005/8/layout/process4"/>
    <dgm:cxn modelId="{EA9A0E7D-2DF3-4F97-9412-659D34A1348B}" srcId="{149CDABE-DE00-4720-A62D-2849A8BF7F89}" destId="{6A9FE146-BFAC-4194-AD34-D9B7E2D8B041}" srcOrd="2" destOrd="0" parTransId="{05283C2C-F57C-42B2-A6C9-B7D7B33F23F0}" sibTransId="{44E233D5-0DDD-4B2B-AB1F-B4FB01CBB4F8}"/>
    <dgm:cxn modelId="{B7FEF68C-860D-4618-ADA7-F1E0A86BEBF4}" type="presOf" srcId="{63FBD66E-F8BD-4BA9-B221-4BC1ABD0EB0A}" destId="{68068246-85B3-4DDF-81E3-7772D3D6A0D6}" srcOrd="0" destOrd="0" presId="urn:microsoft.com/office/officeart/2005/8/layout/process4"/>
    <dgm:cxn modelId="{45C503A0-ECA0-4F4C-9CFA-A8D9B387379A}" type="presOf" srcId="{FEE04F78-0216-45C6-85E2-28DA67A3C293}" destId="{AF3FBBD7-2987-4B83-A4DD-EEBDDA79F8BE}" srcOrd="0" destOrd="0" presId="urn:microsoft.com/office/officeart/2005/8/layout/process4"/>
    <dgm:cxn modelId="{7B337FB8-B884-486D-AF37-8CE34C89656C}" type="presOf" srcId="{5CBE988A-5296-4E82-A212-299842DBE451}" destId="{ABA3D5EB-F52E-4A40-8C9F-E19C74461666}" srcOrd="0" destOrd="0" presId="urn:microsoft.com/office/officeart/2005/8/layout/process4"/>
    <dgm:cxn modelId="{B92EEEC1-6016-410E-9217-295EB250F58B}" srcId="{DF42090D-0427-45D7-8A5A-7A29C299AE5E}" destId="{149CDABE-DE00-4720-A62D-2849A8BF7F89}" srcOrd="1" destOrd="0" parTransId="{DAE0C19E-B308-4581-A317-4F622A897143}" sibTransId="{0656D24B-4788-4906-AA2E-02550491FFB8}"/>
    <dgm:cxn modelId="{E9F490C4-9B81-40DF-B541-6A2583FBBEDB}" type="presOf" srcId="{DF42090D-0427-45D7-8A5A-7A29C299AE5E}" destId="{14D75B89-22E2-4C14-A4D5-1FB01AF3476F}" srcOrd="0" destOrd="0" presId="urn:microsoft.com/office/officeart/2005/8/layout/process4"/>
    <dgm:cxn modelId="{D8386ACA-B7A9-49DB-AC45-57956A29F8AA}" type="presOf" srcId="{950EAEEC-9AF6-4831-91FC-AE06944DC17C}" destId="{7897CF6D-9BEA-46CA-B63D-F28DE2284249}" srcOrd="0" destOrd="0" presId="urn:microsoft.com/office/officeart/2005/8/layout/process4"/>
    <dgm:cxn modelId="{77CF44E4-5C66-452F-BF32-325E10BEB5AA}" srcId="{DF42090D-0427-45D7-8A5A-7A29C299AE5E}" destId="{5CBE988A-5296-4E82-A212-299842DBE451}" srcOrd="0" destOrd="0" parTransId="{61797ED2-FD81-445C-A323-F44E17E10784}" sibTransId="{DB5993A8-A860-461F-803F-52E41598BAD3}"/>
    <dgm:cxn modelId="{8D59C6FD-594F-47ED-8068-D49C01ADD55E}" srcId="{149CDABE-DE00-4720-A62D-2849A8BF7F89}" destId="{FEE04F78-0216-45C6-85E2-28DA67A3C293}" srcOrd="1" destOrd="0" parTransId="{E967E5E6-94F9-48AC-B54B-C80123DD54AA}" sibTransId="{53E5C72C-C9DA-4AF5-B410-3D463217D493}"/>
    <dgm:cxn modelId="{083AC50B-57B5-41FE-9D0F-1D32F4EFAE3D}" type="presParOf" srcId="{14D75B89-22E2-4C14-A4D5-1FB01AF3476F}" destId="{D31A7E6C-EA78-4EB0-A717-CF5DEC409FE1}" srcOrd="0" destOrd="0" presId="urn:microsoft.com/office/officeart/2005/8/layout/process4"/>
    <dgm:cxn modelId="{3C1C20FC-9C1F-4656-B481-1339B6D730A4}" type="presParOf" srcId="{D31A7E6C-EA78-4EB0-A717-CF5DEC409FE1}" destId="{33148178-13A7-4E27-A4EB-B4FD5597BA21}" srcOrd="0" destOrd="0" presId="urn:microsoft.com/office/officeart/2005/8/layout/process4"/>
    <dgm:cxn modelId="{96E0448C-4CB7-42E8-BF61-F60A91C3D84C}" type="presParOf" srcId="{D31A7E6C-EA78-4EB0-A717-CF5DEC409FE1}" destId="{049B18E1-5FBA-46BA-9424-E2F265C3084F}" srcOrd="1" destOrd="0" presId="urn:microsoft.com/office/officeart/2005/8/layout/process4"/>
    <dgm:cxn modelId="{0606C331-5CDB-4DDB-A522-79A093B1B351}" type="presParOf" srcId="{D31A7E6C-EA78-4EB0-A717-CF5DEC409FE1}" destId="{8C77C8CA-9B6A-41E4-8CCC-1DEB1DED899E}" srcOrd="2" destOrd="0" presId="urn:microsoft.com/office/officeart/2005/8/layout/process4"/>
    <dgm:cxn modelId="{F1F6AC95-557D-4555-8D63-24773B18A532}" type="presParOf" srcId="{8C77C8CA-9B6A-41E4-8CCC-1DEB1DED899E}" destId="{7897CF6D-9BEA-46CA-B63D-F28DE2284249}" srcOrd="0" destOrd="0" presId="urn:microsoft.com/office/officeart/2005/8/layout/process4"/>
    <dgm:cxn modelId="{036688EE-3FB2-4411-B815-D6CDFE4C7A90}" type="presParOf" srcId="{8C77C8CA-9B6A-41E4-8CCC-1DEB1DED899E}" destId="{AF3FBBD7-2987-4B83-A4DD-EEBDDA79F8BE}" srcOrd="1" destOrd="0" presId="urn:microsoft.com/office/officeart/2005/8/layout/process4"/>
    <dgm:cxn modelId="{A06A6E27-3B44-4A25-93A0-C172505A7CBD}" type="presParOf" srcId="{8C77C8CA-9B6A-41E4-8CCC-1DEB1DED899E}" destId="{06780175-7B9F-48F2-87AA-A8591EE387DD}" srcOrd="2" destOrd="0" presId="urn:microsoft.com/office/officeart/2005/8/layout/process4"/>
    <dgm:cxn modelId="{BC34904B-51C7-4BF8-96AC-1C3C9BEE1F68}" type="presParOf" srcId="{8C77C8CA-9B6A-41E4-8CCC-1DEB1DED899E}" destId="{68068246-85B3-4DDF-81E3-7772D3D6A0D6}" srcOrd="3" destOrd="0" presId="urn:microsoft.com/office/officeart/2005/8/layout/process4"/>
    <dgm:cxn modelId="{0876BF28-8EE8-40DE-A747-38715EC97D06}" type="presParOf" srcId="{14D75B89-22E2-4C14-A4D5-1FB01AF3476F}" destId="{C28F3D3F-7436-409E-A94C-E7E592162F25}" srcOrd="1" destOrd="0" presId="urn:microsoft.com/office/officeart/2005/8/layout/process4"/>
    <dgm:cxn modelId="{3A4B3A74-2ECB-4F13-A63A-565BD0DC2A25}" type="presParOf" srcId="{14D75B89-22E2-4C14-A4D5-1FB01AF3476F}" destId="{0A989B6D-711B-46D9-BB0F-B8FAFAC87005}" srcOrd="2" destOrd="0" presId="urn:microsoft.com/office/officeart/2005/8/layout/process4"/>
    <dgm:cxn modelId="{9B20111D-F6CC-4B32-9D67-B563F122115D}" type="presParOf" srcId="{0A989B6D-711B-46D9-BB0F-B8FAFAC87005}" destId="{ABA3D5EB-F52E-4A40-8C9F-E19C7446166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C8C71D-6A96-4A32-8B64-6001EF03FCA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3790F2B-78B0-4C57-A1E7-DF21BF3CE7A6}">
      <dgm:prSet/>
      <dgm:spPr/>
      <dgm:t>
        <a:bodyPr/>
        <a:lstStyle/>
        <a:p>
          <a:r>
            <a:rPr lang="en-US"/>
            <a:t>Outliers observed in balance, duration, campaign, and previous</a:t>
          </a:r>
        </a:p>
      </dgm:t>
    </dgm:pt>
    <dgm:pt modelId="{F0F1CD03-FF6D-4102-990B-E86669531F8B}" type="parTrans" cxnId="{6D3C13F9-E2AF-4E41-9AF7-D688E76E2D5B}">
      <dgm:prSet/>
      <dgm:spPr/>
      <dgm:t>
        <a:bodyPr/>
        <a:lstStyle/>
        <a:p>
          <a:endParaRPr lang="en-US"/>
        </a:p>
      </dgm:t>
    </dgm:pt>
    <dgm:pt modelId="{BBD6127C-8E22-4F69-B8A5-D27E5E82F65F}" type="sibTrans" cxnId="{6D3C13F9-E2AF-4E41-9AF7-D688E76E2D5B}">
      <dgm:prSet/>
      <dgm:spPr/>
      <dgm:t>
        <a:bodyPr/>
        <a:lstStyle/>
        <a:p>
          <a:endParaRPr lang="en-US"/>
        </a:p>
      </dgm:t>
    </dgm:pt>
    <dgm:pt modelId="{A87F9B7D-C0EF-4457-9F6A-CA646A3E1508}">
      <dgm:prSet/>
      <dgm:spPr/>
      <dgm:t>
        <a:bodyPr/>
        <a:lstStyle/>
        <a:p>
          <a:r>
            <a:rPr lang="en-US"/>
            <a:t>Categorical breakdowns show dominant categories and “unknown” presence</a:t>
          </a:r>
        </a:p>
      </dgm:t>
    </dgm:pt>
    <dgm:pt modelId="{EFB8F436-FD54-40AD-8A15-2E0ECA85BCD5}" type="parTrans" cxnId="{22E6EACB-1C19-4CB6-8398-CBF9B100698D}">
      <dgm:prSet/>
      <dgm:spPr/>
      <dgm:t>
        <a:bodyPr/>
        <a:lstStyle/>
        <a:p>
          <a:endParaRPr lang="en-US"/>
        </a:p>
      </dgm:t>
    </dgm:pt>
    <dgm:pt modelId="{7F2B8800-9A94-4F31-A970-ACECC127BE4A}" type="sibTrans" cxnId="{22E6EACB-1C19-4CB6-8398-CBF9B100698D}">
      <dgm:prSet/>
      <dgm:spPr/>
      <dgm:t>
        <a:bodyPr/>
        <a:lstStyle/>
        <a:p>
          <a:endParaRPr lang="en-US"/>
        </a:p>
      </dgm:t>
    </dgm:pt>
    <dgm:pt modelId="{715370A0-ED22-427E-B891-4EDEA85285E3}" type="pres">
      <dgm:prSet presAssocID="{E9C8C71D-6A96-4A32-8B64-6001EF03FCA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7F407C-30DA-457D-88F5-EBA88B9496CE}" type="pres">
      <dgm:prSet presAssocID="{23790F2B-78B0-4C57-A1E7-DF21BF3CE7A6}" presName="hierRoot1" presStyleCnt="0"/>
      <dgm:spPr/>
    </dgm:pt>
    <dgm:pt modelId="{2F6C60AA-EB2D-4674-A945-0CFA2C4DD248}" type="pres">
      <dgm:prSet presAssocID="{23790F2B-78B0-4C57-A1E7-DF21BF3CE7A6}" presName="composite" presStyleCnt="0"/>
      <dgm:spPr/>
    </dgm:pt>
    <dgm:pt modelId="{E300D8F3-B72D-492A-BCE5-2C575B6D0145}" type="pres">
      <dgm:prSet presAssocID="{23790F2B-78B0-4C57-A1E7-DF21BF3CE7A6}" presName="background" presStyleLbl="node0" presStyleIdx="0" presStyleCnt="2"/>
      <dgm:spPr/>
    </dgm:pt>
    <dgm:pt modelId="{BA97A40E-53A9-46BA-98FF-064605C4B555}" type="pres">
      <dgm:prSet presAssocID="{23790F2B-78B0-4C57-A1E7-DF21BF3CE7A6}" presName="text" presStyleLbl="fgAcc0" presStyleIdx="0" presStyleCnt="2">
        <dgm:presLayoutVars>
          <dgm:chPref val="3"/>
        </dgm:presLayoutVars>
      </dgm:prSet>
      <dgm:spPr/>
    </dgm:pt>
    <dgm:pt modelId="{1F435ACE-BFFE-4173-952D-7AF57F3E70D3}" type="pres">
      <dgm:prSet presAssocID="{23790F2B-78B0-4C57-A1E7-DF21BF3CE7A6}" presName="hierChild2" presStyleCnt="0"/>
      <dgm:spPr/>
    </dgm:pt>
    <dgm:pt modelId="{883DF6FA-612B-49C6-AFF3-25BD5B8414D1}" type="pres">
      <dgm:prSet presAssocID="{A87F9B7D-C0EF-4457-9F6A-CA646A3E1508}" presName="hierRoot1" presStyleCnt="0"/>
      <dgm:spPr/>
    </dgm:pt>
    <dgm:pt modelId="{1FA99D80-7EC7-40AF-AD1C-85860B580C9B}" type="pres">
      <dgm:prSet presAssocID="{A87F9B7D-C0EF-4457-9F6A-CA646A3E1508}" presName="composite" presStyleCnt="0"/>
      <dgm:spPr/>
    </dgm:pt>
    <dgm:pt modelId="{65B8FA96-1616-45A9-A7EB-ABBF3B162D5C}" type="pres">
      <dgm:prSet presAssocID="{A87F9B7D-C0EF-4457-9F6A-CA646A3E1508}" presName="background" presStyleLbl="node0" presStyleIdx="1" presStyleCnt="2"/>
      <dgm:spPr/>
    </dgm:pt>
    <dgm:pt modelId="{A337A87E-9170-4EA2-9513-885584B5F2E3}" type="pres">
      <dgm:prSet presAssocID="{A87F9B7D-C0EF-4457-9F6A-CA646A3E1508}" presName="text" presStyleLbl="fgAcc0" presStyleIdx="1" presStyleCnt="2">
        <dgm:presLayoutVars>
          <dgm:chPref val="3"/>
        </dgm:presLayoutVars>
      </dgm:prSet>
      <dgm:spPr/>
    </dgm:pt>
    <dgm:pt modelId="{67A49FF8-AF06-47D2-9320-AAB4E97DE8FD}" type="pres">
      <dgm:prSet presAssocID="{A87F9B7D-C0EF-4457-9F6A-CA646A3E1508}" presName="hierChild2" presStyleCnt="0"/>
      <dgm:spPr/>
    </dgm:pt>
  </dgm:ptLst>
  <dgm:cxnLst>
    <dgm:cxn modelId="{24689A0C-D3B3-4439-AB74-483538E8A50A}" type="presOf" srcId="{E9C8C71D-6A96-4A32-8B64-6001EF03FCAC}" destId="{715370A0-ED22-427E-B891-4EDEA85285E3}" srcOrd="0" destOrd="0" presId="urn:microsoft.com/office/officeart/2005/8/layout/hierarchy1"/>
    <dgm:cxn modelId="{9B31FC3C-3CEC-4794-8BBE-C848ABD54BE4}" type="presOf" srcId="{23790F2B-78B0-4C57-A1E7-DF21BF3CE7A6}" destId="{BA97A40E-53A9-46BA-98FF-064605C4B555}" srcOrd="0" destOrd="0" presId="urn:microsoft.com/office/officeart/2005/8/layout/hierarchy1"/>
    <dgm:cxn modelId="{22E6EACB-1C19-4CB6-8398-CBF9B100698D}" srcId="{E9C8C71D-6A96-4A32-8B64-6001EF03FCAC}" destId="{A87F9B7D-C0EF-4457-9F6A-CA646A3E1508}" srcOrd="1" destOrd="0" parTransId="{EFB8F436-FD54-40AD-8A15-2E0ECA85BCD5}" sibTransId="{7F2B8800-9A94-4F31-A970-ACECC127BE4A}"/>
    <dgm:cxn modelId="{321727EF-9803-44B9-BFAE-3CAE63671963}" type="presOf" srcId="{A87F9B7D-C0EF-4457-9F6A-CA646A3E1508}" destId="{A337A87E-9170-4EA2-9513-885584B5F2E3}" srcOrd="0" destOrd="0" presId="urn:microsoft.com/office/officeart/2005/8/layout/hierarchy1"/>
    <dgm:cxn modelId="{6D3C13F9-E2AF-4E41-9AF7-D688E76E2D5B}" srcId="{E9C8C71D-6A96-4A32-8B64-6001EF03FCAC}" destId="{23790F2B-78B0-4C57-A1E7-DF21BF3CE7A6}" srcOrd="0" destOrd="0" parTransId="{F0F1CD03-FF6D-4102-990B-E86669531F8B}" sibTransId="{BBD6127C-8E22-4F69-B8A5-D27E5E82F65F}"/>
    <dgm:cxn modelId="{B3962D02-6B45-430A-80D6-19E26D0F85F1}" type="presParOf" srcId="{715370A0-ED22-427E-B891-4EDEA85285E3}" destId="{EF7F407C-30DA-457D-88F5-EBA88B9496CE}" srcOrd="0" destOrd="0" presId="urn:microsoft.com/office/officeart/2005/8/layout/hierarchy1"/>
    <dgm:cxn modelId="{8299F496-3C42-4716-B156-E975EE723BE9}" type="presParOf" srcId="{EF7F407C-30DA-457D-88F5-EBA88B9496CE}" destId="{2F6C60AA-EB2D-4674-A945-0CFA2C4DD248}" srcOrd="0" destOrd="0" presId="urn:microsoft.com/office/officeart/2005/8/layout/hierarchy1"/>
    <dgm:cxn modelId="{46F1507D-3623-4161-971A-F86D04CD690D}" type="presParOf" srcId="{2F6C60AA-EB2D-4674-A945-0CFA2C4DD248}" destId="{E300D8F3-B72D-492A-BCE5-2C575B6D0145}" srcOrd="0" destOrd="0" presId="urn:microsoft.com/office/officeart/2005/8/layout/hierarchy1"/>
    <dgm:cxn modelId="{C55943E4-7B98-4E94-AF68-A02C34F463EE}" type="presParOf" srcId="{2F6C60AA-EB2D-4674-A945-0CFA2C4DD248}" destId="{BA97A40E-53A9-46BA-98FF-064605C4B555}" srcOrd="1" destOrd="0" presId="urn:microsoft.com/office/officeart/2005/8/layout/hierarchy1"/>
    <dgm:cxn modelId="{327BDE0A-3309-46D5-9F34-98EF239C23FB}" type="presParOf" srcId="{EF7F407C-30DA-457D-88F5-EBA88B9496CE}" destId="{1F435ACE-BFFE-4173-952D-7AF57F3E70D3}" srcOrd="1" destOrd="0" presId="urn:microsoft.com/office/officeart/2005/8/layout/hierarchy1"/>
    <dgm:cxn modelId="{1E0932BF-F743-40F5-8318-AF5ED6932F08}" type="presParOf" srcId="{715370A0-ED22-427E-B891-4EDEA85285E3}" destId="{883DF6FA-612B-49C6-AFF3-25BD5B8414D1}" srcOrd="1" destOrd="0" presId="urn:microsoft.com/office/officeart/2005/8/layout/hierarchy1"/>
    <dgm:cxn modelId="{CFDABA4F-A153-41B0-85C9-FEFFB8A52540}" type="presParOf" srcId="{883DF6FA-612B-49C6-AFF3-25BD5B8414D1}" destId="{1FA99D80-7EC7-40AF-AD1C-85860B580C9B}" srcOrd="0" destOrd="0" presId="urn:microsoft.com/office/officeart/2005/8/layout/hierarchy1"/>
    <dgm:cxn modelId="{FCC2F5EE-1AB7-4814-BD64-23A5AB1C5E6F}" type="presParOf" srcId="{1FA99D80-7EC7-40AF-AD1C-85860B580C9B}" destId="{65B8FA96-1616-45A9-A7EB-ABBF3B162D5C}" srcOrd="0" destOrd="0" presId="urn:microsoft.com/office/officeart/2005/8/layout/hierarchy1"/>
    <dgm:cxn modelId="{BCB21F0B-031F-4A8E-990E-AE0B2C10A33B}" type="presParOf" srcId="{1FA99D80-7EC7-40AF-AD1C-85860B580C9B}" destId="{A337A87E-9170-4EA2-9513-885584B5F2E3}" srcOrd="1" destOrd="0" presId="urn:microsoft.com/office/officeart/2005/8/layout/hierarchy1"/>
    <dgm:cxn modelId="{CA006E2C-09DF-4092-A2A1-9B61EBE88597}" type="presParOf" srcId="{883DF6FA-612B-49C6-AFF3-25BD5B8414D1}" destId="{67A49FF8-AF06-47D2-9320-AAB4E97DE8F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FE0893-4F95-4B38-B54A-8BC490B78041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B4BD92-075C-4F47-97E2-1BF7F5A3138F}">
      <dgm:prSet/>
      <dgm:spPr/>
      <dgm:t>
        <a:bodyPr/>
        <a:lstStyle/>
        <a:p>
          <a:r>
            <a:rPr lang="en-US"/>
            <a:t>Regression target in notebook: </a:t>
          </a:r>
          <a:r>
            <a:rPr lang="en-US" b="1"/>
            <a:t>age</a:t>
          </a:r>
          <a:endParaRPr lang="en-US"/>
        </a:p>
      </dgm:t>
    </dgm:pt>
    <dgm:pt modelId="{D5BC0D8D-3020-4BA3-B452-588D1AF4568B}" type="parTrans" cxnId="{BB0BCB64-53FC-4F9A-9E7D-4DC74FCE562C}">
      <dgm:prSet/>
      <dgm:spPr/>
      <dgm:t>
        <a:bodyPr/>
        <a:lstStyle/>
        <a:p>
          <a:endParaRPr lang="en-US"/>
        </a:p>
      </dgm:t>
    </dgm:pt>
    <dgm:pt modelId="{6E9F3327-75D5-4B23-B334-F2FB0B7F35BD}" type="sibTrans" cxnId="{BB0BCB64-53FC-4F9A-9E7D-4DC74FCE562C}">
      <dgm:prSet/>
      <dgm:spPr/>
      <dgm:t>
        <a:bodyPr/>
        <a:lstStyle/>
        <a:p>
          <a:endParaRPr lang="en-US"/>
        </a:p>
      </dgm:t>
    </dgm:pt>
    <dgm:pt modelId="{5A6BA2AC-283D-470E-979A-D11C665FD750}">
      <dgm:prSet/>
      <dgm:spPr/>
      <dgm:t>
        <a:bodyPr/>
        <a:lstStyle/>
        <a:p>
          <a:r>
            <a:rPr lang="en-US"/>
            <a:t>Feature engineering used:</a:t>
          </a:r>
        </a:p>
      </dgm:t>
    </dgm:pt>
    <dgm:pt modelId="{DE851C4B-F699-4733-B9E8-4C6E0A130171}" type="parTrans" cxnId="{A045FB8E-90CD-4C84-A46C-CEACDE05B1AF}">
      <dgm:prSet/>
      <dgm:spPr/>
      <dgm:t>
        <a:bodyPr/>
        <a:lstStyle/>
        <a:p>
          <a:endParaRPr lang="en-US"/>
        </a:p>
      </dgm:t>
    </dgm:pt>
    <dgm:pt modelId="{F8FE9B1F-D27E-4084-81DA-3B493EC68BFE}" type="sibTrans" cxnId="{A045FB8E-90CD-4C84-A46C-CEACDE05B1AF}">
      <dgm:prSet/>
      <dgm:spPr/>
      <dgm:t>
        <a:bodyPr/>
        <a:lstStyle/>
        <a:p>
          <a:endParaRPr lang="en-US"/>
        </a:p>
      </dgm:t>
    </dgm:pt>
    <dgm:pt modelId="{7054E65E-819D-43C4-AD0B-DD35F201CB03}">
      <dgm:prSet/>
      <dgm:spPr/>
      <dgm:t>
        <a:bodyPr/>
        <a:lstStyle/>
        <a:p>
          <a:r>
            <a:rPr lang="en-US"/>
            <a:t>age_squared (nonlinear relationship)</a:t>
          </a:r>
        </a:p>
      </dgm:t>
    </dgm:pt>
    <dgm:pt modelId="{B263A879-756A-4B9C-934C-F16A42671677}" type="parTrans" cxnId="{C50060B5-3390-45AF-BCA4-6B0CE2AE04B4}">
      <dgm:prSet/>
      <dgm:spPr/>
      <dgm:t>
        <a:bodyPr/>
        <a:lstStyle/>
        <a:p>
          <a:endParaRPr lang="en-US"/>
        </a:p>
      </dgm:t>
    </dgm:pt>
    <dgm:pt modelId="{BD94CEF6-68DE-4C41-B388-35BCA705A0EC}" type="sibTrans" cxnId="{C50060B5-3390-45AF-BCA4-6B0CE2AE04B4}">
      <dgm:prSet/>
      <dgm:spPr/>
      <dgm:t>
        <a:bodyPr/>
        <a:lstStyle/>
        <a:p>
          <a:endParaRPr lang="en-US"/>
        </a:p>
      </dgm:t>
    </dgm:pt>
    <dgm:pt modelId="{37E3700A-C0A5-43B7-8B15-4F6F6E188AD9}">
      <dgm:prSet/>
      <dgm:spPr/>
      <dgm:t>
        <a:bodyPr/>
        <a:lstStyle/>
        <a:p>
          <a:r>
            <a:rPr lang="en-US"/>
            <a:t>pdays_was_missing, pdays_filled</a:t>
          </a:r>
        </a:p>
      </dgm:t>
    </dgm:pt>
    <dgm:pt modelId="{AAB53ACC-B022-49DE-8EB6-9D96996652BA}" type="parTrans" cxnId="{5D9120AE-5A98-471B-8C5D-C513404B14F1}">
      <dgm:prSet/>
      <dgm:spPr/>
      <dgm:t>
        <a:bodyPr/>
        <a:lstStyle/>
        <a:p>
          <a:endParaRPr lang="en-US"/>
        </a:p>
      </dgm:t>
    </dgm:pt>
    <dgm:pt modelId="{1F557423-62B3-43E1-8184-BE37DD63C4BA}" type="sibTrans" cxnId="{5D9120AE-5A98-471B-8C5D-C513404B14F1}">
      <dgm:prSet/>
      <dgm:spPr/>
      <dgm:t>
        <a:bodyPr/>
        <a:lstStyle/>
        <a:p>
          <a:endParaRPr lang="en-US"/>
        </a:p>
      </dgm:t>
    </dgm:pt>
    <dgm:pt modelId="{144E37CF-D79C-4509-B3EB-D7070413D870}">
      <dgm:prSet/>
      <dgm:spPr/>
      <dgm:t>
        <a:bodyPr/>
        <a:lstStyle/>
        <a:p>
          <a:r>
            <a:rPr lang="en-US"/>
            <a:t>campaign_per_previous</a:t>
          </a:r>
        </a:p>
      </dgm:t>
    </dgm:pt>
    <dgm:pt modelId="{5D739DF8-2F9E-4F3C-9760-4E4E6219C521}" type="parTrans" cxnId="{B6F370B3-AF86-484C-900B-4F9F9F1B91CB}">
      <dgm:prSet/>
      <dgm:spPr/>
      <dgm:t>
        <a:bodyPr/>
        <a:lstStyle/>
        <a:p>
          <a:endParaRPr lang="en-US"/>
        </a:p>
      </dgm:t>
    </dgm:pt>
    <dgm:pt modelId="{E3174243-474B-4D88-8F22-C502ED8B4C25}" type="sibTrans" cxnId="{B6F370B3-AF86-484C-900B-4F9F9F1B91CB}">
      <dgm:prSet/>
      <dgm:spPr/>
      <dgm:t>
        <a:bodyPr/>
        <a:lstStyle/>
        <a:p>
          <a:endParaRPr lang="en-US"/>
        </a:p>
      </dgm:t>
    </dgm:pt>
    <dgm:pt modelId="{A8123906-3B0A-498D-AE8A-A39F357FA3B8}">
      <dgm:prSet/>
      <dgm:spPr/>
      <dgm:t>
        <a:bodyPr/>
        <a:lstStyle/>
        <a:p>
          <a:r>
            <a:rPr lang="en-US"/>
            <a:t>Preprocessing pipeline:</a:t>
          </a:r>
        </a:p>
      </dgm:t>
    </dgm:pt>
    <dgm:pt modelId="{1E5EFBC1-11AA-4ABD-8576-771392551853}" type="parTrans" cxnId="{0E698836-51C6-4FA3-A6D2-41EF0071822F}">
      <dgm:prSet/>
      <dgm:spPr/>
      <dgm:t>
        <a:bodyPr/>
        <a:lstStyle/>
        <a:p>
          <a:endParaRPr lang="en-US"/>
        </a:p>
      </dgm:t>
    </dgm:pt>
    <dgm:pt modelId="{7F8861D7-F983-4806-A702-6B375A7E4572}" type="sibTrans" cxnId="{0E698836-51C6-4FA3-A6D2-41EF0071822F}">
      <dgm:prSet/>
      <dgm:spPr/>
      <dgm:t>
        <a:bodyPr/>
        <a:lstStyle/>
        <a:p>
          <a:endParaRPr lang="en-US"/>
        </a:p>
      </dgm:t>
    </dgm:pt>
    <dgm:pt modelId="{38AA8FA1-6168-42DA-88CD-5BFBA6C68D53}">
      <dgm:prSet/>
      <dgm:spPr/>
      <dgm:t>
        <a:bodyPr/>
        <a:lstStyle/>
        <a:p>
          <a:r>
            <a:rPr lang="en-US"/>
            <a:t>Numeric: impute median + scale</a:t>
          </a:r>
        </a:p>
      </dgm:t>
    </dgm:pt>
    <dgm:pt modelId="{9A159309-606D-47A6-BCDF-FEB577F3F51E}" type="parTrans" cxnId="{0619C29D-F42E-4B9B-B5D8-1B5719FE9214}">
      <dgm:prSet/>
      <dgm:spPr/>
      <dgm:t>
        <a:bodyPr/>
        <a:lstStyle/>
        <a:p>
          <a:endParaRPr lang="en-US"/>
        </a:p>
      </dgm:t>
    </dgm:pt>
    <dgm:pt modelId="{74FB5C18-101B-4169-9A63-C188B4B432CB}" type="sibTrans" cxnId="{0619C29D-F42E-4B9B-B5D8-1B5719FE9214}">
      <dgm:prSet/>
      <dgm:spPr/>
      <dgm:t>
        <a:bodyPr/>
        <a:lstStyle/>
        <a:p>
          <a:endParaRPr lang="en-US"/>
        </a:p>
      </dgm:t>
    </dgm:pt>
    <dgm:pt modelId="{DC43A7DA-3C21-4B4F-B9F6-A415186091C5}">
      <dgm:prSet/>
      <dgm:spPr/>
      <dgm:t>
        <a:bodyPr/>
        <a:lstStyle/>
        <a:p>
          <a:r>
            <a:rPr lang="en-US"/>
            <a:t>Categorical: impute most frequent + one-hot encode</a:t>
          </a:r>
        </a:p>
      </dgm:t>
    </dgm:pt>
    <dgm:pt modelId="{3A44665F-9EDC-49E0-89AF-9039CFBB1560}" type="parTrans" cxnId="{F928F14A-E416-4406-887E-1D378390CB73}">
      <dgm:prSet/>
      <dgm:spPr/>
      <dgm:t>
        <a:bodyPr/>
        <a:lstStyle/>
        <a:p>
          <a:endParaRPr lang="en-US"/>
        </a:p>
      </dgm:t>
    </dgm:pt>
    <dgm:pt modelId="{1820C16D-0457-4856-BA39-7CAC8C6EB6E2}" type="sibTrans" cxnId="{F928F14A-E416-4406-887E-1D378390CB73}">
      <dgm:prSet/>
      <dgm:spPr/>
      <dgm:t>
        <a:bodyPr/>
        <a:lstStyle/>
        <a:p>
          <a:endParaRPr lang="en-US"/>
        </a:p>
      </dgm:t>
    </dgm:pt>
    <dgm:pt modelId="{618EBE13-8621-49DA-8154-9046FB10C68E}">
      <dgm:prSet/>
      <dgm:spPr/>
      <dgm:t>
        <a:bodyPr/>
        <a:lstStyle/>
        <a:p>
          <a:r>
            <a:rPr lang="en-US"/>
            <a:t>Models compared:</a:t>
          </a:r>
        </a:p>
      </dgm:t>
    </dgm:pt>
    <dgm:pt modelId="{AB0A5A7A-CDD2-437C-91F8-58F65C8CB44C}" type="parTrans" cxnId="{B55EEF51-F8E1-4C44-9A5E-5278C4A5A213}">
      <dgm:prSet/>
      <dgm:spPr/>
      <dgm:t>
        <a:bodyPr/>
        <a:lstStyle/>
        <a:p>
          <a:endParaRPr lang="en-US"/>
        </a:p>
      </dgm:t>
    </dgm:pt>
    <dgm:pt modelId="{129EF6CD-D038-4518-84ED-2A3CB1584542}" type="sibTrans" cxnId="{B55EEF51-F8E1-4C44-9A5E-5278C4A5A213}">
      <dgm:prSet/>
      <dgm:spPr/>
      <dgm:t>
        <a:bodyPr/>
        <a:lstStyle/>
        <a:p>
          <a:endParaRPr lang="en-US"/>
        </a:p>
      </dgm:t>
    </dgm:pt>
    <dgm:pt modelId="{8ED65BB0-D89E-4353-ACFA-7F78F23E37EC}">
      <dgm:prSet/>
      <dgm:spPr/>
      <dgm:t>
        <a:bodyPr/>
        <a:lstStyle/>
        <a:p>
          <a:r>
            <a:rPr lang="en-US"/>
            <a:t>Linear Regression, Ridge, Lasso</a:t>
          </a:r>
        </a:p>
      </dgm:t>
    </dgm:pt>
    <dgm:pt modelId="{C52BE6A1-4F71-4C71-B8E6-06067696DB3C}" type="parTrans" cxnId="{0B488760-FBAC-4742-812A-05F810BA76A7}">
      <dgm:prSet/>
      <dgm:spPr/>
      <dgm:t>
        <a:bodyPr/>
        <a:lstStyle/>
        <a:p>
          <a:endParaRPr lang="en-US"/>
        </a:p>
      </dgm:t>
    </dgm:pt>
    <dgm:pt modelId="{8D74F66D-CF0E-43DA-9EDA-1BF808DFF343}" type="sibTrans" cxnId="{0B488760-FBAC-4742-812A-05F810BA76A7}">
      <dgm:prSet/>
      <dgm:spPr/>
      <dgm:t>
        <a:bodyPr/>
        <a:lstStyle/>
        <a:p>
          <a:endParaRPr lang="en-US"/>
        </a:p>
      </dgm:t>
    </dgm:pt>
    <dgm:pt modelId="{463926FD-F7CC-43C0-9FE7-89075073DCCD}" type="pres">
      <dgm:prSet presAssocID="{93FE0893-4F95-4B38-B54A-8BC490B78041}" presName="Name0" presStyleCnt="0">
        <dgm:presLayoutVars>
          <dgm:dir/>
          <dgm:animLvl val="lvl"/>
          <dgm:resizeHandles val="exact"/>
        </dgm:presLayoutVars>
      </dgm:prSet>
      <dgm:spPr/>
    </dgm:pt>
    <dgm:pt modelId="{F12DF5B1-4751-4E23-A001-FB0FAEB537E8}" type="pres">
      <dgm:prSet presAssocID="{4AB4BD92-075C-4F47-97E2-1BF7F5A3138F}" presName="linNode" presStyleCnt="0"/>
      <dgm:spPr/>
    </dgm:pt>
    <dgm:pt modelId="{1D4F632A-DD5C-4B3F-ADD5-AFE6E202451D}" type="pres">
      <dgm:prSet presAssocID="{4AB4BD92-075C-4F47-97E2-1BF7F5A3138F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7517A263-F3F6-4A72-835C-A29E2F4640C2}" type="pres">
      <dgm:prSet presAssocID="{6E9F3327-75D5-4B23-B334-F2FB0B7F35BD}" presName="sp" presStyleCnt="0"/>
      <dgm:spPr/>
    </dgm:pt>
    <dgm:pt modelId="{8D2BE667-DA1F-43F2-80E4-014842224FC4}" type="pres">
      <dgm:prSet presAssocID="{5A6BA2AC-283D-470E-979A-D11C665FD750}" presName="linNode" presStyleCnt="0"/>
      <dgm:spPr/>
    </dgm:pt>
    <dgm:pt modelId="{18165BCA-4FF7-42FF-9B5A-4C3111538AAD}" type="pres">
      <dgm:prSet presAssocID="{5A6BA2AC-283D-470E-979A-D11C665FD750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F2B7DE19-B66C-44FE-8915-C8A61C135B85}" type="pres">
      <dgm:prSet presAssocID="{5A6BA2AC-283D-470E-979A-D11C665FD750}" presName="descendantText" presStyleLbl="alignAccFollowNode1" presStyleIdx="0" presStyleCnt="3">
        <dgm:presLayoutVars>
          <dgm:bulletEnabled val="1"/>
        </dgm:presLayoutVars>
      </dgm:prSet>
      <dgm:spPr/>
    </dgm:pt>
    <dgm:pt modelId="{B973951F-B527-441E-9A71-EC27F2C7F086}" type="pres">
      <dgm:prSet presAssocID="{F8FE9B1F-D27E-4084-81DA-3B493EC68BFE}" presName="sp" presStyleCnt="0"/>
      <dgm:spPr/>
    </dgm:pt>
    <dgm:pt modelId="{1F472FE1-5CE3-4F2A-A4DA-03B224BC761A}" type="pres">
      <dgm:prSet presAssocID="{A8123906-3B0A-498D-AE8A-A39F357FA3B8}" presName="linNode" presStyleCnt="0"/>
      <dgm:spPr/>
    </dgm:pt>
    <dgm:pt modelId="{A1BECAE9-5B15-45D1-8CB1-E2554405C0B0}" type="pres">
      <dgm:prSet presAssocID="{A8123906-3B0A-498D-AE8A-A39F357FA3B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14706D5-06DA-403F-B508-BE6B99AD7809}" type="pres">
      <dgm:prSet presAssocID="{A8123906-3B0A-498D-AE8A-A39F357FA3B8}" presName="descendantText" presStyleLbl="alignAccFollowNode1" presStyleIdx="1" presStyleCnt="3">
        <dgm:presLayoutVars>
          <dgm:bulletEnabled val="1"/>
        </dgm:presLayoutVars>
      </dgm:prSet>
      <dgm:spPr/>
    </dgm:pt>
    <dgm:pt modelId="{B7255AF3-3064-4519-99FB-6F071B5311F2}" type="pres">
      <dgm:prSet presAssocID="{7F8861D7-F983-4806-A702-6B375A7E4572}" presName="sp" presStyleCnt="0"/>
      <dgm:spPr/>
    </dgm:pt>
    <dgm:pt modelId="{0EBE8B93-D16C-40AB-801F-BE28D65CC341}" type="pres">
      <dgm:prSet presAssocID="{618EBE13-8621-49DA-8154-9046FB10C68E}" presName="linNode" presStyleCnt="0"/>
      <dgm:spPr/>
    </dgm:pt>
    <dgm:pt modelId="{2449F9E3-E262-4B26-A073-2802DF3AEB88}" type="pres">
      <dgm:prSet presAssocID="{618EBE13-8621-49DA-8154-9046FB10C68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B817B8-52FF-4800-8F18-2333DF50D64A}" type="pres">
      <dgm:prSet presAssocID="{618EBE13-8621-49DA-8154-9046FB10C68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629DD605-99CF-4C65-97AB-E573A18A4405}" type="presOf" srcId="{DC43A7DA-3C21-4B4F-B9F6-A415186091C5}" destId="{914706D5-06DA-403F-B508-BE6B99AD7809}" srcOrd="0" destOrd="1" presId="urn:microsoft.com/office/officeart/2005/8/layout/vList5"/>
    <dgm:cxn modelId="{8FB5760D-E6A2-4874-BA6A-88289F7B10ED}" type="presOf" srcId="{37E3700A-C0A5-43B7-8B15-4F6F6E188AD9}" destId="{F2B7DE19-B66C-44FE-8915-C8A61C135B85}" srcOrd="0" destOrd="1" presId="urn:microsoft.com/office/officeart/2005/8/layout/vList5"/>
    <dgm:cxn modelId="{3FA98A1B-AE32-4333-8A8B-A298073A3492}" type="presOf" srcId="{7054E65E-819D-43C4-AD0B-DD35F201CB03}" destId="{F2B7DE19-B66C-44FE-8915-C8A61C135B85}" srcOrd="0" destOrd="0" presId="urn:microsoft.com/office/officeart/2005/8/layout/vList5"/>
    <dgm:cxn modelId="{749A7624-9D8D-43AA-8966-7A4E96502A30}" type="presOf" srcId="{4AB4BD92-075C-4F47-97E2-1BF7F5A3138F}" destId="{1D4F632A-DD5C-4B3F-ADD5-AFE6E202451D}" srcOrd="0" destOrd="0" presId="urn:microsoft.com/office/officeart/2005/8/layout/vList5"/>
    <dgm:cxn modelId="{0E698836-51C6-4FA3-A6D2-41EF0071822F}" srcId="{93FE0893-4F95-4B38-B54A-8BC490B78041}" destId="{A8123906-3B0A-498D-AE8A-A39F357FA3B8}" srcOrd="2" destOrd="0" parTransId="{1E5EFBC1-11AA-4ABD-8576-771392551853}" sibTransId="{7F8861D7-F983-4806-A702-6B375A7E4572}"/>
    <dgm:cxn modelId="{0B488760-FBAC-4742-812A-05F810BA76A7}" srcId="{618EBE13-8621-49DA-8154-9046FB10C68E}" destId="{8ED65BB0-D89E-4353-ACFA-7F78F23E37EC}" srcOrd="0" destOrd="0" parTransId="{C52BE6A1-4F71-4C71-B8E6-06067696DB3C}" sibTransId="{8D74F66D-CF0E-43DA-9EDA-1BF808DFF343}"/>
    <dgm:cxn modelId="{BB0BCB64-53FC-4F9A-9E7D-4DC74FCE562C}" srcId="{93FE0893-4F95-4B38-B54A-8BC490B78041}" destId="{4AB4BD92-075C-4F47-97E2-1BF7F5A3138F}" srcOrd="0" destOrd="0" parTransId="{D5BC0D8D-3020-4BA3-B452-588D1AF4568B}" sibTransId="{6E9F3327-75D5-4B23-B334-F2FB0B7F35BD}"/>
    <dgm:cxn modelId="{764CD166-B293-490C-886F-19DD998ED8F9}" type="presOf" srcId="{618EBE13-8621-49DA-8154-9046FB10C68E}" destId="{2449F9E3-E262-4B26-A073-2802DF3AEB88}" srcOrd="0" destOrd="0" presId="urn:microsoft.com/office/officeart/2005/8/layout/vList5"/>
    <dgm:cxn modelId="{1D421247-614A-4D75-8A06-FFC5D23D0F27}" type="presOf" srcId="{A8123906-3B0A-498D-AE8A-A39F357FA3B8}" destId="{A1BECAE9-5B15-45D1-8CB1-E2554405C0B0}" srcOrd="0" destOrd="0" presId="urn:microsoft.com/office/officeart/2005/8/layout/vList5"/>
    <dgm:cxn modelId="{F928F14A-E416-4406-887E-1D378390CB73}" srcId="{A8123906-3B0A-498D-AE8A-A39F357FA3B8}" destId="{DC43A7DA-3C21-4B4F-B9F6-A415186091C5}" srcOrd="1" destOrd="0" parTransId="{3A44665F-9EDC-49E0-89AF-9039CFBB1560}" sibTransId="{1820C16D-0457-4856-BA39-7CAC8C6EB6E2}"/>
    <dgm:cxn modelId="{7533DC50-8B48-4421-AF75-FDC02DC66C86}" type="presOf" srcId="{8ED65BB0-D89E-4353-ACFA-7F78F23E37EC}" destId="{EFB817B8-52FF-4800-8F18-2333DF50D64A}" srcOrd="0" destOrd="0" presId="urn:microsoft.com/office/officeart/2005/8/layout/vList5"/>
    <dgm:cxn modelId="{B55EEF51-F8E1-4C44-9A5E-5278C4A5A213}" srcId="{93FE0893-4F95-4B38-B54A-8BC490B78041}" destId="{618EBE13-8621-49DA-8154-9046FB10C68E}" srcOrd="3" destOrd="0" parTransId="{AB0A5A7A-CDD2-437C-91F8-58F65C8CB44C}" sibTransId="{129EF6CD-D038-4518-84ED-2A3CB1584542}"/>
    <dgm:cxn modelId="{F5C20C7D-A7C2-45C1-8F82-6E99375EDDC4}" type="presOf" srcId="{5A6BA2AC-283D-470E-979A-D11C665FD750}" destId="{18165BCA-4FF7-42FF-9B5A-4C3111538AAD}" srcOrd="0" destOrd="0" presId="urn:microsoft.com/office/officeart/2005/8/layout/vList5"/>
    <dgm:cxn modelId="{A045FB8E-90CD-4C84-A46C-CEACDE05B1AF}" srcId="{93FE0893-4F95-4B38-B54A-8BC490B78041}" destId="{5A6BA2AC-283D-470E-979A-D11C665FD750}" srcOrd="1" destOrd="0" parTransId="{DE851C4B-F699-4733-B9E8-4C6E0A130171}" sibTransId="{F8FE9B1F-D27E-4084-81DA-3B493EC68BFE}"/>
    <dgm:cxn modelId="{77A7DA8F-97F8-4AC1-AC4F-8CB0412A7956}" type="presOf" srcId="{93FE0893-4F95-4B38-B54A-8BC490B78041}" destId="{463926FD-F7CC-43C0-9FE7-89075073DCCD}" srcOrd="0" destOrd="0" presId="urn:microsoft.com/office/officeart/2005/8/layout/vList5"/>
    <dgm:cxn modelId="{0619C29D-F42E-4B9B-B5D8-1B5719FE9214}" srcId="{A8123906-3B0A-498D-AE8A-A39F357FA3B8}" destId="{38AA8FA1-6168-42DA-88CD-5BFBA6C68D53}" srcOrd="0" destOrd="0" parTransId="{9A159309-606D-47A6-BCDF-FEB577F3F51E}" sibTransId="{74FB5C18-101B-4169-9A63-C188B4B432CB}"/>
    <dgm:cxn modelId="{5D9120AE-5A98-471B-8C5D-C513404B14F1}" srcId="{5A6BA2AC-283D-470E-979A-D11C665FD750}" destId="{37E3700A-C0A5-43B7-8B15-4F6F6E188AD9}" srcOrd="1" destOrd="0" parTransId="{AAB53ACC-B022-49DE-8EB6-9D96996652BA}" sibTransId="{1F557423-62B3-43E1-8184-BE37DD63C4BA}"/>
    <dgm:cxn modelId="{B6F370B3-AF86-484C-900B-4F9F9F1B91CB}" srcId="{5A6BA2AC-283D-470E-979A-D11C665FD750}" destId="{144E37CF-D79C-4509-B3EB-D7070413D870}" srcOrd="2" destOrd="0" parTransId="{5D739DF8-2F9E-4F3C-9760-4E4E6219C521}" sibTransId="{E3174243-474B-4D88-8F22-C502ED8B4C25}"/>
    <dgm:cxn modelId="{C50060B5-3390-45AF-BCA4-6B0CE2AE04B4}" srcId="{5A6BA2AC-283D-470E-979A-D11C665FD750}" destId="{7054E65E-819D-43C4-AD0B-DD35F201CB03}" srcOrd="0" destOrd="0" parTransId="{B263A879-756A-4B9C-934C-F16A42671677}" sibTransId="{BD94CEF6-68DE-4C41-B388-35BCA705A0EC}"/>
    <dgm:cxn modelId="{D8A532CB-E4C2-462C-95D7-2FD23B888507}" type="presOf" srcId="{144E37CF-D79C-4509-B3EB-D7070413D870}" destId="{F2B7DE19-B66C-44FE-8915-C8A61C135B85}" srcOrd="0" destOrd="2" presId="urn:microsoft.com/office/officeart/2005/8/layout/vList5"/>
    <dgm:cxn modelId="{992CB4D7-7AB6-4A5E-A651-F5408E953C92}" type="presOf" srcId="{38AA8FA1-6168-42DA-88CD-5BFBA6C68D53}" destId="{914706D5-06DA-403F-B508-BE6B99AD7809}" srcOrd="0" destOrd="0" presId="urn:microsoft.com/office/officeart/2005/8/layout/vList5"/>
    <dgm:cxn modelId="{6FF88275-2110-49F6-949E-B5B7ECF94845}" type="presParOf" srcId="{463926FD-F7CC-43C0-9FE7-89075073DCCD}" destId="{F12DF5B1-4751-4E23-A001-FB0FAEB537E8}" srcOrd="0" destOrd="0" presId="urn:microsoft.com/office/officeart/2005/8/layout/vList5"/>
    <dgm:cxn modelId="{027F91FA-A71C-4083-9C24-2B6240AD85DF}" type="presParOf" srcId="{F12DF5B1-4751-4E23-A001-FB0FAEB537E8}" destId="{1D4F632A-DD5C-4B3F-ADD5-AFE6E202451D}" srcOrd="0" destOrd="0" presId="urn:microsoft.com/office/officeart/2005/8/layout/vList5"/>
    <dgm:cxn modelId="{03532F73-ED27-4E38-9323-2915F1757B9C}" type="presParOf" srcId="{463926FD-F7CC-43C0-9FE7-89075073DCCD}" destId="{7517A263-F3F6-4A72-835C-A29E2F4640C2}" srcOrd="1" destOrd="0" presId="urn:microsoft.com/office/officeart/2005/8/layout/vList5"/>
    <dgm:cxn modelId="{EA89BB24-A03C-40F7-AD55-CE90E723FB14}" type="presParOf" srcId="{463926FD-F7CC-43C0-9FE7-89075073DCCD}" destId="{8D2BE667-DA1F-43F2-80E4-014842224FC4}" srcOrd="2" destOrd="0" presId="urn:microsoft.com/office/officeart/2005/8/layout/vList5"/>
    <dgm:cxn modelId="{EB4EDF46-01C6-4E53-845F-04B21898EA63}" type="presParOf" srcId="{8D2BE667-DA1F-43F2-80E4-014842224FC4}" destId="{18165BCA-4FF7-42FF-9B5A-4C3111538AAD}" srcOrd="0" destOrd="0" presId="urn:microsoft.com/office/officeart/2005/8/layout/vList5"/>
    <dgm:cxn modelId="{46E72CC6-ECEE-4266-94C8-E8CF83338139}" type="presParOf" srcId="{8D2BE667-DA1F-43F2-80E4-014842224FC4}" destId="{F2B7DE19-B66C-44FE-8915-C8A61C135B85}" srcOrd="1" destOrd="0" presId="urn:microsoft.com/office/officeart/2005/8/layout/vList5"/>
    <dgm:cxn modelId="{ECC0FA21-82EB-4547-9B04-45EC26D7007F}" type="presParOf" srcId="{463926FD-F7CC-43C0-9FE7-89075073DCCD}" destId="{B973951F-B527-441E-9A71-EC27F2C7F086}" srcOrd="3" destOrd="0" presId="urn:microsoft.com/office/officeart/2005/8/layout/vList5"/>
    <dgm:cxn modelId="{8A70C0B5-8C82-4959-A6A9-8A21EBE6D019}" type="presParOf" srcId="{463926FD-F7CC-43C0-9FE7-89075073DCCD}" destId="{1F472FE1-5CE3-4F2A-A4DA-03B224BC761A}" srcOrd="4" destOrd="0" presId="urn:microsoft.com/office/officeart/2005/8/layout/vList5"/>
    <dgm:cxn modelId="{43E96061-B220-4D3D-9A62-50B62D22B2E3}" type="presParOf" srcId="{1F472FE1-5CE3-4F2A-A4DA-03B224BC761A}" destId="{A1BECAE9-5B15-45D1-8CB1-E2554405C0B0}" srcOrd="0" destOrd="0" presId="urn:microsoft.com/office/officeart/2005/8/layout/vList5"/>
    <dgm:cxn modelId="{FDCD7A50-F541-4C11-9355-96B92D50ECCB}" type="presParOf" srcId="{1F472FE1-5CE3-4F2A-A4DA-03B224BC761A}" destId="{914706D5-06DA-403F-B508-BE6B99AD7809}" srcOrd="1" destOrd="0" presId="urn:microsoft.com/office/officeart/2005/8/layout/vList5"/>
    <dgm:cxn modelId="{99FDCA52-B3BC-4392-835E-2BEB1811E8C1}" type="presParOf" srcId="{463926FD-F7CC-43C0-9FE7-89075073DCCD}" destId="{B7255AF3-3064-4519-99FB-6F071B5311F2}" srcOrd="5" destOrd="0" presId="urn:microsoft.com/office/officeart/2005/8/layout/vList5"/>
    <dgm:cxn modelId="{D9635880-0EF0-4740-89A0-120CAA562895}" type="presParOf" srcId="{463926FD-F7CC-43C0-9FE7-89075073DCCD}" destId="{0EBE8B93-D16C-40AB-801F-BE28D65CC341}" srcOrd="6" destOrd="0" presId="urn:microsoft.com/office/officeart/2005/8/layout/vList5"/>
    <dgm:cxn modelId="{30C4E14E-77C2-415F-938C-C426C2D0B60B}" type="presParOf" srcId="{0EBE8B93-D16C-40AB-801F-BE28D65CC341}" destId="{2449F9E3-E262-4B26-A073-2802DF3AEB88}" srcOrd="0" destOrd="0" presId="urn:microsoft.com/office/officeart/2005/8/layout/vList5"/>
    <dgm:cxn modelId="{3B647CAA-6F57-4206-B234-5CE7105A8633}" type="presParOf" srcId="{0EBE8B93-D16C-40AB-801F-BE28D65CC341}" destId="{EFB817B8-52FF-4800-8F18-2333DF50D64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6D812E-E83C-4914-B54A-DF1B00333967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6177BE-CCDB-4D93-BF77-802784E6C756}">
      <dgm:prSet/>
      <dgm:spPr/>
      <dgm:t>
        <a:bodyPr/>
        <a:lstStyle/>
        <a:p>
          <a:r>
            <a:rPr lang="en-US"/>
            <a:t>Key findings</a:t>
          </a:r>
        </a:p>
      </dgm:t>
    </dgm:pt>
    <dgm:pt modelId="{A3AF4FF7-0D22-44BB-95FC-78F9CAC93092}" type="parTrans" cxnId="{107A598F-DDD3-4343-BDFC-79DD828A9A88}">
      <dgm:prSet/>
      <dgm:spPr/>
      <dgm:t>
        <a:bodyPr/>
        <a:lstStyle/>
        <a:p>
          <a:endParaRPr lang="en-US"/>
        </a:p>
      </dgm:t>
    </dgm:pt>
    <dgm:pt modelId="{7BD69811-18A4-4F3B-B82A-58EE019EA6AE}" type="sibTrans" cxnId="{107A598F-DDD3-4343-BDFC-79DD828A9A88}">
      <dgm:prSet/>
      <dgm:spPr/>
      <dgm:t>
        <a:bodyPr/>
        <a:lstStyle/>
        <a:p>
          <a:endParaRPr lang="en-US"/>
        </a:p>
      </dgm:t>
    </dgm:pt>
    <dgm:pt modelId="{64C2C957-05B8-4AFF-94AD-206E8F8047C4}">
      <dgm:prSet/>
      <dgm:spPr/>
      <dgm:t>
        <a:bodyPr/>
        <a:lstStyle/>
        <a:p>
          <a:r>
            <a:rPr lang="en-US"/>
            <a:t>Imbalance drives metric choice (F1/ROC-AUC)</a:t>
          </a:r>
        </a:p>
      </dgm:t>
    </dgm:pt>
    <dgm:pt modelId="{1969C83B-0F31-4002-83E2-D52A495016E5}" type="parTrans" cxnId="{3C4689BB-446F-4B10-9108-E664FE22EDAE}">
      <dgm:prSet/>
      <dgm:spPr/>
      <dgm:t>
        <a:bodyPr/>
        <a:lstStyle/>
        <a:p>
          <a:endParaRPr lang="en-US"/>
        </a:p>
      </dgm:t>
    </dgm:pt>
    <dgm:pt modelId="{2300648E-88DE-489C-AF2F-2E2FAC9EFA91}" type="sibTrans" cxnId="{3C4689BB-446F-4B10-9108-E664FE22EDAE}">
      <dgm:prSet/>
      <dgm:spPr/>
      <dgm:t>
        <a:bodyPr/>
        <a:lstStyle/>
        <a:p>
          <a:endParaRPr lang="en-US"/>
        </a:p>
      </dgm:t>
    </dgm:pt>
    <dgm:pt modelId="{277C4633-8262-4A66-AAF2-382B3924113C}">
      <dgm:prSet/>
      <dgm:spPr/>
      <dgm:t>
        <a:bodyPr/>
        <a:lstStyle/>
        <a:p>
          <a:r>
            <a:rPr lang="en-US"/>
            <a:t>SVM tuned performed best overall in F1 (per notebook table)</a:t>
          </a:r>
        </a:p>
      </dgm:t>
    </dgm:pt>
    <dgm:pt modelId="{6DA395F8-2F52-4E9D-AE98-6EFBD7A7692F}" type="parTrans" cxnId="{20ACA561-B5A1-4F5D-923D-1672F0BF8589}">
      <dgm:prSet/>
      <dgm:spPr/>
      <dgm:t>
        <a:bodyPr/>
        <a:lstStyle/>
        <a:p>
          <a:endParaRPr lang="en-US"/>
        </a:p>
      </dgm:t>
    </dgm:pt>
    <dgm:pt modelId="{070AE877-C637-4B74-9650-3901D20871DC}" type="sibTrans" cxnId="{20ACA561-B5A1-4F5D-923D-1672F0BF8589}">
      <dgm:prSet/>
      <dgm:spPr/>
      <dgm:t>
        <a:bodyPr/>
        <a:lstStyle/>
        <a:p>
          <a:endParaRPr lang="en-US"/>
        </a:p>
      </dgm:t>
    </dgm:pt>
    <dgm:pt modelId="{454E3DF5-2F01-45A3-8ADA-FE091633A980}">
      <dgm:prSet/>
      <dgm:spPr/>
      <dgm:t>
        <a:bodyPr/>
        <a:lstStyle/>
        <a:p>
          <a:r>
            <a:rPr lang="en-US"/>
            <a:t>Clustering suggests two major customer segments</a:t>
          </a:r>
        </a:p>
      </dgm:t>
    </dgm:pt>
    <dgm:pt modelId="{79F3A201-462B-4978-8F28-792AED79175F}" type="parTrans" cxnId="{20AE8F46-912C-406C-AF9E-EE12DA008AFB}">
      <dgm:prSet/>
      <dgm:spPr/>
      <dgm:t>
        <a:bodyPr/>
        <a:lstStyle/>
        <a:p>
          <a:endParaRPr lang="en-US"/>
        </a:p>
      </dgm:t>
    </dgm:pt>
    <dgm:pt modelId="{02146E04-271B-4C7B-B88D-659991C36205}" type="sibTrans" cxnId="{20AE8F46-912C-406C-AF9E-EE12DA008AFB}">
      <dgm:prSet/>
      <dgm:spPr/>
      <dgm:t>
        <a:bodyPr/>
        <a:lstStyle/>
        <a:p>
          <a:endParaRPr lang="en-US"/>
        </a:p>
      </dgm:t>
    </dgm:pt>
    <dgm:pt modelId="{B5F2C549-7B65-433F-93E0-21C5548B3D83}">
      <dgm:prSet/>
      <dgm:spPr/>
      <dgm:t>
        <a:bodyPr/>
        <a:lstStyle/>
        <a:p>
          <a:r>
            <a:rPr lang="en-US"/>
            <a:t>Association rules reveal recurring profile combinations in subscribers</a:t>
          </a:r>
        </a:p>
      </dgm:t>
    </dgm:pt>
    <dgm:pt modelId="{F0C57B39-D1F8-4D03-93AD-6724F0FBC68E}" type="parTrans" cxnId="{39A54147-B5EB-4CDF-BD25-6450AF067642}">
      <dgm:prSet/>
      <dgm:spPr/>
      <dgm:t>
        <a:bodyPr/>
        <a:lstStyle/>
        <a:p>
          <a:endParaRPr lang="en-US"/>
        </a:p>
      </dgm:t>
    </dgm:pt>
    <dgm:pt modelId="{97E0874C-DF32-420D-A4DE-667782392A1D}" type="sibTrans" cxnId="{39A54147-B5EB-4CDF-BD25-6450AF067642}">
      <dgm:prSet/>
      <dgm:spPr/>
      <dgm:t>
        <a:bodyPr/>
        <a:lstStyle/>
        <a:p>
          <a:endParaRPr lang="en-US"/>
        </a:p>
      </dgm:t>
    </dgm:pt>
    <dgm:pt modelId="{CBDEA490-65E0-4566-A77A-5085E1200220}">
      <dgm:prSet/>
      <dgm:spPr/>
      <dgm:t>
        <a:bodyPr/>
        <a:lstStyle/>
        <a:p>
          <a:r>
            <a:rPr lang="en-US"/>
            <a:t>Challenges</a:t>
          </a:r>
        </a:p>
      </dgm:t>
    </dgm:pt>
    <dgm:pt modelId="{9AE35172-7941-4413-A8DD-538BBA2B66DB}" type="parTrans" cxnId="{72570F2D-6EA0-4EAB-A2F3-D33641908A9F}">
      <dgm:prSet/>
      <dgm:spPr/>
      <dgm:t>
        <a:bodyPr/>
        <a:lstStyle/>
        <a:p>
          <a:endParaRPr lang="en-US"/>
        </a:p>
      </dgm:t>
    </dgm:pt>
    <dgm:pt modelId="{D2DF0C6D-09F6-4400-B909-C1D0F21FA63D}" type="sibTrans" cxnId="{72570F2D-6EA0-4EAB-A2F3-D33641908A9F}">
      <dgm:prSet/>
      <dgm:spPr/>
      <dgm:t>
        <a:bodyPr/>
        <a:lstStyle/>
        <a:p>
          <a:endParaRPr lang="en-US"/>
        </a:p>
      </dgm:t>
    </dgm:pt>
    <dgm:pt modelId="{4C611E1B-591B-4B0D-9FD3-DA5453C33552}">
      <dgm:prSet/>
      <dgm:spPr/>
      <dgm:t>
        <a:bodyPr/>
        <a:lstStyle/>
        <a:p>
          <a:r>
            <a:rPr lang="en-US"/>
            <a:t>Handling “unknown” + pdays sentinel</a:t>
          </a:r>
        </a:p>
      </dgm:t>
    </dgm:pt>
    <dgm:pt modelId="{5ECAD2A2-B154-4F15-8AAA-CA0D24D3E8CE}" type="parTrans" cxnId="{1A7E59BD-DC21-43AD-8D65-5888423356CC}">
      <dgm:prSet/>
      <dgm:spPr/>
      <dgm:t>
        <a:bodyPr/>
        <a:lstStyle/>
        <a:p>
          <a:endParaRPr lang="en-US"/>
        </a:p>
      </dgm:t>
    </dgm:pt>
    <dgm:pt modelId="{1ADE2B5C-6469-4DA3-822C-0C66F26651C7}" type="sibTrans" cxnId="{1A7E59BD-DC21-43AD-8D65-5888423356CC}">
      <dgm:prSet/>
      <dgm:spPr/>
      <dgm:t>
        <a:bodyPr/>
        <a:lstStyle/>
        <a:p>
          <a:endParaRPr lang="en-US"/>
        </a:p>
      </dgm:t>
    </dgm:pt>
    <dgm:pt modelId="{AE2624EA-99EC-4832-B8F1-04E205BDB494}">
      <dgm:prSet/>
      <dgm:spPr/>
      <dgm:t>
        <a:bodyPr/>
        <a:lstStyle/>
        <a:p>
          <a:r>
            <a:rPr lang="en-US"/>
            <a:t>Avoiding misleading accuracy</a:t>
          </a:r>
        </a:p>
      </dgm:t>
    </dgm:pt>
    <dgm:pt modelId="{23D628B9-3C2D-412F-ADDC-7E745DE07177}" type="parTrans" cxnId="{E7A78F0C-21B5-4804-A881-75253181E093}">
      <dgm:prSet/>
      <dgm:spPr/>
      <dgm:t>
        <a:bodyPr/>
        <a:lstStyle/>
        <a:p>
          <a:endParaRPr lang="en-US"/>
        </a:p>
      </dgm:t>
    </dgm:pt>
    <dgm:pt modelId="{1A740109-2F97-46E1-9C77-465101079C98}" type="sibTrans" cxnId="{E7A78F0C-21B5-4804-A881-75253181E093}">
      <dgm:prSet/>
      <dgm:spPr/>
      <dgm:t>
        <a:bodyPr/>
        <a:lstStyle/>
        <a:p>
          <a:endParaRPr lang="en-US"/>
        </a:p>
      </dgm:t>
    </dgm:pt>
    <dgm:pt modelId="{D1B8CF04-B6F7-49E9-AFE9-F401BF5F9485}">
      <dgm:prSet/>
      <dgm:spPr/>
      <dgm:t>
        <a:bodyPr/>
        <a:lstStyle/>
        <a:p>
          <a:r>
            <a:rPr lang="en-US"/>
            <a:t>Keeping plots readable (outliers)</a:t>
          </a:r>
        </a:p>
      </dgm:t>
    </dgm:pt>
    <dgm:pt modelId="{D7FA72B1-1D87-4AF4-9A48-CCE6A5A7F9D7}" type="parTrans" cxnId="{E336D867-726D-40F7-8B04-6D8A52B2F4E3}">
      <dgm:prSet/>
      <dgm:spPr/>
      <dgm:t>
        <a:bodyPr/>
        <a:lstStyle/>
        <a:p>
          <a:endParaRPr lang="en-US"/>
        </a:p>
      </dgm:t>
    </dgm:pt>
    <dgm:pt modelId="{3F5A524D-3358-4253-80D0-D60B6C034003}" type="sibTrans" cxnId="{E336D867-726D-40F7-8B04-6D8A52B2F4E3}">
      <dgm:prSet/>
      <dgm:spPr/>
      <dgm:t>
        <a:bodyPr/>
        <a:lstStyle/>
        <a:p>
          <a:endParaRPr lang="en-US"/>
        </a:p>
      </dgm:t>
    </dgm:pt>
    <dgm:pt modelId="{848D2524-A4BB-4C55-89B5-742D93977E6F}">
      <dgm:prSet/>
      <dgm:spPr/>
      <dgm:t>
        <a:bodyPr/>
        <a:lstStyle/>
        <a:p>
          <a:r>
            <a:rPr lang="en-US"/>
            <a:t>Next steps:</a:t>
          </a:r>
        </a:p>
      </dgm:t>
    </dgm:pt>
    <dgm:pt modelId="{C65C00EF-F831-4DD3-A53A-C7A951104ECC}" type="parTrans" cxnId="{A1423B17-3089-485B-A010-8B97E7E1EE35}">
      <dgm:prSet/>
      <dgm:spPr/>
      <dgm:t>
        <a:bodyPr/>
        <a:lstStyle/>
        <a:p>
          <a:endParaRPr lang="en-US"/>
        </a:p>
      </dgm:t>
    </dgm:pt>
    <dgm:pt modelId="{A0EF93E2-ED3D-40E9-9A6E-EBB507BBBCD8}" type="sibTrans" cxnId="{A1423B17-3089-485B-A010-8B97E7E1EE35}">
      <dgm:prSet/>
      <dgm:spPr/>
      <dgm:t>
        <a:bodyPr/>
        <a:lstStyle/>
        <a:p>
          <a:endParaRPr lang="en-US"/>
        </a:p>
      </dgm:t>
    </dgm:pt>
    <dgm:pt modelId="{462CB615-EF6B-4EAA-A37C-21CF569051CF}">
      <dgm:prSet/>
      <dgm:spPr/>
      <dgm:t>
        <a:bodyPr/>
        <a:lstStyle/>
        <a:p>
          <a:r>
            <a:rPr lang="en-US"/>
            <a:t>Try tree ensembles (Random Forest / Gradient Boosting)</a:t>
          </a:r>
        </a:p>
      </dgm:t>
    </dgm:pt>
    <dgm:pt modelId="{4208CC3A-F8FD-421A-8760-8D6AD93DB49E}" type="parTrans" cxnId="{B2DF0D82-E78A-4759-A175-753772EFB73D}">
      <dgm:prSet/>
      <dgm:spPr/>
      <dgm:t>
        <a:bodyPr/>
        <a:lstStyle/>
        <a:p>
          <a:endParaRPr lang="en-US"/>
        </a:p>
      </dgm:t>
    </dgm:pt>
    <dgm:pt modelId="{D149DB22-4BC6-4E63-ABEC-5646E3DB3237}" type="sibTrans" cxnId="{B2DF0D82-E78A-4759-A175-753772EFB73D}">
      <dgm:prSet/>
      <dgm:spPr/>
      <dgm:t>
        <a:bodyPr/>
        <a:lstStyle/>
        <a:p>
          <a:endParaRPr lang="en-US"/>
        </a:p>
      </dgm:t>
    </dgm:pt>
    <dgm:pt modelId="{336C4307-64EE-4952-B332-AB355E6D14F7}">
      <dgm:prSet/>
      <dgm:spPr/>
      <dgm:t>
        <a:bodyPr/>
        <a:lstStyle/>
        <a:p>
          <a:r>
            <a:rPr lang="en-US"/>
            <a:t>Threshold tuning for business objectives</a:t>
          </a:r>
        </a:p>
      </dgm:t>
    </dgm:pt>
    <dgm:pt modelId="{F9882B5F-0DC9-4B4B-A43F-8928A492B2AB}" type="parTrans" cxnId="{2407491B-8C4F-4000-976F-CD86C7A0E7CA}">
      <dgm:prSet/>
      <dgm:spPr/>
      <dgm:t>
        <a:bodyPr/>
        <a:lstStyle/>
        <a:p>
          <a:endParaRPr lang="en-US"/>
        </a:p>
      </dgm:t>
    </dgm:pt>
    <dgm:pt modelId="{8E6FC122-7025-4432-B282-0382BBED8451}" type="sibTrans" cxnId="{2407491B-8C4F-4000-976F-CD86C7A0E7CA}">
      <dgm:prSet/>
      <dgm:spPr/>
      <dgm:t>
        <a:bodyPr/>
        <a:lstStyle/>
        <a:p>
          <a:endParaRPr lang="en-US"/>
        </a:p>
      </dgm:t>
    </dgm:pt>
    <dgm:pt modelId="{FB008C0B-4EA6-455F-B2F3-BBAD8C716C39}">
      <dgm:prSet/>
      <dgm:spPr/>
      <dgm:t>
        <a:bodyPr/>
        <a:lstStyle/>
        <a:p>
          <a:r>
            <a:rPr lang="en-US"/>
            <a:t>Deeper cluster interpretation with campaign strategy</a:t>
          </a:r>
        </a:p>
      </dgm:t>
    </dgm:pt>
    <dgm:pt modelId="{3818CF6E-C3AD-4D10-850D-F237D5BF7251}" type="parTrans" cxnId="{06C52827-661E-4E6C-8ED6-AAD309C0C820}">
      <dgm:prSet/>
      <dgm:spPr/>
      <dgm:t>
        <a:bodyPr/>
        <a:lstStyle/>
        <a:p>
          <a:endParaRPr lang="en-US"/>
        </a:p>
      </dgm:t>
    </dgm:pt>
    <dgm:pt modelId="{AB431FD6-DD06-4A98-B1AE-E0422B598383}" type="sibTrans" cxnId="{06C52827-661E-4E6C-8ED6-AAD309C0C820}">
      <dgm:prSet/>
      <dgm:spPr/>
      <dgm:t>
        <a:bodyPr/>
        <a:lstStyle/>
        <a:p>
          <a:endParaRPr lang="en-US"/>
        </a:p>
      </dgm:t>
    </dgm:pt>
    <dgm:pt modelId="{8622930D-17FA-4F12-9C85-63EED28D9C30}" type="pres">
      <dgm:prSet presAssocID="{266D812E-E83C-4914-B54A-DF1B00333967}" presName="Name0" presStyleCnt="0">
        <dgm:presLayoutVars>
          <dgm:dir/>
          <dgm:animLvl val="lvl"/>
          <dgm:resizeHandles val="exact"/>
        </dgm:presLayoutVars>
      </dgm:prSet>
      <dgm:spPr/>
    </dgm:pt>
    <dgm:pt modelId="{0408421B-6FFC-4089-AE20-497C123B54E0}" type="pres">
      <dgm:prSet presAssocID="{5B6177BE-CCDB-4D93-BF77-802784E6C756}" presName="linNode" presStyleCnt="0"/>
      <dgm:spPr/>
    </dgm:pt>
    <dgm:pt modelId="{B55CAA63-6320-4D9D-BADE-C311B810B226}" type="pres">
      <dgm:prSet presAssocID="{5B6177BE-CCDB-4D93-BF77-802784E6C75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002736C-2C09-427A-B86A-D97D732780A0}" type="pres">
      <dgm:prSet presAssocID="{5B6177BE-CCDB-4D93-BF77-802784E6C756}" presName="descendantText" presStyleLbl="alignAccFollowNode1" presStyleIdx="0" presStyleCnt="3">
        <dgm:presLayoutVars>
          <dgm:bulletEnabled val="1"/>
        </dgm:presLayoutVars>
      </dgm:prSet>
      <dgm:spPr/>
    </dgm:pt>
    <dgm:pt modelId="{E0BE3190-003C-4A98-B680-F51FFC54AC0E}" type="pres">
      <dgm:prSet presAssocID="{7BD69811-18A4-4F3B-B82A-58EE019EA6AE}" presName="sp" presStyleCnt="0"/>
      <dgm:spPr/>
    </dgm:pt>
    <dgm:pt modelId="{D84E6A64-081C-4A3E-A64B-6C506D225223}" type="pres">
      <dgm:prSet presAssocID="{CBDEA490-65E0-4566-A77A-5085E1200220}" presName="linNode" presStyleCnt="0"/>
      <dgm:spPr/>
    </dgm:pt>
    <dgm:pt modelId="{E02BB85F-D892-487C-9E9B-E90FA2EC64C6}" type="pres">
      <dgm:prSet presAssocID="{CBDEA490-65E0-4566-A77A-5085E120022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4621F9C-6479-4D49-88E0-9714EB1332C5}" type="pres">
      <dgm:prSet presAssocID="{CBDEA490-65E0-4566-A77A-5085E1200220}" presName="descendantText" presStyleLbl="alignAccFollowNode1" presStyleIdx="1" presStyleCnt="3">
        <dgm:presLayoutVars>
          <dgm:bulletEnabled val="1"/>
        </dgm:presLayoutVars>
      </dgm:prSet>
      <dgm:spPr/>
    </dgm:pt>
    <dgm:pt modelId="{F30D04F1-B20C-4F11-8CC5-F72E57775F6E}" type="pres">
      <dgm:prSet presAssocID="{D2DF0C6D-09F6-4400-B909-C1D0F21FA63D}" presName="sp" presStyleCnt="0"/>
      <dgm:spPr/>
    </dgm:pt>
    <dgm:pt modelId="{027252CC-32F5-419B-8C14-82A53ABF169A}" type="pres">
      <dgm:prSet presAssocID="{848D2524-A4BB-4C55-89B5-742D93977E6F}" presName="linNode" presStyleCnt="0"/>
      <dgm:spPr/>
    </dgm:pt>
    <dgm:pt modelId="{0156BA45-45BC-4A71-82EE-7AE76CA341D3}" type="pres">
      <dgm:prSet presAssocID="{848D2524-A4BB-4C55-89B5-742D93977E6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22A043B-23F2-4A63-BE8A-465B36A60DD5}" type="pres">
      <dgm:prSet presAssocID="{848D2524-A4BB-4C55-89B5-742D93977E6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1FA2202-B7F2-4EF3-AEF3-3D2A003DA301}" type="presOf" srcId="{277C4633-8262-4A66-AAF2-382B3924113C}" destId="{7002736C-2C09-427A-B86A-D97D732780A0}" srcOrd="0" destOrd="1" presId="urn:microsoft.com/office/officeart/2005/8/layout/vList5"/>
    <dgm:cxn modelId="{334DCD07-1E33-4CD8-B773-A77ACDA44531}" type="presOf" srcId="{AE2624EA-99EC-4832-B8F1-04E205BDB494}" destId="{A4621F9C-6479-4D49-88E0-9714EB1332C5}" srcOrd="0" destOrd="1" presId="urn:microsoft.com/office/officeart/2005/8/layout/vList5"/>
    <dgm:cxn modelId="{E7A78F0C-21B5-4804-A881-75253181E093}" srcId="{CBDEA490-65E0-4566-A77A-5085E1200220}" destId="{AE2624EA-99EC-4832-B8F1-04E205BDB494}" srcOrd="1" destOrd="0" parTransId="{23D628B9-3C2D-412F-ADDC-7E745DE07177}" sibTransId="{1A740109-2F97-46E1-9C77-465101079C98}"/>
    <dgm:cxn modelId="{A1423B17-3089-485B-A010-8B97E7E1EE35}" srcId="{266D812E-E83C-4914-B54A-DF1B00333967}" destId="{848D2524-A4BB-4C55-89B5-742D93977E6F}" srcOrd="2" destOrd="0" parTransId="{C65C00EF-F831-4DD3-A53A-C7A951104ECC}" sibTransId="{A0EF93E2-ED3D-40E9-9A6E-EBB507BBBCD8}"/>
    <dgm:cxn modelId="{2407491B-8C4F-4000-976F-CD86C7A0E7CA}" srcId="{848D2524-A4BB-4C55-89B5-742D93977E6F}" destId="{336C4307-64EE-4952-B332-AB355E6D14F7}" srcOrd="1" destOrd="0" parTransId="{F9882B5F-0DC9-4B4B-A43F-8928A492B2AB}" sibTransId="{8E6FC122-7025-4432-B282-0382BBED8451}"/>
    <dgm:cxn modelId="{06C52827-661E-4E6C-8ED6-AAD309C0C820}" srcId="{848D2524-A4BB-4C55-89B5-742D93977E6F}" destId="{FB008C0B-4EA6-455F-B2F3-BBAD8C716C39}" srcOrd="2" destOrd="0" parTransId="{3818CF6E-C3AD-4D10-850D-F237D5BF7251}" sibTransId="{AB431FD6-DD06-4A98-B1AE-E0422B598383}"/>
    <dgm:cxn modelId="{72570F2D-6EA0-4EAB-A2F3-D33641908A9F}" srcId="{266D812E-E83C-4914-B54A-DF1B00333967}" destId="{CBDEA490-65E0-4566-A77A-5085E1200220}" srcOrd="1" destOrd="0" parTransId="{9AE35172-7941-4413-A8DD-538BBA2B66DB}" sibTransId="{D2DF0C6D-09F6-4400-B909-C1D0F21FA63D}"/>
    <dgm:cxn modelId="{C114605C-DE8D-4FA8-A61F-8523D8A74970}" type="presOf" srcId="{4C611E1B-591B-4B0D-9FD3-DA5453C33552}" destId="{A4621F9C-6479-4D49-88E0-9714EB1332C5}" srcOrd="0" destOrd="0" presId="urn:microsoft.com/office/officeart/2005/8/layout/vList5"/>
    <dgm:cxn modelId="{20ACA561-B5A1-4F5D-923D-1672F0BF8589}" srcId="{5B6177BE-CCDB-4D93-BF77-802784E6C756}" destId="{277C4633-8262-4A66-AAF2-382B3924113C}" srcOrd="1" destOrd="0" parTransId="{6DA395F8-2F52-4E9D-AE98-6EFBD7A7692F}" sibTransId="{070AE877-C637-4B74-9650-3901D20871DC}"/>
    <dgm:cxn modelId="{2FA72266-5E18-4941-9863-E9E79C26EFBD}" type="presOf" srcId="{454E3DF5-2F01-45A3-8ADA-FE091633A980}" destId="{7002736C-2C09-427A-B86A-D97D732780A0}" srcOrd="0" destOrd="2" presId="urn:microsoft.com/office/officeart/2005/8/layout/vList5"/>
    <dgm:cxn modelId="{20AE8F46-912C-406C-AF9E-EE12DA008AFB}" srcId="{5B6177BE-CCDB-4D93-BF77-802784E6C756}" destId="{454E3DF5-2F01-45A3-8ADA-FE091633A980}" srcOrd="2" destOrd="0" parTransId="{79F3A201-462B-4978-8F28-792AED79175F}" sibTransId="{02146E04-271B-4C7B-B88D-659991C36205}"/>
    <dgm:cxn modelId="{39A54147-B5EB-4CDF-BD25-6450AF067642}" srcId="{5B6177BE-CCDB-4D93-BF77-802784E6C756}" destId="{B5F2C549-7B65-433F-93E0-21C5548B3D83}" srcOrd="3" destOrd="0" parTransId="{F0C57B39-D1F8-4D03-93AD-6724F0FBC68E}" sibTransId="{97E0874C-DF32-420D-A4DE-667782392A1D}"/>
    <dgm:cxn modelId="{E336D867-726D-40F7-8B04-6D8A52B2F4E3}" srcId="{CBDEA490-65E0-4566-A77A-5085E1200220}" destId="{D1B8CF04-B6F7-49E9-AFE9-F401BF5F9485}" srcOrd="2" destOrd="0" parTransId="{D7FA72B1-1D87-4AF4-9A48-CCE6A5A7F9D7}" sibTransId="{3F5A524D-3358-4253-80D0-D60B6C034003}"/>
    <dgm:cxn modelId="{70945248-C7C6-40C5-8F0E-4FF0B8BFB4CF}" type="presOf" srcId="{336C4307-64EE-4952-B332-AB355E6D14F7}" destId="{E22A043B-23F2-4A63-BE8A-465B36A60DD5}" srcOrd="0" destOrd="1" presId="urn:microsoft.com/office/officeart/2005/8/layout/vList5"/>
    <dgm:cxn modelId="{C1B0466F-D821-4F9C-908C-6904364D10A0}" type="presOf" srcId="{64C2C957-05B8-4AFF-94AD-206E8F8047C4}" destId="{7002736C-2C09-427A-B86A-D97D732780A0}" srcOrd="0" destOrd="0" presId="urn:microsoft.com/office/officeart/2005/8/layout/vList5"/>
    <dgm:cxn modelId="{49FB457F-E633-4D20-A523-0CB283A4CF10}" type="presOf" srcId="{462CB615-EF6B-4EAA-A37C-21CF569051CF}" destId="{E22A043B-23F2-4A63-BE8A-465B36A60DD5}" srcOrd="0" destOrd="0" presId="urn:microsoft.com/office/officeart/2005/8/layout/vList5"/>
    <dgm:cxn modelId="{B2DF0D82-E78A-4759-A175-753772EFB73D}" srcId="{848D2524-A4BB-4C55-89B5-742D93977E6F}" destId="{462CB615-EF6B-4EAA-A37C-21CF569051CF}" srcOrd="0" destOrd="0" parTransId="{4208CC3A-F8FD-421A-8760-8D6AD93DB49E}" sibTransId="{D149DB22-4BC6-4E63-ABEC-5646E3DB3237}"/>
    <dgm:cxn modelId="{DCA4B483-4061-4131-BB87-DB66FEB9DD90}" type="presOf" srcId="{5B6177BE-CCDB-4D93-BF77-802784E6C756}" destId="{B55CAA63-6320-4D9D-BADE-C311B810B226}" srcOrd="0" destOrd="0" presId="urn:microsoft.com/office/officeart/2005/8/layout/vList5"/>
    <dgm:cxn modelId="{4910118E-FC66-4BF5-BC0C-8C018E00F2E4}" type="presOf" srcId="{D1B8CF04-B6F7-49E9-AFE9-F401BF5F9485}" destId="{A4621F9C-6479-4D49-88E0-9714EB1332C5}" srcOrd="0" destOrd="2" presId="urn:microsoft.com/office/officeart/2005/8/layout/vList5"/>
    <dgm:cxn modelId="{107A598F-DDD3-4343-BDFC-79DD828A9A88}" srcId="{266D812E-E83C-4914-B54A-DF1B00333967}" destId="{5B6177BE-CCDB-4D93-BF77-802784E6C756}" srcOrd="0" destOrd="0" parTransId="{A3AF4FF7-0D22-44BB-95FC-78F9CAC93092}" sibTransId="{7BD69811-18A4-4F3B-B82A-58EE019EA6AE}"/>
    <dgm:cxn modelId="{BC0C8C8F-FA31-407E-B346-996AD8D58D7F}" type="presOf" srcId="{266D812E-E83C-4914-B54A-DF1B00333967}" destId="{8622930D-17FA-4F12-9C85-63EED28D9C30}" srcOrd="0" destOrd="0" presId="urn:microsoft.com/office/officeart/2005/8/layout/vList5"/>
    <dgm:cxn modelId="{E76BA99D-18EB-4BD1-84DA-7E18F2A33626}" type="presOf" srcId="{B5F2C549-7B65-433F-93E0-21C5548B3D83}" destId="{7002736C-2C09-427A-B86A-D97D732780A0}" srcOrd="0" destOrd="3" presId="urn:microsoft.com/office/officeart/2005/8/layout/vList5"/>
    <dgm:cxn modelId="{3C4689BB-446F-4B10-9108-E664FE22EDAE}" srcId="{5B6177BE-CCDB-4D93-BF77-802784E6C756}" destId="{64C2C957-05B8-4AFF-94AD-206E8F8047C4}" srcOrd="0" destOrd="0" parTransId="{1969C83B-0F31-4002-83E2-D52A495016E5}" sibTransId="{2300648E-88DE-489C-AF2F-2E2FAC9EFA91}"/>
    <dgm:cxn modelId="{1A7E59BD-DC21-43AD-8D65-5888423356CC}" srcId="{CBDEA490-65E0-4566-A77A-5085E1200220}" destId="{4C611E1B-591B-4B0D-9FD3-DA5453C33552}" srcOrd="0" destOrd="0" parTransId="{5ECAD2A2-B154-4F15-8AAA-CA0D24D3E8CE}" sibTransId="{1ADE2B5C-6469-4DA3-822C-0C66F26651C7}"/>
    <dgm:cxn modelId="{DA77A7CA-3FE3-48D3-9749-1779BEC0647A}" type="presOf" srcId="{CBDEA490-65E0-4566-A77A-5085E1200220}" destId="{E02BB85F-D892-487C-9E9B-E90FA2EC64C6}" srcOrd="0" destOrd="0" presId="urn:microsoft.com/office/officeart/2005/8/layout/vList5"/>
    <dgm:cxn modelId="{5512B1EF-5D9C-42AB-B694-5AF75A4C971E}" type="presOf" srcId="{848D2524-A4BB-4C55-89B5-742D93977E6F}" destId="{0156BA45-45BC-4A71-82EE-7AE76CA341D3}" srcOrd="0" destOrd="0" presId="urn:microsoft.com/office/officeart/2005/8/layout/vList5"/>
    <dgm:cxn modelId="{A60BEFF1-2073-4049-A9ED-5915A93A125B}" type="presOf" srcId="{FB008C0B-4EA6-455F-B2F3-BBAD8C716C39}" destId="{E22A043B-23F2-4A63-BE8A-465B36A60DD5}" srcOrd="0" destOrd="2" presId="urn:microsoft.com/office/officeart/2005/8/layout/vList5"/>
    <dgm:cxn modelId="{68FDC365-73DF-40DD-80E8-371AFA46A093}" type="presParOf" srcId="{8622930D-17FA-4F12-9C85-63EED28D9C30}" destId="{0408421B-6FFC-4089-AE20-497C123B54E0}" srcOrd="0" destOrd="0" presId="urn:microsoft.com/office/officeart/2005/8/layout/vList5"/>
    <dgm:cxn modelId="{17660FFC-F1DA-4972-8229-8827D7D9BE50}" type="presParOf" srcId="{0408421B-6FFC-4089-AE20-497C123B54E0}" destId="{B55CAA63-6320-4D9D-BADE-C311B810B226}" srcOrd="0" destOrd="0" presId="urn:microsoft.com/office/officeart/2005/8/layout/vList5"/>
    <dgm:cxn modelId="{E6C9928D-1B17-407A-BE34-AD61D2E7B91E}" type="presParOf" srcId="{0408421B-6FFC-4089-AE20-497C123B54E0}" destId="{7002736C-2C09-427A-B86A-D97D732780A0}" srcOrd="1" destOrd="0" presId="urn:microsoft.com/office/officeart/2005/8/layout/vList5"/>
    <dgm:cxn modelId="{08826DE8-98B5-4D7F-8379-9D3EEE213FBB}" type="presParOf" srcId="{8622930D-17FA-4F12-9C85-63EED28D9C30}" destId="{E0BE3190-003C-4A98-B680-F51FFC54AC0E}" srcOrd="1" destOrd="0" presId="urn:microsoft.com/office/officeart/2005/8/layout/vList5"/>
    <dgm:cxn modelId="{42AA6EBA-9BA9-4956-8A2C-A8A790D7078B}" type="presParOf" srcId="{8622930D-17FA-4F12-9C85-63EED28D9C30}" destId="{D84E6A64-081C-4A3E-A64B-6C506D225223}" srcOrd="2" destOrd="0" presId="urn:microsoft.com/office/officeart/2005/8/layout/vList5"/>
    <dgm:cxn modelId="{3A3C5F80-5925-4483-AE9B-1D2967DF3758}" type="presParOf" srcId="{D84E6A64-081C-4A3E-A64B-6C506D225223}" destId="{E02BB85F-D892-487C-9E9B-E90FA2EC64C6}" srcOrd="0" destOrd="0" presId="urn:microsoft.com/office/officeart/2005/8/layout/vList5"/>
    <dgm:cxn modelId="{4D9CC263-C3C5-493B-898F-C49169C3B290}" type="presParOf" srcId="{D84E6A64-081C-4A3E-A64B-6C506D225223}" destId="{A4621F9C-6479-4D49-88E0-9714EB1332C5}" srcOrd="1" destOrd="0" presId="urn:microsoft.com/office/officeart/2005/8/layout/vList5"/>
    <dgm:cxn modelId="{C65B8EA2-5A23-4408-A91D-2068CEB67EE8}" type="presParOf" srcId="{8622930D-17FA-4F12-9C85-63EED28D9C30}" destId="{F30D04F1-B20C-4F11-8CC5-F72E57775F6E}" srcOrd="3" destOrd="0" presId="urn:microsoft.com/office/officeart/2005/8/layout/vList5"/>
    <dgm:cxn modelId="{56DFBFCE-4DF4-4138-B05B-64EFEAF6A464}" type="presParOf" srcId="{8622930D-17FA-4F12-9C85-63EED28D9C30}" destId="{027252CC-32F5-419B-8C14-82A53ABF169A}" srcOrd="4" destOrd="0" presId="urn:microsoft.com/office/officeart/2005/8/layout/vList5"/>
    <dgm:cxn modelId="{71C5E0B5-6C65-4F85-94C7-02182EA5C96B}" type="presParOf" srcId="{027252CC-32F5-419B-8C14-82A53ABF169A}" destId="{0156BA45-45BC-4A71-82EE-7AE76CA341D3}" srcOrd="0" destOrd="0" presId="urn:microsoft.com/office/officeart/2005/8/layout/vList5"/>
    <dgm:cxn modelId="{44A92E44-8E8E-489B-A79E-D875876A1524}" type="presParOf" srcId="{027252CC-32F5-419B-8C14-82A53ABF169A}" destId="{E22A043B-23F2-4A63-BE8A-465B36A60DD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5FC9C4-353D-4F13-8436-5457E26CC5B0}">
      <dsp:nvSpPr>
        <dsp:cNvPr id="0" name=""/>
        <dsp:cNvSpPr/>
      </dsp:nvSpPr>
      <dsp:spPr>
        <a:xfrm>
          <a:off x="606456" y="0"/>
          <a:ext cx="5453920" cy="545392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A2FDE3C-F92A-4536-BE00-26E12B840F79}">
      <dsp:nvSpPr>
        <dsp:cNvPr id="0" name=""/>
        <dsp:cNvSpPr/>
      </dsp:nvSpPr>
      <dsp:spPr>
        <a:xfrm>
          <a:off x="1124578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EDA &amp; Cleaning (Deliverable 1)</a:t>
          </a:r>
        </a:p>
      </dsp:txBody>
      <dsp:txXfrm>
        <a:off x="1228411" y="621955"/>
        <a:ext cx="1919362" cy="1919362"/>
      </dsp:txXfrm>
    </dsp:sp>
    <dsp:sp modelId="{67938E08-2F4D-499C-9227-62BC18A8C31A}">
      <dsp:nvSpPr>
        <dsp:cNvPr id="0" name=""/>
        <dsp:cNvSpPr/>
      </dsp:nvSpPr>
      <dsp:spPr>
        <a:xfrm>
          <a:off x="3415225" y="518122"/>
          <a:ext cx="2127028" cy="2127028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Regression Modeling (Deliverable 2)</a:t>
          </a:r>
        </a:p>
      </dsp:txBody>
      <dsp:txXfrm>
        <a:off x="3519058" y="621955"/>
        <a:ext cx="1919362" cy="1919362"/>
      </dsp:txXfrm>
    </dsp:sp>
    <dsp:sp modelId="{44646A5E-EEDB-423A-B352-3EDE13261C0B}">
      <dsp:nvSpPr>
        <dsp:cNvPr id="0" name=""/>
        <dsp:cNvSpPr/>
      </dsp:nvSpPr>
      <dsp:spPr>
        <a:xfrm>
          <a:off x="1124578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Classification, Clustering, Association Rules (Deliverable 3)</a:t>
          </a:r>
        </a:p>
      </dsp:txBody>
      <dsp:txXfrm>
        <a:off x="1228411" y="2912601"/>
        <a:ext cx="1919362" cy="1919362"/>
      </dsp:txXfrm>
    </dsp:sp>
    <dsp:sp modelId="{1844CF13-4711-4DFF-82B0-5124F8501E10}">
      <dsp:nvSpPr>
        <dsp:cNvPr id="0" name=""/>
        <dsp:cNvSpPr/>
      </dsp:nvSpPr>
      <dsp:spPr>
        <a:xfrm>
          <a:off x="3415225" y="2808768"/>
          <a:ext cx="2127028" cy="21270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findings + implications</a:t>
          </a:r>
        </a:p>
      </dsp:txBody>
      <dsp:txXfrm>
        <a:off x="3519058" y="2912601"/>
        <a:ext cx="1919362" cy="19193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D5285-4077-4B27-956F-6837AAB74D23}">
      <dsp:nvSpPr>
        <dsp:cNvPr id="0" name=""/>
        <dsp:cNvSpPr/>
      </dsp:nvSpPr>
      <dsp:spPr>
        <a:xfrm>
          <a:off x="0" y="290728"/>
          <a:ext cx="7559504" cy="1352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Dataset: Bank Marketing (rows ≈ 45,211)</a:t>
          </a:r>
        </a:p>
      </dsp:txBody>
      <dsp:txXfrm>
        <a:off x="66025" y="356753"/>
        <a:ext cx="7427454" cy="1220470"/>
      </dsp:txXfrm>
    </dsp:sp>
    <dsp:sp modelId="{706AB9D0-07C3-4FD9-8091-8E2CC78B3E70}">
      <dsp:nvSpPr>
        <dsp:cNvPr id="0" name=""/>
        <dsp:cNvSpPr/>
      </dsp:nvSpPr>
      <dsp:spPr>
        <a:xfrm>
          <a:off x="0" y="1741168"/>
          <a:ext cx="7559504" cy="1352520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Target used in EDA &amp; classification: y (subscription: 0/1)</a:t>
          </a:r>
        </a:p>
      </dsp:txBody>
      <dsp:txXfrm>
        <a:off x="66025" y="1807193"/>
        <a:ext cx="7427454" cy="1220470"/>
      </dsp:txXfrm>
    </dsp:sp>
    <dsp:sp modelId="{3DA9236F-EAC1-4278-BC23-7B5921A19F25}">
      <dsp:nvSpPr>
        <dsp:cNvPr id="0" name=""/>
        <dsp:cNvSpPr/>
      </dsp:nvSpPr>
      <dsp:spPr>
        <a:xfrm>
          <a:off x="0" y="3191608"/>
          <a:ext cx="7559504" cy="1352520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Mixed features: numeric + categorical (job, education, loan, etc.)</a:t>
          </a:r>
        </a:p>
      </dsp:txBody>
      <dsp:txXfrm>
        <a:off x="66025" y="3257633"/>
        <a:ext cx="7427454" cy="1220470"/>
      </dsp:txXfrm>
    </dsp:sp>
    <dsp:sp modelId="{49BC6C74-7443-4B42-BD4B-B227D86E75D3}">
      <dsp:nvSpPr>
        <dsp:cNvPr id="0" name=""/>
        <dsp:cNvSpPr/>
      </dsp:nvSpPr>
      <dsp:spPr>
        <a:xfrm>
          <a:off x="0" y="4642048"/>
          <a:ext cx="7559504" cy="135252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Common “unknown” coded values; pdays has special meaning</a:t>
          </a:r>
        </a:p>
      </dsp:txBody>
      <dsp:txXfrm>
        <a:off x="66025" y="4708073"/>
        <a:ext cx="7427454" cy="12204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B18E1-5FBA-46BA-9424-E2F265C3084F}">
      <dsp:nvSpPr>
        <dsp:cNvPr id="0" name=""/>
        <dsp:cNvSpPr/>
      </dsp:nvSpPr>
      <dsp:spPr>
        <a:xfrm>
          <a:off x="0" y="3295221"/>
          <a:ext cx="7452360" cy="21620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Cleaning actions from notebook:</a:t>
          </a:r>
        </a:p>
      </dsp:txBody>
      <dsp:txXfrm>
        <a:off x="0" y="3295221"/>
        <a:ext cx="7452360" cy="1167492"/>
      </dsp:txXfrm>
    </dsp:sp>
    <dsp:sp modelId="{7897CF6D-9BEA-46CA-B63D-F28DE2284249}">
      <dsp:nvSpPr>
        <dsp:cNvPr id="0" name=""/>
        <dsp:cNvSpPr/>
      </dsp:nvSpPr>
      <dsp:spPr>
        <a:xfrm>
          <a:off x="0" y="4419473"/>
          <a:ext cx="1863089" cy="99453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Standardize column names</a:t>
          </a:r>
        </a:p>
      </dsp:txBody>
      <dsp:txXfrm>
        <a:off x="0" y="4419473"/>
        <a:ext cx="1863089" cy="994530"/>
      </dsp:txXfrm>
    </dsp:sp>
    <dsp:sp modelId="{AF3FBBD7-2987-4B83-A4DD-EEBDDA79F8BE}">
      <dsp:nvSpPr>
        <dsp:cNvPr id="0" name=""/>
        <dsp:cNvSpPr/>
      </dsp:nvSpPr>
      <dsp:spPr>
        <a:xfrm>
          <a:off x="1863090" y="4419473"/>
          <a:ext cx="1863089" cy="994530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Map target y: {no-&gt;0, yes-&gt;1}</a:t>
          </a:r>
        </a:p>
      </dsp:txBody>
      <dsp:txXfrm>
        <a:off x="1863090" y="4419473"/>
        <a:ext cx="1863089" cy="994530"/>
      </dsp:txXfrm>
    </dsp:sp>
    <dsp:sp modelId="{06780175-7B9F-48F2-87AA-A8591EE387DD}">
      <dsp:nvSpPr>
        <dsp:cNvPr id="0" name=""/>
        <dsp:cNvSpPr/>
      </dsp:nvSpPr>
      <dsp:spPr>
        <a:xfrm>
          <a:off x="3726180" y="4419473"/>
          <a:ext cx="1863089" cy="994530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Convert pdays = -1 to missing + create prev_contacted indicator</a:t>
          </a:r>
        </a:p>
      </dsp:txBody>
      <dsp:txXfrm>
        <a:off x="3726180" y="4419473"/>
        <a:ext cx="1863089" cy="994530"/>
      </dsp:txXfrm>
    </dsp:sp>
    <dsp:sp modelId="{68068246-85B3-4DDF-81E3-7772D3D6A0D6}">
      <dsp:nvSpPr>
        <dsp:cNvPr id="0" name=""/>
        <dsp:cNvSpPr/>
      </dsp:nvSpPr>
      <dsp:spPr>
        <a:xfrm>
          <a:off x="5589270" y="4419473"/>
          <a:ext cx="1863089" cy="99453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Add *_unknown flags for categorical columns containing “unknown”</a:t>
          </a:r>
        </a:p>
      </dsp:txBody>
      <dsp:txXfrm>
        <a:off x="5589270" y="4419473"/>
        <a:ext cx="1863089" cy="994530"/>
      </dsp:txXfrm>
    </dsp:sp>
    <dsp:sp modelId="{ABA3D5EB-F52E-4A40-8C9F-E19C74461666}">
      <dsp:nvSpPr>
        <dsp:cNvPr id="0" name=""/>
        <dsp:cNvSpPr/>
      </dsp:nvSpPr>
      <dsp:spPr>
        <a:xfrm rot="10800000">
          <a:off x="0" y="2461"/>
          <a:ext cx="7452360" cy="3325190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Validation checks: shape, schema, duplicates, missing values</a:t>
          </a:r>
        </a:p>
      </dsp:txBody>
      <dsp:txXfrm rot="10800000">
        <a:off x="0" y="2461"/>
        <a:ext cx="7452360" cy="21606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0D8F3-B72D-492A-BCE5-2C575B6D0145}">
      <dsp:nvSpPr>
        <dsp:cNvPr id="0" name=""/>
        <dsp:cNvSpPr/>
      </dsp:nvSpPr>
      <dsp:spPr>
        <a:xfrm>
          <a:off x="1320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97A40E-53A9-46BA-98FF-064605C4B555}">
      <dsp:nvSpPr>
        <dsp:cNvPr id="0" name=""/>
        <dsp:cNvSpPr/>
      </dsp:nvSpPr>
      <dsp:spPr>
        <a:xfrm>
          <a:off x="516452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Outliers observed in balance, duration, campaign, and previous</a:t>
          </a:r>
        </a:p>
      </dsp:txBody>
      <dsp:txXfrm>
        <a:off x="602678" y="725825"/>
        <a:ext cx="4463730" cy="2771523"/>
      </dsp:txXfrm>
    </dsp:sp>
    <dsp:sp modelId="{65B8FA96-1616-45A9-A7EB-ABBF3B162D5C}">
      <dsp:nvSpPr>
        <dsp:cNvPr id="0" name=""/>
        <dsp:cNvSpPr/>
      </dsp:nvSpPr>
      <dsp:spPr>
        <a:xfrm>
          <a:off x="5667765" y="150224"/>
          <a:ext cx="4636182" cy="29439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7A87E-9170-4EA2-9513-885584B5F2E3}">
      <dsp:nvSpPr>
        <dsp:cNvPr id="0" name=""/>
        <dsp:cNvSpPr/>
      </dsp:nvSpPr>
      <dsp:spPr>
        <a:xfrm>
          <a:off x="6182897" y="639599"/>
          <a:ext cx="4636182" cy="29439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Categorical breakdowns show dominant categories and “unknown” presence</a:t>
          </a:r>
        </a:p>
      </dsp:txBody>
      <dsp:txXfrm>
        <a:off x="6269123" y="725825"/>
        <a:ext cx="4463730" cy="27715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4F632A-DD5C-4B3F-ADD5-AFE6E202451D}">
      <dsp:nvSpPr>
        <dsp:cNvPr id="0" name=""/>
        <dsp:cNvSpPr/>
      </dsp:nvSpPr>
      <dsp:spPr>
        <a:xfrm>
          <a:off x="0" y="1868"/>
          <a:ext cx="3895344" cy="8988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Regression target in notebook: </a:t>
          </a:r>
          <a:r>
            <a:rPr lang="en-US" sz="2500" b="1" kern="1200"/>
            <a:t>age</a:t>
          </a:r>
          <a:endParaRPr lang="en-US" sz="2500" kern="1200"/>
        </a:p>
      </dsp:txBody>
      <dsp:txXfrm>
        <a:off x="43876" y="45744"/>
        <a:ext cx="3807592" cy="811058"/>
      </dsp:txXfrm>
    </dsp:sp>
    <dsp:sp modelId="{F2B7DE19-B66C-44FE-8915-C8A61C135B85}">
      <dsp:nvSpPr>
        <dsp:cNvPr id="0" name=""/>
        <dsp:cNvSpPr/>
      </dsp:nvSpPr>
      <dsp:spPr>
        <a:xfrm rot="5400000">
          <a:off x="6998347" y="-2067503"/>
          <a:ext cx="719048" cy="692505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age_squared (nonlinear relationship)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pdays_was_missing, pdays_filled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campaign_per_previous</a:t>
          </a:r>
        </a:p>
      </dsp:txBody>
      <dsp:txXfrm rot="-5400000">
        <a:off x="3895344" y="1070601"/>
        <a:ext cx="6889955" cy="648846"/>
      </dsp:txXfrm>
    </dsp:sp>
    <dsp:sp modelId="{18165BCA-4FF7-42FF-9B5A-4C3111538AAD}">
      <dsp:nvSpPr>
        <dsp:cNvPr id="0" name=""/>
        <dsp:cNvSpPr/>
      </dsp:nvSpPr>
      <dsp:spPr>
        <a:xfrm>
          <a:off x="0" y="945619"/>
          <a:ext cx="3895344" cy="89881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Feature engineering used:</a:t>
          </a:r>
        </a:p>
      </dsp:txBody>
      <dsp:txXfrm>
        <a:off x="43876" y="989495"/>
        <a:ext cx="3807592" cy="811058"/>
      </dsp:txXfrm>
    </dsp:sp>
    <dsp:sp modelId="{914706D5-06DA-403F-B508-BE6B99AD7809}">
      <dsp:nvSpPr>
        <dsp:cNvPr id="0" name=""/>
        <dsp:cNvSpPr/>
      </dsp:nvSpPr>
      <dsp:spPr>
        <a:xfrm rot="5400000">
          <a:off x="6998347" y="-1123753"/>
          <a:ext cx="719048" cy="6925056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Numeric: impute median + scale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Categorical: impute most frequent + one-hot encode</a:t>
          </a:r>
        </a:p>
      </dsp:txBody>
      <dsp:txXfrm rot="-5400000">
        <a:off x="3895344" y="2014351"/>
        <a:ext cx="6889955" cy="648846"/>
      </dsp:txXfrm>
    </dsp:sp>
    <dsp:sp modelId="{A1BECAE9-5B15-45D1-8CB1-E2554405C0B0}">
      <dsp:nvSpPr>
        <dsp:cNvPr id="0" name=""/>
        <dsp:cNvSpPr/>
      </dsp:nvSpPr>
      <dsp:spPr>
        <a:xfrm>
          <a:off x="0" y="1889369"/>
          <a:ext cx="3895344" cy="89881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Preprocessing pipeline:</a:t>
          </a:r>
        </a:p>
      </dsp:txBody>
      <dsp:txXfrm>
        <a:off x="43876" y="1933245"/>
        <a:ext cx="3807592" cy="811058"/>
      </dsp:txXfrm>
    </dsp:sp>
    <dsp:sp modelId="{EFB817B8-52FF-4800-8F18-2333DF50D64A}">
      <dsp:nvSpPr>
        <dsp:cNvPr id="0" name=""/>
        <dsp:cNvSpPr/>
      </dsp:nvSpPr>
      <dsp:spPr>
        <a:xfrm rot="5400000">
          <a:off x="6998347" y="-180002"/>
          <a:ext cx="719048" cy="6925056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Linear Regression, Ridge, Lasso</a:t>
          </a:r>
        </a:p>
      </dsp:txBody>
      <dsp:txXfrm rot="-5400000">
        <a:off x="3895344" y="2958102"/>
        <a:ext cx="6889955" cy="648846"/>
      </dsp:txXfrm>
    </dsp:sp>
    <dsp:sp modelId="{2449F9E3-E262-4B26-A073-2802DF3AEB88}">
      <dsp:nvSpPr>
        <dsp:cNvPr id="0" name=""/>
        <dsp:cNvSpPr/>
      </dsp:nvSpPr>
      <dsp:spPr>
        <a:xfrm>
          <a:off x="0" y="2833120"/>
          <a:ext cx="3895344" cy="89881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Models compared:</a:t>
          </a:r>
        </a:p>
      </dsp:txBody>
      <dsp:txXfrm>
        <a:off x="43876" y="2876996"/>
        <a:ext cx="3807592" cy="8110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02736C-2C09-427A-B86A-D97D732780A0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Imbalance drives metric choice (F1/ROC-AUC)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SVM tuned performed best overall in F1 (per notebook table)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Clustering suggests two major customer segments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Association rules reveal recurring profile combinations in subscribers</a:t>
          </a:r>
        </a:p>
      </dsp:txBody>
      <dsp:txXfrm rot="-5400000">
        <a:off x="3785616" y="197117"/>
        <a:ext cx="6675221" cy="1012303"/>
      </dsp:txXfrm>
    </dsp:sp>
    <dsp:sp modelId="{B55CAA63-6320-4D9D-BADE-C311B810B226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Key findings</a:t>
          </a:r>
        </a:p>
      </dsp:txBody>
      <dsp:txXfrm>
        <a:off x="68454" y="70578"/>
        <a:ext cx="3648708" cy="1265378"/>
      </dsp:txXfrm>
    </dsp:sp>
    <dsp:sp modelId="{A4621F9C-6479-4D49-88E0-9714EB1332C5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Handling “unknown” + pdays sentinel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Avoiding misleading accuracy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Keeping plots readable (outliers)</a:t>
          </a:r>
        </a:p>
      </dsp:txBody>
      <dsp:txXfrm rot="-5400000">
        <a:off x="3785616" y="1669517"/>
        <a:ext cx="6675221" cy="1012303"/>
      </dsp:txXfrm>
    </dsp:sp>
    <dsp:sp modelId="{E02BB85F-D892-487C-9E9B-E90FA2EC64C6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Challenges</a:t>
          </a:r>
        </a:p>
      </dsp:txBody>
      <dsp:txXfrm>
        <a:off x="68454" y="1542979"/>
        <a:ext cx="3648708" cy="1265378"/>
      </dsp:txXfrm>
    </dsp:sp>
    <dsp:sp modelId="{E22A043B-23F2-4A63-BE8A-465B36A60DD5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Try tree ensembles (Random Forest / Gradient Boosting)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Threshold tuning for business objectives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Deeper cluster interpretation with campaign strategy</a:t>
          </a:r>
        </a:p>
      </dsp:txBody>
      <dsp:txXfrm rot="-5400000">
        <a:off x="3785616" y="3141918"/>
        <a:ext cx="6675221" cy="1012303"/>
      </dsp:txXfrm>
    </dsp:sp>
    <dsp:sp modelId="{0156BA45-45BC-4A71-82EE-7AE76CA341D3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Next steps:</a:t>
          </a:r>
        </a:p>
      </dsp:txBody>
      <dsp:txXfrm>
        <a:off x="68454" y="3015380"/>
        <a:ext cx="3648708" cy="1265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2B11D-AD0C-4F6A-ADFA-229C868AC948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8ECCF-9E82-4F7E-81A7-6B2B58A043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73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05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08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042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88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204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51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98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88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88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77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09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95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56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5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8ECCF-9E82-4F7E-81A7-6B2B58A043F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42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83E4-DD31-35CC-3F8E-FD5A5B034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62566-2F21-9997-B8DA-6B40F7A1E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6D3BB-DE0C-E9D6-615F-C9865A89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4268D-B5F2-D358-CB7C-8D657BE31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1E25B-6630-0978-A6C8-E6548158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160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333D-20D7-32EA-38A3-7F954030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C95ED-CC6F-F833-091E-7D0DA99ED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5230-8FB5-D50F-911E-4A5B80ECB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A2178-5D9B-85B5-8F3A-C2E2144F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D8F18-7733-506C-D35F-E62885DB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0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AE7AD-9401-101D-AA98-0819E8866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B94CB-F3EA-42C2-1B28-DE2F25123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2F145-4F0E-C71E-AE2B-6013F491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1DB17-63BF-27DF-288D-F51B0F191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310C0-945C-895B-1CD0-07301920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3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6FDD7-397D-66C6-4D16-44D8E825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95C3-E168-6C17-BC61-49461A33E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2BEE0-E82C-7F25-BC46-D897D9570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FEEDA-EB79-034B-D3B7-69C33BC1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3E5A9-3FB0-7AEF-DE5E-6E4CBEF77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17E91-A62F-77A6-6E11-1D704F84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25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51F6-7B22-CD55-EE1A-1CD01194C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3DBE-A63D-B65C-7BD1-34A56E74E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F275D-3C12-555B-D6F2-7E3A96EB1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8630C5-ECCE-9A30-F1AE-59DF1BBE3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D6285-08A7-0E20-D531-EBFCA9888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BE865-8D7B-B534-2A34-3122409E8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A22E3-852D-164F-CD67-5E364A4A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1D8E19-0508-F2D6-960A-41D2384F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78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208A9-6050-33C1-9B03-55AB7802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D19D9-1B58-D4DC-8C3C-CF708C0E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4179E-09D4-3785-4FD5-C5B293E7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C50B4-8A86-1684-E4C3-B534FEAA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7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7776F-3CBF-A990-D02D-87506992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6DB48E-694E-45D0-DAD3-F733A791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0D9FD-2EBF-7FED-652C-A2F46FA3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0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53AC-A9B5-E716-1CBF-BAF874ED8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E4C05-8590-B41B-8457-30FC4B4C4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D760A-AC48-7A2E-A154-D5E0EDD2A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71FB0-11AB-1AF5-4261-8FEDDD55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D73F9-161C-0296-7BE7-4800206E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DA723-9D69-7153-E4CD-4EDB91B84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1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1625-D804-E831-531E-C49851CCE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D4A1E-1BAC-5CDD-A513-5CE0CF03E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D8B1F-BA87-8C32-4319-C2749D1F4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227E6-B916-97BF-C117-C5ADF8169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80C576-5662-B5A3-0474-C332209B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DF919-8922-3150-FCA4-5F39C03E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1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3FFC8-A750-F789-ECF1-010CBE8B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8D073-4591-62E1-8D4C-4E257943B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63715-AFFD-CD4D-832D-2BFFB703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1F744-3CBF-603E-BF36-DA037CA1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DD2C7-E6ED-13FE-3E11-5E5F0692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FA5F7-4F16-C653-9F75-95B29A363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3EEAE-279B-AC53-F87F-888D770F6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6B916-A0F7-B9C6-41CB-8FC55F90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348EB-2CF4-89EE-5A5D-9BA1CC372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2B0B-AF65-8771-C534-3ED86EE4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0A6D2-061A-4F73-5CD8-8F2B7A1B8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EE736-108E-5302-540C-B8548862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99A2-2831-4C11-C7D1-E5E9EA791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6A8904-B0B0-4102-837A-D2C8819AB1E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3416C-37CE-E8D3-A2F7-13A54CAB17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53004-449E-60AF-E5BA-009DE3086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7FDB1-0EBA-4710-B48C-17486E2D8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52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4.xml"/><Relationship Id="rId9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0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2D7B1-0B62-5E15-B823-9E714D231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3" y="350196"/>
            <a:ext cx="4646904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500" b="1" dirty="0"/>
              <a:t>Bank Marketing Dataset: EDA, Regression, Classification, Clustering &amp; Pattern Mining</a:t>
            </a:r>
            <a:endParaRPr lang="en-US" sz="2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28650-9F24-CA48-E557-AC74429A5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pPr algn="l"/>
            <a:r>
              <a:rPr lang="en-US" sz="2000" b="1" dirty="0"/>
              <a:t>University of the Cumberlands</a:t>
            </a:r>
          </a:p>
          <a:p>
            <a:pPr algn="l"/>
            <a:r>
              <a:rPr lang="en-US" sz="2000" b="1" dirty="0"/>
              <a:t>Advanced Big Data and Data Mining </a:t>
            </a:r>
          </a:p>
          <a:p>
            <a:pPr algn="l"/>
            <a:r>
              <a:rPr lang="en-US" sz="2000" b="1" dirty="0"/>
              <a:t>Instructor: Dr. Satish </a:t>
            </a:r>
            <a:r>
              <a:rPr lang="en-US" sz="2000" b="1" dirty="0" err="1"/>
              <a:t>Penmatsa</a:t>
            </a:r>
            <a:endParaRPr lang="en-US" sz="2000" b="1" dirty="0"/>
          </a:p>
          <a:p>
            <a:pPr algn="l"/>
            <a:r>
              <a:rPr lang="en-US" sz="2000" b="1" dirty="0"/>
              <a:t>Group Members : </a:t>
            </a:r>
          </a:p>
          <a:p>
            <a:pPr algn="l"/>
            <a:r>
              <a:rPr lang="en-US" sz="2000" b="1" dirty="0"/>
              <a:t>Suresh Ghimire</a:t>
            </a:r>
          </a:p>
          <a:p>
            <a:pPr algn="l"/>
            <a:r>
              <a:rPr lang="en-US" sz="2000" b="1" dirty="0"/>
              <a:t> Sagar </a:t>
            </a:r>
            <a:r>
              <a:rPr lang="en-US" sz="2000" b="1" dirty="0" err="1"/>
              <a:t>Bhetwal</a:t>
            </a:r>
            <a:endParaRPr lang="en-US" sz="2000" b="1" dirty="0"/>
          </a:p>
          <a:p>
            <a:pPr algn="l"/>
            <a:r>
              <a:rPr lang="en-US" sz="2000" b="1" dirty="0"/>
              <a:t>Nirajan Acharya</a:t>
            </a:r>
          </a:p>
          <a:p>
            <a:pPr algn="l"/>
            <a:r>
              <a:rPr lang="en-US" sz="2000" b="1" dirty="0"/>
              <a:t>Umesh Dhakal</a:t>
            </a:r>
          </a:p>
          <a:p>
            <a:pPr algn="l"/>
            <a:r>
              <a:rPr lang="en-US" sz="2000" b="1" dirty="0"/>
              <a:t> </a:t>
            </a:r>
            <a:r>
              <a:rPr lang="en-US" sz="2000" b="1" dirty="0" err="1"/>
              <a:t>Enjal</a:t>
            </a:r>
            <a:r>
              <a:rPr lang="en-US" sz="2000" b="1" dirty="0"/>
              <a:t> Chauhan</a:t>
            </a:r>
          </a:p>
          <a:p>
            <a:pPr algn="l"/>
            <a:r>
              <a:rPr lang="en-US" sz="2000" b="1" dirty="0"/>
              <a:t>Date: 15 February, 2026</a:t>
            </a:r>
          </a:p>
          <a:p>
            <a:pPr algn="l"/>
            <a:endParaRPr lang="en-US" sz="2000" b="1" dirty="0"/>
          </a:p>
          <a:p>
            <a:pPr algn="l"/>
            <a:r>
              <a:rPr lang="en-US" sz="2000" b="1" dirty="0"/>
              <a:t>Presentation Link :</a:t>
            </a:r>
          </a:p>
          <a:p>
            <a:pPr algn="l"/>
            <a:r>
              <a:rPr lang="en-US" sz="2000" b="1" dirty="0"/>
              <a:t> https://cumber-my.sharepoint.com/:v:/g/personal/sghimire38288_ucumberlands_edu/IQB1BVQMvYzYRpO1aTxZtL9_AfiIvO3bNbkV5mlvI5MfZrI?nav=eyJyZWZlcnJhbEluZm8iOnsicmVmZXJyYWxBcHAiOiJTdHJlYW1XZWJBcHAiLCJyZWZlcnJhbFZpZXciOiJTaGFyZURpYWxvZy1MaW5rIiwicmVmZXJyYWxBcHBQbGF0Zm9ybSI6IldlYiIsInJlZmVycmFsTW9kZSI6InZpZXcifX0%3D&amp;e=s7rWwT</a:t>
            </a:r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B85DB4AF-6505-D71B-B723-9F81FA643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558" r="2782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94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0EF43-DB36-0840-8F14-46917C5C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Roadmap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59CAD3-0EF7-2CEA-F7EE-A5A428F23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3946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932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89" y="-2"/>
            <a:ext cx="346823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5C91ED-83D3-907E-25F6-89BB5A9A2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F4281D-3CD5-9456-4A9E-3E440BE8B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289995"/>
              </p:ext>
            </p:extLst>
          </p:nvPr>
        </p:nvGraphicFramePr>
        <p:xfrm>
          <a:off x="3794296" y="288758"/>
          <a:ext cx="7559504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864633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DDA6D0-918D-F84F-856C-C2B906C7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US" sz="4000"/>
              <a:t>Data Validation &amp; Cleaning Decisions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B7B8AE-0DEA-CE50-5FAC-D8DF13735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823350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754603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F781D-D377-5B39-D05F-FA333959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/>
              <a:t>Target Balance (Class Imbalance)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C34B5-2E41-2431-E16C-4DAF5580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/>
              <a:t>What to show:</a:t>
            </a:r>
          </a:p>
          <a:p>
            <a:pPr lvl="1"/>
            <a:r>
              <a:rPr lang="en-US" sz="1800"/>
              <a:t>Short explanation: subscription “yes” is minority</a:t>
            </a:r>
          </a:p>
          <a:p>
            <a:pPr lvl="1"/>
            <a:endParaRPr lang="en-US" sz="1800"/>
          </a:p>
          <a:p>
            <a:pPr lvl="1"/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CF1B9-F69F-DCDA-B0A9-1938FADB2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7738" y="1286479"/>
            <a:ext cx="5628018" cy="40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3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764DA-5CDE-A497-A5E1-FD6F98C9B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Numeric Feature Distributions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1FCAB-1DC7-EABB-4BB7-E8466EE32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Brief callouts: skew and long tails (balance, duration, campaign)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3EB89-75F4-BBA1-EA22-3627F4130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25" y="4567400"/>
            <a:ext cx="3370436" cy="1968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130E2-9C39-B773-79D9-ACB132F5F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817" y="2330244"/>
            <a:ext cx="3228459" cy="1878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1BD426-95A9-0CE1-5C72-3CC0CB23B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619" y="2185498"/>
            <a:ext cx="3416181" cy="19835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536C60-1214-5909-4D2D-07C289AB8F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2840" y="4304024"/>
            <a:ext cx="4022065" cy="238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3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C8C42B-8688-4025-A381-4FFD4EAA7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Outliers + Categorical Distributions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5A8FF3-9156-FBBB-670F-147480922F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357837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8D1B788B-8986-CC78-AD43-5C94935371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80039731"/>
                  </p:ext>
                </p:extLst>
              </p:nvPr>
            </p:nvGraphicFramePr>
            <p:xfrm>
              <a:off x="3291840" y="-461010"/>
              <a:ext cx="3048000" cy="1714500"/>
            </p:xfrm>
            <a:graphic>
              <a:graphicData uri="http://schemas.microsoft.com/office/powerpoint/2016/slidezoom">
                <pslz:sldZm>
                  <pslz:sldZmObj sldId="263" cId="1203641651">
                    <pslz:zmPr id="{7EEACA42-254B-46D4-9E50-3BF17A2D1683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D1B788B-8986-CC78-AD43-5C94935371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91840" y="-46101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973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1102A-AE7E-7481-087B-D1C4B4E5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Feature - Target Relationships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3BEE-0A9F-EA52-4C2E-9F047A872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Numeric vs target: distribution shifts across y=0 vs y=1</a:t>
            </a:r>
          </a:p>
          <a:p>
            <a:r>
              <a:rPr lang="en-US" sz="2200"/>
              <a:t>Subscription rate by category: strongest differences by variables like month/contact/job (depending on plot)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A8DCD4-39B2-EC02-BDD3-713843F6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375144"/>
            <a:ext cx="6903720" cy="410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41651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58193-45B5-02C2-0BF0-DB44350FD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US" sz="4000"/>
              <a:t>Regression Modeling Setup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DE797B-158A-7911-21F6-F449F0A23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4433777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096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C18733-8F56-4BB4-CCD5-7B86A83EE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Regression Results + Visualization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66AF-2DE4-EA25-E0AA-B0F308302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Key result: Ridge / Linear Regression / Lasso are extremely close</a:t>
            </a:r>
          </a:p>
          <a:p>
            <a:r>
              <a:rPr lang="en-US" sz="2200" dirty="0"/>
              <a:t>Reported metrics from notebook (test):</a:t>
            </a:r>
          </a:p>
          <a:p>
            <a:pPr lvl="1"/>
            <a:r>
              <a:rPr lang="en-US" sz="2200" dirty="0"/>
              <a:t>R² ≈ 0.981</a:t>
            </a:r>
          </a:p>
          <a:p>
            <a:pPr lvl="1"/>
            <a:r>
              <a:rPr lang="en-US" sz="2200" dirty="0"/>
              <a:t>RMSE ≈ 1.46</a:t>
            </a:r>
          </a:p>
          <a:p>
            <a:pPr lvl="1"/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7EE4E-B82E-C2F2-8E33-7AF120C73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779698"/>
            <a:ext cx="6903720" cy="5298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289885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616FBC-8E91-1B0A-10D1-4B639422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/>
              <a:t>Classification Models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2A6E-63FD-75C1-C179-4FCCD84B0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Models evaluated:</a:t>
            </a:r>
          </a:p>
          <a:p>
            <a:pPr lvl="1"/>
            <a:r>
              <a:rPr lang="en-US" sz="2200"/>
              <a:t>Logistic Regression (baseline)</a:t>
            </a:r>
          </a:p>
          <a:p>
            <a:pPr lvl="1"/>
            <a:r>
              <a:rPr lang="en-US" sz="2200"/>
              <a:t>Decision Tree (baseline)</a:t>
            </a:r>
          </a:p>
          <a:p>
            <a:pPr lvl="1"/>
            <a:r>
              <a:rPr lang="en-US" sz="2200"/>
              <a:t>Linear SVM (baseline + tuned)</a:t>
            </a:r>
          </a:p>
          <a:p>
            <a:pPr marL="457200" lvl="1" indent="0">
              <a:buNone/>
            </a:pPr>
            <a:endParaRPr lang="en-US" sz="2200"/>
          </a:p>
          <a:p>
            <a:pPr lvl="1"/>
            <a:r>
              <a:rPr lang="en-US" sz="2200"/>
              <a:t>Why F1 matters: class imbalance (yes ≈ 11.7%)</a:t>
            </a:r>
          </a:p>
          <a:p>
            <a:pPr lvl="1"/>
            <a:r>
              <a:rPr lang="en-US" sz="2200"/>
              <a:t>Best tuned parameter:</a:t>
            </a:r>
          </a:p>
          <a:p>
            <a:pPr lvl="2"/>
            <a:r>
              <a:rPr lang="en-US" sz="2200"/>
              <a:t>SVM best C = 0.5 (from GridSearch)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1784623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15F61-F4A6-0C75-8680-14D67381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Clustering: Selecting K + Visualizing Clusters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864A-0D54-D291-5A8D-2B0FCB0D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Clustering method: MiniBatch K-Means on preprocessed features (no target column)</a:t>
            </a:r>
          </a:p>
          <a:p>
            <a:pPr lvl="1"/>
            <a:r>
              <a:rPr lang="en-US" sz="2200"/>
              <a:t>Elbow (inertia) + silhouette</a:t>
            </a:r>
          </a:p>
          <a:p>
            <a:pPr lvl="1"/>
            <a:r>
              <a:rPr lang="en-US" sz="2200"/>
              <a:t>Best k reported: 2</a:t>
            </a:r>
          </a:p>
          <a:p>
            <a:r>
              <a:rPr lang="en-US" sz="2200"/>
              <a:t>K selection:</a:t>
            </a:r>
          </a:p>
          <a:p>
            <a:r>
              <a:rPr lang="en-US" sz="2200"/>
              <a:t>2D visualization: TruncatedSVD projection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372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173DF-E576-A3E1-C59F-781B3967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/>
              <a:t>Cluster Profiling (What the clusters mean)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83593-88A5-5B8B-B271-7B46CFC9F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Cluster size summary</a:t>
            </a:r>
          </a:p>
          <a:p>
            <a:pPr lvl="1"/>
            <a:r>
              <a:rPr lang="en-US" sz="2200"/>
              <a:t>Cluster 0: 36,954</a:t>
            </a:r>
          </a:p>
          <a:p>
            <a:pPr lvl="1"/>
            <a:r>
              <a:rPr lang="en-US" sz="2200"/>
              <a:t>Cluster 1: 8,257</a:t>
            </a:r>
          </a:p>
          <a:p>
            <a:r>
              <a:rPr lang="en-US" sz="2200"/>
              <a:t>Numeric averages table (age, balance, duration, campaign, previous, pdays)</a:t>
            </a:r>
          </a:p>
          <a:p>
            <a:r>
              <a:rPr lang="en-US" sz="2200"/>
              <a:t>Top categorical breakdowns (example shown in notebook: job)</a:t>
            </a:r>
          </a:p>
        </p:txBody>
      </p:sp>
    </p:spTree>
    <p:extLst>
      <p:ext uri="{BB962C8B-B14F-4D97-AF65-F5344CB8AC3E}">
        <p14:creationId xmlns:p14="http://schemas.microsoft.com/office/powerpoint/2010/main" val="1194911558"/>
      </p:ext>
    </p:extLst>
  </p:cSld>
  <p:clrMapOvr>
    <a:masterClrMapping/>
  </p:clrMapOvr>
  <p:transition spd="slow">
    <p:comb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A777F-9DB6-5B13-DA36-F30DAB452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4600"/>
              <a:t>Association Rule Mining (Patterns among successful subscriptions)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35B4A-6BFE-1A65-AE17-CB95AAA32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Association Rule Mining (Patterns among successful subscriptions)</a:t>
            </a:r>
          </a:p>
          <a:p>
            <a:r>
              <a:rPr lang="en-US" sz="2200"/>
              <a:t>Method: Apriori + association rules</a:t>
            </a:r>
          </a:p>
          <a:p>
            <a:r>
              <a:rPr lang="en-US" sz="2200"/>
              <a:t>Constraints used:</a:t>
            </a:r>
          </a:p>
          <a:p>
            <a:pPr lvl="1"/>
            <a:r>
              <a:rPr lang="en-US" sz="2200"/>
              <a:t>min_support = 0.05</a:t>
            </a:r>
          </a:p>
          <a:p>
            <a:pPr lvl="1"/>
            <a:r>
              <a:rPr lang="en-US" sz="2200"/>
              <a:t>max_len = 3</a:t>
            </a:r>
          </a:p>
          <a:p>
            <a:pPr lvl="1"/>
            <a:r>
              <a:rPr lang="en-US" sz="2200"/>
              <a:t>rules filtered to confidence ≥ </a:t>
            </a:r>
            <a:r>
              <a:rPr lang="en-US" sz="2200" b="1"/>
              <a:t>0.60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40014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8E0D9F-9D73-B4BD-D4DC-4F92C799B2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688DF2-E908-4448-ED87-63B57E67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Key Findings, Challenges,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9E8AC6-42D1-1B51-5E22-1FEC97DB30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8797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27311098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2BAB75BE95C84A90D85BE4A5F82094" ma:contentTypeVersion="11" ma:contentTypeDescription="Create a new document." ma:contentTypeScope="" ma:versionID="f6b5dfbdc13e07ee8bdd8021327b34f5">
  <xsd:schema xmlns:xsd="http://www.w3.org/2001/XMLSchema" xmlns:xs="http://www.w3.org/2001/XMLSchema" xmlns:p="http://schemas.microsoft.com/office/2006/metadata/properties" xmlns:ns3="bc5f7283-e1b5-456c-b0dc-5b4857ffd6c0" targetNamespace="http://schemas.microsoft.com/office/2006/metadata/properties" ma:root="true" ma:fieldsID="51a46b36ab0123d1e855f0ffefaa95be" ns3:_="">
    <xsd:import namespace="bc5f7283-e1b5-456c-b0dc-5b4857ffd6c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5f7283-e1b5-456c-b0dc-5b4857ffd6c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5f7283-e1b5-456c-b0dc-5b4857ffd6c0" xsi:nil="true"/>
  </documentManagement>
</p:properties>
</file>

<file path=customXml/itemProps1.xml><?xml version="1.0" encoding="utf-8"?>
<ds:datastoreItem xmlns:ds="http://schemas.openxmlformats.org/officeDocument/2006/customXml" ds:itemID="{D87F0966-824B-4A73-BEE4-01A5028871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5f7283-e1b5-456c-b0dc-5b4857ffd6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B38309-A822-4B90-B87D-5E5B8C5F2F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927F41-571A-42A6-84EE-7760F3C1561B}">
  <ds:schemaRefs>
    <ds:schemaRef ds:uri="http://www.w3.org/XML/1998/namespace"/>
    <ds:schemaRef ds:uri="http://schemas.microsoft.com/office/2006/documentManagement/types"/>
    <ds:schemaRef ds:uri="bc5f7283-e1b5-456c-b0dc-5b4857ffd6c0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687</Words>
  <Application>Microsoft Office PowerPoint</Application>
  <PresentationFormat>Widescreen</PresentationFormat>
  <Paragraphs>115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Bank Marketing Dataset: EDA, Regression, Classification, Clustering &amp; Pattern Mining</vt:lpstr>
      <vt:lpstr>Roadmap</vt:lpstr>
      <vt:lpstr>Dataset Overview</vt:lpstr>
      <vt:lpstr>Data Validation &amp; Cleaning Decisions</vt:lpstr>
      <vt:lpstr>Target Balance (Class Imbalance)</vt:lpstr>
      <vt:lpstr>Numeric Feature Distributions</vt:lpstr>
      <vt:lpstr>Outliers + Categorical Distributions</vt:lpstr>
      <vt:lpstr>Feature - Target Relationships</vt:lpstr>
      <vt:lpstr>Regression Modeling Setup</vt:lpstr>
      <vt:lpstr>Regression Results + Visualization</vt:lpstr>
      <vt:lpstr>Classification Models</vt:lpstr>
      <vt:lpstr>Clustering: Selecting K + Visualizing Clusters</vt:lpstr>
      <vt:lpstr>Cluster Profiling (What the clusters mean)</vt:lpstr>
      <vt:lpstr>Association Rule Mining (Patterns among successful subscriptions)</vt:lpstr>
      <vt:lpstr>Key Findings, Challenges,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Ghimire</dc:creator>
  <cp:lastModifiedBy>Suresh Ghimire</cp:lastModifiedBy>
  <cp:revision>5</cp:revision>
  <dcterms:created xsi:type="dcterms:W3CDTF">2026-02-15T13:18:25Z</dcterms:created>
  <dcterms:modified xsi:type="dcterms:W3CDTF">2026-02-15T16:50:46Z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0x010100012BAB75BE95C84A90D85BE4A5F82094</vt:lpwstr>
  </property>
</Properties>
</file>