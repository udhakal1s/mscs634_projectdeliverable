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CFF2C9-FE7F-45C9-B14B-2C959509DD60}" v="102" dt="2026-02-15T15:16:52.3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4312" autoAdjust="0"/>
  </p:normalViewPr>
  <p:slideViewPr>
    <p:cSldViewPr snapToGrid="0">
      <p:cViewPr>
        <p:scale>
          <a:sx n="50" d="100"/>
          <a:sy n="50" d="100"/>
        </p:scale>
        <p:origin x="193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37852C-5231-4368-960F-970467FB508A}" type="doc">
      <dgm:prSet loTypeId="urn:microsoft.com/office/officeart/2005/8/layout/matrix3" loCatId="matrix" qsTypeId="urn:microsoft.com/office/officeart/2005/8/quickstyle/simple4" qsCatId="simple" csTypeId="urn:microsoft.com/office/officeart/2005/8/colors/colorful1" csCatId="colorful"/>
      <dgm:spPr/>
      <dgm:t>
        <a:bodyPr/>
        <a:lstStyle/>
        <a:p>
          <a:endParaRPr lang="en-US"/>
        </a:p>
      </dgm:t>
    </dgm:pt>
    <dgm:pt modelId="{968678DE-71EA-4B15-9ECB-424F27ED085B}">
      <dgm:prSet/>
      <dgm:spPr/>
      <dgm:t>
        <a:bodyPr/>
        <a:lstStyle/>
        <a:p>
          <a:r>
            <a:rPr lang="en-US"/>
            <a:t>EDA &amp; Cleaning (Deliverable 1)</a:t>
          </a:r>
        </a:p>
      </dgm:t>
    </dgm:pt>
    <dgm:pt modelId="{7E99972F-AC88-4FC6-958F-A526C2D9F1EA}" type="parTrans" cxnId="{BC5D8324-F89E-4039-B476-3962366502EE}">
      <dgm:prSet/>
      <dgm:spPr/>
      <dgm:t>
        <a:bodyPr/>
        <a:lstStyle/>
        <a:p>
          <a:endParaRPr lang="en-US"/>
        </a:p>
      </dgm:t>
    </dgm:pt>
    <dgm:pt modelId="{4B54FA77-0456-4124-AB88-CF89EB70199D}" type="sibTrans" cxnId="{BC5D8324-F89E-4039-B476-3962366502EE}">
      <dgm:prSet/>
      <dgm:spPr/>
      <dgm:t>
        <a:bodyPr/>
        <a:lstStyle/>
        <a:p>
          <a:endParaRPr lang="en-US"/>
        </a:p>
      </dgm:t>
    </dgm:pt>
    <dgm:pt modelId="{03947CE2-8B23-43A3-B448-6E3687E1082B}">
      <dgm:prSet/>
      <dgm:spPr/>
      <dgm:t>
        <a:bodyPr/>
        <a:lstStyle/>
        <a:p>
          <a:r>
            <a:rPr lang="en-US"/>
            <a:t>Regression Modeling (Deliverable 2)</a:t>
          </a:r>
        </a:p>
      </dgm:t>
    </dgm:pt>
    <dgm:pt modelId="{7F2BC329-88FB-414B-BA7A-0AB8BFEDA41F}" type="parTrans" cxnId="{208D7774-499D-4C09-BF01-3CD4B22362F4}">
      <dgm:prSet/>
      <dgm:spPr/>
      <dgm:t>
        <a:bodyPr/>
        <a:lstStyle/>
        <a:p>
          <a:endParaRPr lang="en-US"/>
        </a:p>
      </dgm:t>
    </dgm:pt>
    <dgm:pt modelId="{37C4C6E5-01EB-4AFB-9175-B6AE20624EC7}" type="sibTrans" cxnId="{208D7774-499D-4C09-BF01-3CD4B22362F4}">
      <dgm:prSet/>
      <dgm:spPr/>
      <dgm:t>
        <a:bodyPr/>
        <a:lstStyle/>
        <a:p>
          <a:endParaRPr lang="en-US"/>
        </a:p>
      </dgm:t>
    </dgm:pt>
    <dgm:pt modelId="{F087BDEF-C177-4F40-BFD0-6D052B146FD3}">
      <dgm:prSet/>
      <dgm:spPr/>
      <dgm:t>
        <a:bodyPr/>
        <a:lstStyle/>
        <a:p>
          <a:r>
            <a:rPr lang="en-US"/>
            <a:t>Classification, Clustering, Association Rules (Deliverable 3)</a:t>
          </a:r>
        </a:p>
      </dgm:t>
    </dgm:pt>
    <dgm:pt modelId="{736DFEFC-76EF-44C7-BBAB-903DE642D374}" type="parTrans" cxnId="{24D6961D-F1FE-42FB-92D6-A05ED9EF68F8}">
      <dgm:prSet/>
      <dgm:spPr/>
      <dgm:t>
        <a:bodyPr/>
        <a:lstStyle/>
        <a:p>
          <a:endParaRPr lang="en-US"/>
        </a:p>
      </dgm:t>
    </dgm:pt>
    <dgm:pt modelId="{CD21BF0B-5C18-4A1E-BD4E-C7947B1A613F}" type="sibTrans" cxnId="{24D6961D-F1FE-42FB-92D6-A05ED9EF68F8}">
      <dgm:prSet/>
      <dgm:spPr/>
      <dgm:t>
        <a:bodyPr/>
        <a:lstStyle/>
        <a:p>
          <a:endParaRPr lang="en-US"/>
        </a:p>
      </dgm:t>
    </dgm:pt>
    <dgm:pt modelId="{BA6989A9-327A-4B2A-BAC9-3171E05E9A3A}">
      <dgm:prSet/>
      <dgm:spPr/>
      <dgm:t>
        <a:bodyPr/>
        <a:lstStyle/>
        <a:p>
          <a:r>
            <a:rPr lang="en-US"/>
            <a:t>Key findings + implications</a:t>
          </a:r>
        </a:p>
      </dgm:t>
    </dgm:pt>
    <dgm:pt modelId="{EE229F40-615E-46F1-9FFC-256F1072D31B}" type="parTrans" cxnId="{5E79AC49-CDC1-4160-B4BF-9E01F6833A64}">
      <dgm:prSet/>
      <dgm:spPr/>
      <dgm:t>
        <a:bodyPr/>
        <a:lstStyle/>
        <a:p>
          <a:endParaRPr lang="en-US"/>
        </a:p>
      </dgm:t>
    </dgm:pt>
    <dgm:pt modelId="{297724FB-CBD5-46DB-A26C-86C61087C72A}" type="sibTrans" cxnId="{5E79AC49-CDC1-4160-B4BF-9E01F6833A64}">
      <dgm:prSet/>
      <dgm:spPr/>
      <dgm:t>
        <a:bodyPr/>
        <a:lstStyle/>
        <a:p>
          <a:endParaRPr lang="en-US"/>
        </a:p>
      </dgm:t>
    </dgm:pt>
    <dgm:pt modelId="{FDBEBEEF-1438-428C-80DD-757F8A2AD3B3}" type="pres">
      <dgm:prSet presAssocID="{FE37852C-5231-4368-960F-970467FB508A}" presName="matrix" presStyleCnt="0">
        <dgm:presLayoutVars>
          <dgm:chMax val="1"/>
          <dgm:dir/>
          <dgm:resizeHandles val="exact"/>
        </dgm:presLayoutVars>
      </dgm:prSet>
      <dgm:spPr/>
    </dgm:pt>
    <dgm:pt modelId="{CF5FC9C4-353D-4F13-8436-5457E26CC5B0}" type="pres">
      <dgm:prSet presAssocID="{FE37852C-5231-4368-960F-970467FB508A}" presName="diamond" presStyleLbl="bgShp" presStyleIdx="0" presStyleCnt="1"/>
      <dgm:spPr/>
    </dgm:pt>
    <dgm:pt modelId="{2A2FDE3C-F92A-4536-BE00-26E12B840F79}" type="pres">
      <dgm:prSet presAssocID="{FE37852C-5231-4368-960F-970467FB508A}" presName="quad1" presStyleLbl="node1" presStyleIdx="0" presStyleCnt="4">
        <dgm:presLayoutVars>
          <dgm:chMax val="0"/>
          <dgm:chPref val="0"/>
          <dgm:bulletEnabled val="1"/>
        </dgm:presLayoutVars>
      </dgm:prSet>
      <dgm:spPr/>
    </dgm:pt>
    <dgm:pt modelId="{67938E08-2F4D-499C-9227-62BC18A8C31A}" type="pres">
      <dgm:prSet presAssocID="{FE37852C-5231-4368-960F-970467FB508A}" presName="quad2" presStyleLbl="node1" presStyleIdx="1" presStyleCnt="4">
        <dgm:presLayoutVars>
          <dgm:chMax val="0"/>
          <dgm:chPref val="0"/>
          <dgm:bulletEnabled val="1"/>
        </dgm:presLayoutVars>
      </dgm:prSet>
      <dgm:spPr/>
    </dgm:pt>
    <dgm:pt modelId="{44646A5E-EEDB-423A-B352-3EDE13261C0B}" type="pres">
      <dgm:prSet presAssocID="{FE37852C-5231-4368-960F-970467FB508A}" presName="quad3" presStyleLbl="node1" presStyleIdx="2" presStyleCnt="4">
        <dgm:presLayoutVars>
          <dgm:chMax val="0"/>
          <dgm:chPref val="0"/>
          <dgm:bulletEnabled val="1"/>
        </dgm:presLayoutVars>
      </dgm:prSet>
      <dgm:spPr/>
    </dgm:pt>
    <dgm:pt modelId="{1844CF13-4711-4DFF-82B0-5124F8501E10}" type="pres">
      <dgm:prSet presAssocID="{FE37852C-5231-4368-960F-970467FB508A}" presName="quad4" presStyleLbl="node1" presStyleIdx="3" presStyleCnt="4">
        <dgm:presLayoutVars>
          <dgm:chMax val="0"/>
          <dgm:chPref val="0"/>
          <dgm:bulletEnabled val="1"/>
        </dgm:presLayoutVars>
      </dgm:prSet>
      <dgm:spPr/>
    </dgm:pt>
  </dgm:ptLst>
  <dgm:cxnLst>
    <dgm:cxn modelId="{89D69A03-580C-4E7F-9685-BD36BEA272C0}" type="presOf" srcId="{F087BDEF-C177-4F40-BFD0-6D052B146FD3}" destId="{44646A5E-EEDB-423A-B352-3EDE13261C0B}" srcOrd="0" destOrd="0" presId="urn:microsoft.com/office/officeart/2005/8/layout/matrix3"/>
    <dgm:cxn modelId="{24D6961D-F1FE-42FB-92D6-A05ED9EF68F8}" srcId="{FE37852C-5231-4368-960F-970467FB508A}" destId="{F087BDEF-C177-4F40-BFD0-6D052B146FD3}" srcOrd="2" destOrd="0" parTransId="{736DFEFC-76EF-44C7-BBAB-903DE642D374}" sibTransId="{CD21BF0B-5C18-4A1E-BD4E-C7947B1A613F}"/>
    <dgm:cxn modelId="{BC5D8324-F89E-4039-B476-3962366502EE}" srcId="{FE37852C-5231-4368-960F-970467FB508A}" destId="{968678DE-71EA-4B15-9ECB-424F27ED085B}" srcOrd="0" destOrd="0" parTransId="{7E99972F-AC88-4FC6-958F-A526C2D9F1EA}" sibTransId="{4B54FA77-0456-4124-AB88-CF89EB70199D}"/>
    <dgm:cxn modelId="{B1F12334-496E-4ACB-9037-05C0D128CE39}" type="presOf" srcId="{03947CE2-8B23-43A3-B448-6E3687E1082B}" destId="{67938E08-2F4D-499C-9227-62BC18A8C31A}" srcOrd="0" destOrd="0" presId="urn:microsoft.com/office/officeart/2005/8/layout/matrix3"/>
    <dgm:cxn modelId="{3A8A7C37-1602-4A82-9FE5-36EE7BD82FE7}" type="presOf" srcId="{FE37852C-5231-4368-960F-970467FB508A}" destId="{FDBEBEEF-1438-428C-80DD-757F8A2AD3B3}" srcOrd="0" destOrd="0" presId="urn:microsoft.com/office/officeart/2005/8/layout/matrix3"/>
    <dgm:cxn modelId="{5E79AC49-CDC1-4160-B4BF-9E01F6833A64}" srcId="{FE37852C-5231-4368-960F-970467FB508A}" destId="{BA6989A9-327A-4B2A-BAC9-3171E05E9A3A}" srcOrd="3" destOrd="0" parTransId="{EE229F40-615E-46F1-9FFC-256F1072D31B}" sibTransId="{297724FB-CBD5-46DB-A26C-86C61087C72A}"/>
    <dgm:cxn modelId="{208D7774-499D-4C09-BF01-3CD4B22362F4}" srcId="{FE37852C-5231-4368-960F-970467FB508A}" destId="{03947CE2-8B23-43A3-B448-6E3687E1082B}" srcOrd="1" destOrd="0" parTransId="{7F2BC329-88FB-414B-BA7A-0AB8BFEDA41F}" sibTransId="{37C4C6E5-01EB-4AFB-9175-B6AE20624EC7}"/>
    <dgm:cxn modelId="{C18431B7-1CD0-4511-AAC0-07644C180E84}" type="presOf" srcId="{968678DE-71EA-4B15-9ECB-424F27ED085B}" destId="{2A2FDE3C-F92A-4536-BE00-26E12B840F79}" srcOrd="0" destOrd="0" presId="urn:microsoft.com/office/officeart/2005/8/layout/matrix3"/>
    <dgm:cxn modelId="{A89061D9-3B53-45FB-B75C-BDE5E8B313E4}" type="presOf" srcId="{BA6989A9-327A-4B2A-BAC9-3171E05E9A3A}" destId="{1844CF13-4711-4DFF-82B0-5124F8501E10}" srcOrd="0" destOrd="0" presId="urn:microsoft.com/office/officeart/2005/8/layout/matrix3"/>
    <dgm:cxn modelId="{50526A0E-CD7A-4D0C-95F1-1F335BBEF8FA}" type="presParOf" srcId="{FDBEBEEF-1438-428C-80DD-757F8A2AD3B3}" destId="{CF5FC9C4-353D-4F13-8436-5457E26CC5B0}" srcOrd="0" destOrd="0" presId="urn:microsoft.com/office/officeart/2005/8/layout/matrix3"/>
    <dgm:cxn modelId="{36487ECE-3436-40DA-889A-8B46BACD22BE}" type="presParOf" srcId="{FDBEBEEF-1438-428C-80DD-757F8A2AD3B3}" destId="{2A2FDE3C-F92A-4536-BE00-26E12B840F79}" srcOrd="1" destOrd="0" presId="urn:microsoft.com/office/officeart/2005/8/layout/matrix3"/>
    <dgm:cxn modelId="{11457D1E-7F3B-488E-9329-526A9B01B76E}" type="presParOf" srcId="{FDBEBEEF-1438-428C-80DD-757F8A2AD3B3}" destId="{67938E08-2F4D-499C-9227-62BC18A8C31A}" srcOrd="2" destOrd="0" presId="urn:microsoft.com/office/officeart/2005/8/layout/matrix3"/>
    <dgm:cxn modelId="{9616F32B-537A-468A-92FC-BC8441E90009}" type="presParOf" srcId="{FDBEBEEF-1438-428C-80DD-757F8A2AD3B3}" destId="{44646A5E-EEDB-423A-B352-3EDE13261C0B}" srcOrd="3" destOrd="0" presId="urn:microsoft.com/office/officeart/2005/8/layout/matrix3"/>
    <dgm:cxn modelId="{F2AD458C-2F62-4049-8A61-EE68EE9C5A41}" type="presParOf" srcId="{FDBEBEEF-1438-428C-80DD-757F8A2AD3B3}" destId="{1844CF13-4711-4DFF-82B0-5124F8501E10}" srcOrd="4" destOrd="0" presId="urn:microsoft.com/office/officeart/2005/8/layout/matrix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25D5FEE-323A-48A2-BAAB-B0FDC79E1331}"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5E1D80A8-B445-45CC-A65A-74A7E39475B9}">
      <dgm:prSet/>
      <dgm:spPr/>
      <dgm:t>
        <a:bodyPr/>
        <a:lstStyle/>
        <a:p>
          <a:r>
            <a:rPr lang="en-US"/>
            <a:t>Dataset: Bank Marketing (rows ≈ 45,211)</a:t>
          </a:r>
        </a:p>
      </dgm:t>
    </dgm:pt>
    <dgm:pt modelId="{8A9ECFEA-BEDD-411D-B670-6233990C4724}" type="parTrans" cxnId="{41E701AB-1058-465B-B8D4-E107BDA6C726}">
      <dgm:prSet/>
      <dgm:spPr/>
      <dgm:t>
        <a:bodyPr/>
        <a:lstStyle/>
        <a:p>
          <a:endParaRPr lang="en-US"/>
        </a:p>
      </dgm:t>
    </dgm:pt>
    <dgm:pt modelId="{6C41BC86-D643-4BCC-BC6E-632F0D4B3615}" type="sibTrans" cxnId="{41E701AB-1058-465B-B8D4-E107BDA6C726}">
      <dgm:prSet/>
      <dgm:spPr/>
      <dgm:t>
        <a:bodyPr/>
        <a:lstStyle/>
        <a:p>
          <a:endParaRPr lang="en-US"/>
        </a:p>
      </dgm:t>
    </dgm:pt>
    <dgm:pt modelId="{0153FDB0-0C58-4DC0-8720-5A6DC8A6E045}">
      <dgm:prSet/>
      <dgm:spPr/>
      <dgm:t>
        <a:bodyPr/>
        <a:lstStyle/>
        <a:p>
          <a:r>
            <a:rPr lang="en-US"/>
            <a:t>Target used in EDA &amp; classification: y (subscription: 0/1)</a:t>
          </a:r>
        </a:p>
      </dgm:t>
    </dgm:pt>
    <dgm:pt modelId="{63145E73-38CE-46C6-AC7E-B6818F541EFE}" type="parTrans" cxnId="{745C35F8-D918-409B-91CA-14BA75C6271E}">
      <dgm:prSet/>
      <dgm:spPr/>
      <dgm:t>
        <a:bodyPr/>
        <a:lstStyle/>
        <a:p>
          <a:endParaRPr lang="en-US"/>
        </a:p>
      </dgm:t>
    </dgm:pt>
    <dgm:pt modelId="{24BC5C84-F719-4A4C-80F4-071456F35A18}" type="sibTrans" cxnId="{745C35F8-D918-409B-91CA-14BA75C6271E}">
      <dgm:prSet/>
      <dgm:spPr/>
      <dgm:t>
        <a:bodyPr/>
        <a:lstStyle/>
        <a:p>
          <a:endParaRPr lang="en-US"/>
        </a:p>
      </dgm:t>
    </dgm:pt>
    <dgm:pt modelId="{A8344A03-0DC6-403F-942A-AD4E87527978}">
      <dgm:prSet/>
      <dgm:spPr/>
      <dgm:t>
        <a:bodyPr/>
        <a:lstStyle/>
        <a:p>
          <a:r>
            <a:rPr lang="en-US"/>
            <a:t>Mixed features: numeric + categorical (job, education, loan, etc.)</a:t>
          </a:r>
        </a:p>
      </dgm:t>
    </dgm:pt>
    <dgm:pt modelId="{4BC26E4C-A5ED-4AA2-9CD6-57B438A42A98}" type="parTrans" cxnId="{7D4B5EA3-17E1-4EB4-8C3F-AA0FB53B1C71}">
      <dgm:prSet/>
      <dgm:spPr/>
      <dgm:t>
        <a:bodyPr/>
        <a:lstStyle/>
        <a:p>
          <a:endParaRPr lang="en-US"/>
        </a:p>
      </dgm:t>
    </dgm:pt>
    <dgm:pt modelId="{BFB66590-FA03-45EE-A6AE-F64E99134C9C}" type="sibTrans" cxnId="{7D4B5EA3-17E1-4EB4-8C3F-AA0FB53B1C71}">
      <dgm:prSet/>
      <dgm:spPr/>
      <dgm:t>
        <a:bodyPr/>
        <a:lstStyle/>
        <a:p>
          <a:endParaRPr lang="en-US"/>
        </a:p>
      </dgm:t>
    </dgm:pt>
    <dgm:pt modelId="{577A74E1-5411-416E-8ACF-B9E88BBD8723}">
      <dgm:prSet/>
      <dgm:spPr/>
      <dgm:t>
        <a:bodyPr/>
        <a:lstStyle/>
        <a:p>
          <a:r>
            <a:rPr lang="en-US"/>
            <a:t>Common “unknown” coded values; pdays has special meaning</a:t>
          </a:r>
        </a:p>
      </dgm:t>
    </dgm:pt>
    <dgm:pt modelId="{401E3EE7-6F8C-49E3-A8B7-5F2789E96F50}" type="parTrans" cxnId="{CC9A469B-78CC-4EE1-9684-C90263DF173B}">
      <dgm:prSet/>
      <dgm:spPr/>
      <dgm:t>
        <a:bodyPr/>
        <a:lstStyle/>
        <a:p>
          <a:endParaRPr lang="en-US"/>
        </a:p>
      </dgm:t>
    </dgm:pt>
    <dgm:pt modelId="{4EE5D367-DAB9-417F-BAE4-8D09798CC31D}" type="sibTrans" cxnId="{CC9A469B-78CC-4EE1-9684-C90263DF173B}">
      <dgm:prSet/>
      <dgm:spPr/>
      <dgm:t>
        <a:bodyPr/>
        <a:lstStyle/>
        <a:p>
          <a:endParaRPr lang="en-US"/>
        </a:p>
      </dgm:t>
    </dgm:pt>
    <dgm:pt modelId="{DB80D1B2-21A2-46DE-AB40-33751C2DDC2E}" type="pres">
      <dgm:prSet presAssocID="{A25D5FEE-323A-48A2-BAAB-B0FDC79E1331}" presName="linear" presStyleCnt="0">
        <dgm:presLayoutVars>
          <dgm:animLvl val="lvl"/>
          <dgm:resizeHandles val="exact"/>
        </dgm:presLayoutVars>
      </dgm:prSet>
      <dgm:spPr/>
    </dgm:pt>
    <dgm:pt modelId="{E2AD5285-4077-4B27-956F-6837AAB74D23}" type="pres">
      <dgm:prSet presAssocID="{5E1D80A8-B445-45CC-A65A-74A7E39475B9}" presName="parentText" presStyleLbl="node1" presStyleIdx="0" presStyleCnt="4">
        <dgm:presLayoutVars>
          <dgm:chMax val="0"/>
          <dgm:bulletEnabled val="1"/>
        </dgm:presLayoutVars>
      </dgm:prSet>
      <dgm:spPr/>
    </dgm:pt>
    <dgm:pt modelId="{C2EF0B79-E20B-4EA3-A670-AA83474274A6}" type="pres">
      <dgm:prSet presAssocID="{6C41BC86-D643-4BCC-BC6E-632F0D4B3615}" presName="spacer" presStyleCnt="0"/>
      <dgm:spPr/>
    </dgm:pt>
    <dgm:pt modelId="{706AB9D0-07C3-4FD9-8091-8E2CC78B3E70}" type="pres">
      <dgm:prSet presAssocID="{0153FDB0-0C58-4DC0-8720-5A6DC8A6E045}" presName="parentText" presStyleLbl="node1" presStyleIdx="1" presStyleCnt="4">
        <dgm:presLayoutVars>
          <dgm:chMax val="0"/>
          <dgm:bulletEnabled val="1"/>
        </dgm:presLayoutVars>
      </dgm:prSet>
      <dgm:spPr/>
    </dgm:pt>
    <dgm:pt modelId="{A8AD1815-4B17-4C3E-AB11-9A3CC735CF7F}" type="pres">
      <dgm:prSet presAssocID="{24BC5C84-F719-4A4C-80F4-071456F35A18}" presName="spacer" presStyleCnt="0"/>
      <dgm:spPr/>
    </dgm:pt>
    <dgm:pt modelId="{3DA9236F-EAC1-4278-BC23-7B5921A19F25}" type="pres">
      <dgm:prSet presAssocID="{A8344A03-0DC6-403F-942A-AD4E87527978}" presName="parentText" presStyleLbl="node1" presStyleIdx="2" presStyleCnt="4">
        <dgm:presLayoutVars>
          <dgm:chMax val="0"/>
          <dgm:bulletEnabled val="1"/>
        </dgm:presLayoutVars>
      </dgm:prSet>
      <dgm:spPr/>
    </dgm:pt>
    <dgm:pt modelId="{507F3591-15E7-4C6D-BB60-313C77114DDF}" type="pres">
      <dgm:prSet presAssocID="{BFB66590-FA03-45EE-A6AE-F64E99134C9C}" presName="spacer" presStyleCnt="0"/>
      <dgm:spPr/>
    </dgm:pt>
    <dgm:pt modelId="{49BC6C74-7443-4B42-BD4B-B227D86E75D3}" type="pres">
      <dgm:prSet presAssocID="{577A74E1-5411-416E-8ACF-B9E88BBD8723}" presName="parentText" presStyleLbl="node1" presStyleIdx="3" presStyleCnt="4">
        <dgm:presLayoutVars>
          <dgm:chMax val="0"/>
          <dgm:bulletEnabled val="1"/>
        </dgm:presLayoutVars>
      </dgm:prSet>
      <dgm:spPr/>
    </dgm:pt>
  </dgm:ptLst>
  <dgm:cxnLst>
    <dgm:cxn modelId="{33DB920F-2028-40FB-BC76-511134559C40}" type="presOf" srcId="{0153FDB0-0C58-4DC0-8720-5A6DC8A6E045}" destId="{706AB9D0-07C3-4FD9-8091-8E2CC78B3E70}" srcOrd="0" destOrd="0" presId="urn:microsoft.com/office/officeart/2005/8/layout/vList2"/>
    <dgm:cxn modelId="{1305631E-5AAA-446A-A5BC-965DF73CBCD6}" type="presOf" srcId="{A25D5FEE-323A-48A2-BAAB-B0FDC79E1331}" destId="{DB80D1B2-21A2-46DE-AB40-33751C2DDC2E}" srcOrd="0" destOrd="0" presId="urn:microsoft.com/office/officeart/2005/8/layout/vList2"/>
    <dgm:cxn modelId="{3FABD82F-F854-4884-86F2-4C1CB0D933B0}" type="presOf" srcId="{5E1D80A8-B445-45CC-A65A-74A7E39475B9}" destId="{E2AD5285-4077-4B27-956F-6837AAB74D23}" srcOrd="0" destOrd="0" presId="urn:microsoft.com/office/officeart/2005/8/layout/vList2"/>
    <dgm:cxn modelId="{00D9F76C-6FCF-4286-A1D2-231873A2C528}" type="presOf" srcId="{A8344A03-0DC6-403F-942A-AD4E87527978}" destId="{3DA9236F-EAC1-4278-BC23-7B5921A19F25}" srcOrd="0" destOrd="0" presId="urn:microsoft.com/office/officeart/2005/8/layout/vList2"/>
    <dgm:cxn modelId="{CC9A469B-78CC-4EE1-9684-C90263DF173B}" srcId="{A25D5FEE-323A-48A2-BAAB-B0FDC79E1331}" destId="{577A74E1-5411-416E-8ACF-B9E88BBD8723}" srcOrd="3" destOrd="0" parTransId="{401E3EE7-6F8C-49E3-A8B7-5F2789E96F50}" sibTransId="{4EE5D367-DAB9-417F-BAE4-8D09798CC31D}"/>
    <dgm:cxn modelId="{7D4B5EA3-17E1-4EB4-8C3F-AA0FB53B1C71}" srcId="{A25D5FEE-323A-48A2-BAAB-B0FDC79E1331}" destId="{A8344A03-0DC6-403F-942A-AD4E87527978}" srcOrd="2" destOrd="0" parTransId="{4BC26E4C-A5ED-4AA2-9CD6-57B438A42A98}" sibTransId="{BFB66590-FA03-45EE-A6AE-F64E99134C9C}"/>
    <dgm:cxn modelId="{41E701AB-1058-465B-B8D4-E107BDA6C726}" srcId="{A25D5FEE-323A-48A2-BAAB-B0FDC79E1331}" destId="{5E1D80A8-B445-45CC-A65A-74A7E39475B9}" srcOrd="0" destOrd="0" parTransId="{8A9ECFEA-BEDD-411D-B670-6233990C4724}" sibTransId="{6C41BC86-D643-4BCC-BC6E-632F0D4B3615}"/>
    <dgm:cxn modelId="{D6E9B6CB-F11A-4B9C-A641-EE6FB68CCC75}" type="presOf" srcId="{577A74E1-5411-416E-8ACF-B9E88BBD8723}" destId="{49BC6C74-7443-4B42-BD4B-B227D86E75D3}" srcOrd="0" destOrd="0" presId="urn:microsoft.com/office/officeart/2005/8/layout/vList2"/>
    <dgm:cxn modelId="{745C35F8-D918-409B-91CA-14BA75C6271E}" srcId="{A25D5FEE-323A-48A2-BAAB-B0FDC79E1331}" destId="{0153FDB0-0C58-4DC0-8720-5A6DC8A6E045}" srcOrd="1" destOrd="0" parTransId="{63145E73-38CE-46C6-AC7E-B6818F541EFE}" sibTransId="{24BC5C84-F719-4A4C-80F4-071456F35A18}"/>
    <dgm:cxn modelId="{D1F60BA4-F2F5-4822-B845-B6DF28335630}" type="presParOf" srcId="{DB80D1B2-21A2-46DE-AB40-33751C2DDC2E}" destId="{E2AD5285-4077-4B27-956F-6837AAB74D23}" srcOrd="0" destOrd="0" presId="urn:microsoft.com/office/officeart/2005/8/layout/vList2"/>
    <dgm:cxn modelId="{FD9179AC-BC44-4C12-A928-FC7F23374458}" type="presParOf" srcId="{DB80D1B2-21A2-46DE-AB40-33751C2DDC2E}" destId="{C2EF0B79-E20B-4EA3-A670-AA83474274A6}" srcOrd="1" destOrd="0" presId="urn:microsoft.com/office/officeart/2005/8/layout/vList2"/>
    <dgm:cxn modelId="{F469295A-BAB2-44F4-9CCD-C30E8FEA629B}" type="presParOf" srcId="{DB80D1B2-21A2-46DE-AB40-33751C2DDC2E}" destId="{706AB9D0-07C3-4FD9-8091-8E2CC78B3E70}" srcOrd="2" destOrd="0" presId="urn:microsoft.com/office/officeart/2005/8/layout/vList2"/>
    <dgm:cxn modelId="{84F6B737-CAC7-4118-A43A-55EB96E90599}" type="presParOf" srcId="{DB80D1B2-21A2-46DE-AB40-33751C2DDC2E}" destId="{A8AD1815-4B17-4C3E-AB11-9A3CC735CF7F}" srcOrd="3" destOrd="0" presId="urn:microsoft.com/office/officeart/2005/8/layout/vList2"/>
    <dgm:cxn modelId="{F38A9EB1-0689-47F1-9EA6-DEC9FBA90EC3}" type="presParOf" srcId="{DB80D1B2-21A2-46DE-AB40-33751C2DDC2E}" destId="{3DA9236F-EAC1-4278-BC23-7B5921A19F25}" srcOrd="4" destOrd="0" presId="urn:microsoft.com/office/officeart/2005/8/layout/vList2"/>
    <dgm:cxn modelId="{8CC2FE50-1B44-41F1-900C-38C1287F3EB1}" type="presParOf" srcId="{DB80D1B2-21A2-46DE-AB40-33751C2DDC2E}" destId="{507F3591-15E7-4C6D-BB60-313C77114DDF}" srcOrd="5" destOrd="0" presId="urn:microsoft.com/office/officeart/2005/8/layout/vList2"/>
    <dgm:cxn modelId="{A70B4D9A-D68F-4216-BDC1-C31C499B7280}" type="presParOf" srcId="{DB80D1B2-21A2-46DE-AB40-33751C2DDC2E}" destId="{49BC6C74-7443-4B42-BD4B-B227D86E75D3}"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F42090D-0427-45D7-8A5A-7A29C299AE5E}"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5CBE988A-5296-4E82-A212-299842DBE451}">
      <dgm:prSet/>
      <dgm:spPr/>
      <dgm:t>
        <a:bodyPr/>
        <a:lstStyle/>
        <a:p>
          <a:r>
            <a:rPr lang="en-US"/>
            <a:t>Validation checks: shape, schema, duplicates, missing values</a:t>
          </a:r>
        </a:p>
      </dgm:t>
    </dgm:pt>
    <dgm:pt modelId="{61797ED2-FD81-445C-A323-F44E17E10784}" type="parTrans" cxnId="{77CF44E4-5C66-452F-BF32-325E10BEB5AA}">
      <dgm:prSet/>
      <dgm:spPr/>
      <dgm:t>
        <a:bodyPr/>
        <a:lstStyle/>
        <a:p>
          <a:endParaRPr lang="en-US"/>
        </a:p>
      </dgm:t>
    </dgm:pt>
    <dgm:pt modelId="{DB5993A8-A860-461F-803F-52E41598BAD3}" type="sibTrans" cxnId="{77CF44E4-5C66-452F-BF32-325E10BEB5AA}">
      <dgm:prSet/>
      <dgm:spPr/>
      <dgm:t>
        <a:bodyPr/>
        <a:lstStyle/>
        <a:p>
          <a:endParaRPr lang="en-US"/>
        </a:p>
      </dgm:t>
    </dgm:pt>
    <dgm:pt modelId="{149CDABE-DE00-4720-A62D-2849A8BF7F89}">
      <dgm:prSet/>
      <dgm:spPr/>
      <dgm:t>
        <a:bodyPr/>
        <a:lstStyle/>
        <a:p>
          <a:r>
            <a:rPr lang="en-US"/>
            <a:t>Cleaning actions from notebook:</a:t>
          </a:r>
        </a:p>
      </dgm:t>
    </dgm:pt>
    <dgm:pt modelId="{DAE0C19E-B308-4581-A317-4F622A897143}" type="parTrans" cxnId="{B92EEEC1-6016-410E-9217-295EB250F58B}">
      <dgm:prSet/>
      <dgm:spPr/>
      <dgm:t>
        <a:bodyPr/>
        <a:lstStyle/>
        <a:p>
          <a:endParaRPr lang="en-US"/>
        </a:p>
      </dgm:t>
    </dgm:pt>
    <dgm:pt modelId="{0656D24B-4788-4906-AA2E-02550491FFB8}" type="sibTrans" cxnId="{B92EEEC1-6016-410E-9217-295EB250F58B}">
      <dgm:prSet/>
      <dgm:spPr/>
      <dgm:t>
        <a:bodyPr/>
        <a:lstStyle/>
        <a:p>
          <a:endParaRPr lang="en-US"/>
        </a:p>
      </dgm:t>
    </dgm:pt>
    <dgm:pt modelId="{950EAEEC-9AF6-4831-91FC-AE06944DC17C}">
      <dgm:prSet/>
      <dgm:spPr/>
      <dgm:t>
        <a:bodyPr/>
        <a:lstStyle/>
        <a:p>
          <a:r>
            <a:rPr lang="en-US"/>
            <a:t>Standardize column names</a:t>
          </a:r>
        </a:p>
      </dgm:t>
    </dgm:pt>
    <dgm:pt modelId="{FBB20AA6-51A2-4D15-A55F-18C3E16DD23F}" type="parTrans" cxnId="{3A06DD1A-465C-4FBF-8B0F-DDFA871A93FE}">
      <dgm:prSet/>
      <dgm:spPr/>
      <dgm:t>
        <a:bodyPr/>
        <a:lstStyle/>
        <a:p>
          <a:endParaRPr lang="en-US"/>
        </a:p>
      </dgm:t>
    </dgm:pt>
    <dgm:pt modelId="{F4DEAB10-566F-4599-BEDA-F10DE0BB5B2F}" type="sibTrans" cxnId="{3A06DD1A-465C-4FBF-8B0F-DDFA871A93FE}">
      <dgm:prSet/>
      <dgm:spPr/>
      <dgm:t>
        <a:bodyPr/>
        <a:lstStyle/>
        <a:p>
          <a:endParaRPr lang="en-US"/>
        </a:p>
      </dgm:t>
    </dgm:pt>
    <dgm:pt modelId="{FEE04F78-0216-45C6-85E2-28DA67A3C293}">
      <dgm:prSet/>
      <dgm:spPr/>
      <dgm:t>
        <a:bodyPr/>
        <a:lstStyle/>
        <a:p>
          <a:r>
            <a:rPr lang="en-US"/>
            <a:t>Map target y: {no-&gt;0, yes-&gt;1}</a:t>
          </a:r>
        </a:p>
      </dgm:t>
    </dgm:pt>
    <dgm:pt modelId="{E967E5E6-94F9-48AC-B54B-C80123DD54AA}" type="parTrans" cxnId="{8D59C6FD-594F-47ED-8068-D49C01ADD55E}">
      <dgm:prSet/>
      <dgm:spPr/>
      <dgm:t>
        <a:bodyPr/>
        <a:lstStyle/>
        <a:p>
          <a:endParaRPr lang="en-US"/>
        </a:p>
      </dgm:t>
    </dgm:pt>
    <dgm:pt modelId="{53E5C72C-C9DA-4AF5-B410-3D463217D493}" type="sibTrans" cxnId="{8D59C6FD-594F-47ED-8068-D49C01ADD55E}">
      <dgm:prSet/>
      <dgm:spPr/>
      <dgm:t>
        <a:bodyPr/>
        <a:lstStyle/>
        <a:p>
          <a:endParaRPr lang="en-US"/>
        </a:p>
      </dgm:t>
    </dgm:pt>
    <dgm:pt modelId="{6A9FE146-BFAC-4194-AD34-D9B7E2D8B041}">
      <dgm:prSet/>
      <dgm:spPr/>
      <dgm:t>
        <a:bodyPr/>
        <a:lstStyle/>
        <a:p>
          <a:r>
            <a:rPr lang="en-US"/>
            <a:t>Convert pdays = -1 to missing + create prev_contacted indicator</a:t>
          </a:r>
        </a:p>
      </dgm:t>
    </dgm:pt>
    <dgm:pt modelId="{05283C2C-F57C-42B2-A6C9-B7D7B33F23F0}" type="parTrans" cxnId="{EA9A0E7D-2DF3-4F97-9412-659D34A1348B}">
      <dgm:prSet/>
      <dgm:spPr/>
      <dgm:t>
        <a:bodyPr/>
        <a:lstStyle/>
        <a:p>
          <a:endParaRPr lang="en-US"/>
        </a:p>
      </dgm:t>
    </dgm:pt>
    <dgm:pt modelId="{44E233D5-0DDD-4B2B-AB1F-B4FB01CBB4F8}" type="sibTrans" cxnId="{EA9A0E7D-2DF3-4F97-9412-659D34A1348B}">
      <dgm:prSet/>
      <dgm:spPr/>
      <dgm:t>
        <a:bodyPr/>
        <a:lstStyle/>
        <a:p>
          <a:endParaRPr lang="en-US"/>
        </a:p>
      </dgm:t>
    </dgm:pt>
    <dgm:pt modelId="{63FBD66E-F8BD-4BA9-B221-4BC1ABD0EB0A}">
      <dgm:prSet/>
      <dgm:spPr/>
      <dgm:t>
        <a:bodyPr/>
        <a:lstStyle/>
        <a:p>
          <a:r>
            <a:rPr lang="en-US"/>
            <a:t>Add *_unknown flags for categorical columns containing “unknown”</a:t>
          </a:r>
        </a:p>
      </dgm:t>
    </dgm:pt>
    <dgm:pt modelId="{64341DCE-00AF-401C-8C64-4E3C44F54077}" type="parTrans" cxnId="{BC8BC766-2A43-43B0-A504-1D4A9F58C555}">
      <dgm:prSet/>
      <dgm:spPr/>
      <dgm:t>
        <a:bodyPr/>
        <a:lstStyle/>
        <a:p>
          <a:endParaRPr lang="en-US"/>
        </a:p>
      </dgm:t>
    </dgm:pt>
    <dgm:pt modelId="{F03C0A8C-E7AD-41E9-A4AA-AD78C7AD7FCF}" type="sibTrans" cxnId="{BC8BC766-2A43-43B0-A504-1D4A9F58C555}">
      <dgm:prSet/>
      <dgm:spPr/>
      <dgm:t>
        <a:bodyPr/>
        <a:lstStyle/>
        <a:p>
          <a:endParaRPr lang="en-US"/>
        </a:p>
      </dgm:t>
    </dgm:pt>
    <dgm:pt modelId="{14D75B89-22E2-4C14-A4D5-1FB01AF3476F}" type="pres">
      <dgm:prSet presAssocID="{DF42090D-0427-45D7-8A5A-7A29C299AE5E}" presName="Name0" presStyleCnt="0">
        <dgm:presLayoutVars>
          <dgm:dir/>
          <dgm:animLvl val="lvl"/>
          <dgm:resizeHandles val="exact"/>
        </dgm:presLayoutVars>
      </dgm:prSet>
      <dgm:spPr/>
    </dgm:pt>
    <dgm:pt modelId="{D31A7E6C-EA78-4EB0-A717-CF5DEC409FE1}" type="pres">
      <dgm:prSet presAssocID="{149CDABE-DE00-4720-A62D-2849A8BF7F89}" presName="boxAndChildren" presStyleCnt="0"/>
      <dgm:spPr/>
    </dgm:pt>
    <dgm:pt modelId="{33148178-13A7-4E27-A4EB-B4FD5597BA21}" type="pres">
      <dgm:prSet presAssocID="{149CDABE-DE00-4720-A62D-2849A8BF7F89}" presName="parentTextBox" presStyleLbl="node1" presStyleIdx="0" presStyleCnt="2"/>
      <dgm:spPr/>
    </dgm:pt>
    <dgm:pt modelId="{049B18E1-5FBA-46BA-9424-E2F265C3084F}" type="pres">
      <dgm:prSet presAssocID="{149CDABE-DE00-4720-A62D-2849A8BF7F89}" presName="entireBox" presStyleLbl="node1" presStyleIdx="0" presStyleCnt="2"/>
      <dgm:spPr/>
    </dgm:pt>
    <dgm:pt modelId="{8C77C8CA-9B6A-41E4-8CCC-1DEB1DED899E}" type="pres">
      <dgm:prSet presAssocID="{149CDABE-DE00-4720-A62D-2849A8BF7F89}" presName="descendantBox" presStyleCnt="0"/>
      <dgm:spPr/>
    </dgm:pt>
    <dgm:pt modelId="{7897CF6D-9BEA-46CA-B63D-F28DE2284249}" type="pres">
      <dgm:prSet presAssocID="{950EAEEC-9AF6-4831-91FC-AE06944DC17C}" presName="childTextBox" presStyleLbl="fgAccFollowNode1" presStyleIdx="0" presStyleCnt="4">
        <dgm:presLayoutVars>
          <dgm:bulletEnabled val="1"/>
        </dgm:presLayoutVars>
      </dgm:prSet>
      <dgm:spPr/>
    </dgm:pt>
    <dgm:pt modelId="{AF3FBBD7-2987-4B83-A4DD-EEBDDA79F8BE}" type="pres">
      <dgm:prSet presAssocID="{FEE04F78-0216-45C6-85E2-28DA67A3C293}" presName="childTextBox" presStyleLbl="fgAccFollowNode1" presStyleIdx="1" presStyleCnt="4">
        <dgm:presLayoutVars>
          <dgm:bulletEnabled val="1"/>
        </dgm:presLayoutVars>
      </dgm:prSet>
      <dgm:spPr/>
    </dgm:pt>
    <dgm:pt modelId="{06780175-7B9F-48F2-87AA-A8591EE387DD}" type="pres">
      <dgm:prSet presAssocID="{6A9FE146-BFAC-4194-AD34-D9B7E2D8B041}" presName="childTextBox" presStyleLbl="fgAccFollowNode1" presStyleIdx="2" presStyleCnt="4">
        <dgm:presLayoutVars>
          <dgm:bulletEnabled val="1"/>
        </dgm:presLayoutVars>
      </dgm:prSet>
      <dgm:spPr/>
    </dgm:pt>
    <dgm:pt modelId="{68068246-85B3-4DDF-81E3-7772D3D6A0D6}" type="pres">
      <dgm:prSet presAssocID="{63FBD66E-F8BD-4BA9-B221-4BC1ABD0EB0A}" presName="childTextBox" presStyleLbl="fgAccFollowNode1" presStyleIdx="3" presStyleCnt="4">
        <dgm:presLayoutVars>
          <dgm:bulletEnabled val="1"/>
        </dgm:presLayoutVars>
      </dgm:prSet>
      <dgm:spPr/>
    </dgm:pt>
    <dgm:pt modelId="{C28F3D3F-7436-409E-A94C-E7E592162F25}" type="pres">
      <dgm:prSet presAssocID="{DB5993A8-A860-461F-803F-52E41598BAD3}" presName="sp" presStyleCnt="0"/>
      <dgm:spPr/>
    </dgm:pt>
    <dgm:pt modelId="{0A989B6D-711B-46D9-BB0F-B8FAFAC87005}" type="pres">
      <dgm:prSet presAssocID="{5CBE988A-5296-4E82-A212-299842DBE451}" presName="arrowAndChildren" presStyleCnt="0"/>
      <dgm:spPr/>
    </dgm:pt>
    <dgm:pt modelId="{ABA3D5EB-F52E-4A40-8C9F-E19C74461666}" type="pres">
      <dgm:prSet presAssocID="{5CBE988A-5296-4E82-A212-299842DBE451}" presName="parentTextArrow" presStyleLbl="node1" presStyleIdx="1" presStyleCnt="2"/>
      <dgm:spPr/>
    </dgm:pt>
  </dgm:ptLst>
  <dgm:cxnLst>
    <dgm:cxn modelId="{3A06DD1A-465C-4FBF-8B0F-DDFA871A93FE}" srcId="{149CDABE-DE00-4720-A62D-2849A8BF7F89}" destId="{950EAEEC-9AF6-4831-91FC-AE06944DC17C}" srcOrd="0" destOrd="0" parTransId="{FBB20AA6-51A2-4D15-A55F-18C3E16DD23F}" sibTransId="{F4DEAB10-566F-4599-BEDA-F10DE0BB5B2F}"/>
    <dgm:cxn modelId="{BEBDD833-8CBC-4A35-B11C-63D8B0ECB0FE}" type="presOf" srcId="{6A9FE146-BFAC-4194-AD34-D9B7E2D8B041}" destId="{06780175-7B9F-48F2-87AA-A8591EE387DD}" srcOrd="0" destOrd="0" presId="urn:microsoft.com/office/officeart/2005/8/layout/process4"/>
    <dgm:cxn modelId="{2E487035-6482-4555-B6D5-224191125618}" type="presOf" srcId="{149CDABE-DE00-4720-A62D-2849A8BF7F89}" destId="{33148178-13A7-4E27-A4EB-B4FD5597BA21}" srcOrd="0" destOrd="0" presId="urn:microsoft.com/office/officeart/2005/8/layout/process4"/>
    <dgm:cxn modelId="{BC8BC766-2A43-43B0-A504-1D4A9F58C555}" srcId="{149CDABE-DE00-4720-A62D-2849A8BF7F89}" destId="{63FBD66E-F8BD-4BA9-B221-4BC1ABD0EB0A}" srcOrd="3" destOrd="0" parTransId="{64341DCE-00AF-401C-8C64-4E3C44F54077}" sibTransId="{F03C0A8C-E7AD-41E9-A4AA-AD78C7AD7FCF}"/>
    <dgm:cxn modelId="{3A6BB96D-8BC7-4D77-BC36-1CB53F94B07C}" type="presOf" srcId="{149CDABE-DE00-4720-A62D-2849A8BF7F89}" destId="{049B18E1-5FBA-46BA-9424-E2F265C3084F}" srcOrd="1" destOrd="0" presId="urn:microsoft.com/office/officeart/2005/8/layout/process4"/>
    <dgm:cxn modelId="{EA9A0E7D-2DF3-4F97-9412-659D34A1348B}" srcId="{149CDABE-DE00-4720-A62D-2849A8BF7F89}" destId="{6A9FE146-BFAC-4194-AD34-D9B7E2D8B041}" srcOrd="2" destOrd="0" parTransId="{05283C2C-F57C-42B2-A6C9-B7D7B33F23F0}" sibTransId="{44E233D5-0DDD-4B2B-AB1F-B4FB01CBB4F8}"/>
    <dgm:cxn modelId="{B7FEF68C-860D-4618-ADA7-F1E0A86BEBF4}" type="presOf" srcId="{63FBD66E-F8BD-4BA9-B221-4BC1ABD0EB0A}" destId="{68068246-85B3-4DDF-81E3-7772D3D6A0D6}" srcOrd="0" destOrd="0" presId="urn:microsoft.com/office/officeart/2005/8/layout/process4"/>
    <dgm:cxn modelId="{45C503A0-ECA0-4F4C-9CFA-A8D9B387379A}" type="presOf" srcId="{FEE04F78-0216-45C6-85E2-28DA67A3C293}" destId="{AF3FBBD7-2987-4B83-A4DD-EEBDDA79F8BE}" srcOrd="0" destOrd="0" presId="urn:microsoft.com/office/officeart/2005/8/layout/process4"/>
    <dgm:cxn modelId="{7B337FB8-B884-486D-AF37-8CE34C89656C}" type="presOf" srcId="{5CBE988A-5296-4E82-A212-299842DBE451}" destId="{ABA3D5EB-F52E-4A40-8C9F-E19C74461666}" srcOrd="0" destOrd="0" presId="urn:microsoft.com/office/officeart/2005/8/layout/process4"/>
    <dgm:cxn modelId="{B92EEEC1-6016-410E-9217-295EB250F58B}" srcId="{DF42090D-0427-45D7-8A5A-7A29C299AE5E}" destId="{149CDABE-DE00-4720-A62D-2849A8BF7F89}" srcOrd="1" destOrd="0" parTransId="{DAE0C19E-B308-4581-A317-4F622A897143}" sibTransId="{0656D24B-4788-4906-AA2E-02550491FFB8}"/>
    <dgm:cxn modelId="{E9F490C4-9B81-40DF-B541-6A2583FBBEDB}" type="presOf" srcId="{DF42090D-0427-45D7-8A5A-7A29C299AE5E}" destId="{14D75B89-22E2-4C14-A4D5-1FB01AF3476F}" srcOrd="0" destOrd="0" presId="urn:microsoft.com/office/officeart/2005/8/layout/process4"/>
    <dgm:cxn modelId="{D8386ACA-B7A9-49DB-AC45-57956A29F8AA}" type="presOf" srcId="{950EAEEC-9AF6-4831-91FC-AE06944DC17C}" destId="{7897CF6D-9BEA-46CA-B63D-F28DE2284249}" srcOrd="0" destOrd="0" presId="urn:microsoft.com/office/officeart/2005/8/layout/process4"/>
    <dgm:cxn modelId="{77CF44E4-5C66-452F-BF32-325E10BEB5AA}" srcId="{DF42090D-0427-45D7-8A5A-7A29C299AE5E}" destId="{5CBE988A-5296-4E82-A212-299842DBE451}" srcOrd="0" destOrd="0" parTransId="{61797ED2-FD81-445C-A323-F44E17E10784}" sibTransId="{DB5993A8-A860-461F-803F-52E41598BAD3}"/>
    <dgm:cxn modelId="{8D59C6FD-594F-47ED-8068-D49C01ADD55E}" srcId="{149CDABE-DE00-4720-A62D-2849A8BF7F89}" destId="{FEE04F78-0216-45C6-85E2-28DA67A3C293}" srcOrd="1" destOrd="0" parTransId="{E967E5E6-94F9-48AC-B54B-C80123DD54AA}" sibTransId="{53E5C72C-C9DA-4AF5-B410-3D463217D493}"/>
    <dgm:cxn modelId="{083AC50B-57B5-41FE-9D0F-1D32F4EFAE3D}" type="presParOf" srcId="{14D75B89-22E2-4C14-A4D5-1FB01AF3476F}" destId="{D31A7E6C-EA78-4EB0-A717-CF5DEC409FE1}" srcOrd="0" destOrd="0" presId="urn:microsoft.com/office/officeart/2005/8/layout/process4"/>
    <dgm:cxn modelId="{3C1C20FC-9C1F-4656-B481-1339B6D730A4}" type="presParOf" srcId="{D31A7E6C-EA78-4EB0-A717-CF5DEC409FE1}" destId="{33148178-13A7-4E27-A4EB-B4FD5597BA21}" srcOrd="0" destOrd="0" presId="urn:microsoft.com/office/officeart/2005/8/layout/process4"/>
    <dgm:cxn modelId="{96E0448C-4CB7-42E8-BF61-F60A91C3D84C}" type="presParOf" srcId="{D31A7E6C-EA78-4EB0-A717-CF5DEC409FE1}" destId="{049B18E1-5FBA-46BA-9424-E2F265C3084F}" srcOrd="1" destOrd="0" presId="urn:microsoft.com/office/officeart/2005/8/layout/process4"/>
    <dgm:cxn modelId="{0606C331-5CDB-4DDB-A522-79A093B1B351}" type="presParOf" srcId="{D31A7E6C-EA78-4EB0-A717-CF5DEC409FE1}" destId="{8C77C8CA-9B6A-41E4-8CCC-1DEB1DED899E}" srcOrd="2" destOrd="0" presId="urn:microsoft.com/office/officeart/2005/8/layout/process4"/>
    <dgm:cxn modelId="{F1F6AC95-557D-4555-8D63-24773B18A532}" type="presParOf" srcId="{8C77C8CA-9B6A-41E4-8CCC-1DEB1DED899E}" destId="{7897CF6D-9BEA-46CA-B63D-F28DE2284249}" srcOrd="0" destOrd="0" presId="urn:microsoft.com/office/officeart/2005/8/layout/process4"/>
    <dgm:cxn modelId="{036688EE-3FB2-4411-B815-D6CDFE4C7A90}" type="presParOf" srcId="{8C77C8CA-9B6A-41E4-8CCC-1DEB1DED899E}" destId="{AF3FBBD7-2987-4B83-A4DD-EEBDDA79F8BE}" srcOrd="1" destOrd="0" presId="urn:microsoft.com/office/officeart/2005/8/layout/process4"/>
    <dgm:cxn modelId="{A06A6E27-3B44-4A25-93A0-C172505A7CBD}" type="presParOf" srcId="{8C77C8CA-9B6A-41E4-8CCC-1DEB1DED899E}" destId="{06780175-7B9F-48F2-87AA-A8591EE387DD}" srcOrd="2" destOrd="0" presId="urn:microsoft.com/office/officeart/2005/8/layout/process4"/>
    <dgm:cxn modelId="{BC34904B-51C7-4BF8-96AC-1C3C9BEE1F68}" type="presParOf" srcId="{8C77C8CA-9B6A-41E4-8CCC-1DEB1DED899E}" destId="{68068246-85B3-4DDF-81E3-7772D3D6A0D6}" srcOrd="3" destOrd="0" presId="urn:microsoft.com/office/officeart/2005/8/layout/process4"/>
    <dgm:cxn modelId="{0876BF28-8EE8-40DE-A747-38715EC97D06}" type="presParOf" srcId="{14D75B89-22E2-4C14-A4D5-1FB01AF3476F}" destId="{C28F3D3F-7436-409E-A94C-E7E592162F25}" srcOrd="1" destOrd="0" presId="urn:microsoft.com/office/officeart/2005/8/layout/process4"/>
    <dgm:cxn modelId="{3A4B3A74-2ECB-4F13-A63A-565BD0DC2A25}" type="presParOf" srcId="{14D75B89-22E2-4C14-A4D5-1FB01AF3476F}" destId="{0A989B6D-711B-46D9-BB0F-B8FAFAC87005}" srcOrd="2" destOrd="0" presId="urn:microsoft.com/office/officeart/2005/8/layout/process4"/>
    <dgm:cxn modelId="{9B20111D-F6CC-4B32-9D67-B563F122115D}" type="presParOf" srcId="{0A989B6D-711B-46D9-BB0F-B8FAFAC87005}" destId="{ABA3D5EB-F52E-4A40-8C9F-E19C74461666}"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9C8C71D-6A96-4A32-8B64-6001EF03FCAC}"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23790F2B-78B0-4C57-A1E7-DF21BF3CE7A6}">
      <dgm:prSet/>
      <dgm:spPr/>
      <dgm:t>
        <a:bodyPr/>
        <a:lstStyle/>
        <a:p>
          <a:r>
            <a:rPr lang="en-US"/>
            <a:t>Outliers observed in balance, duration, campaign, and previous</a:t>
          </a:r>
        </a:p>
      </dgm:t>
    </dgm:pt>
    <dgm:pt modelId="{F0F1CD03-FF6D-4102-990B-E86669531F8B}" type="parTrans" cxnId="{6D3C13F9-E2AF-4E41-9AF7-D688E76E2D5B}">
      <dgm:prSet/>
      <dgm:spPr/>
      <dgm:t>
        <a:bodyPr/>
        <a:lstStyle/>
        <a:p>
          <a:endParaRPr lang="en-US"/>
        </a:p>
      </dgm:t>
    </dgm:pt>
    <dgm:pt modelId="{BBD6127C-8E22-4F69-B8A5-D27E5E82F65F}" type="sibTrans" cxnId="{6D3C13F9-E2AF-4E41-9AF7-D688E76E2D5B}">
      <dgm:prSet/>
      <dgm:spPr/>
      <dgm:t>
        <a:bodyPr/>
        <a:lstStyle/>
        <a:p>
          <a:endParaRPr lang="en-US"/>
        </a:p>
      </dgm:t>
    </dgm:pt>
    <dgm:pt modelId="{A87F9B7D-C0EF-4457-9F6A-CA646A3E1508}">
      <dgm:prSet/>
      <dgm:spPr/>
      <dgm:t>
        <a:bodyPr/>
        <a:lstStyle/>
        <a:p>
          <a:r>
            <a:rPr lang="en-US"/>
            <a:t>Categorical breakdowns show dominant categories and “unknown” presence</a:t>
          </a:r>
        </a:p>
      </dgm:t>
    </dgm:pt>
    <dgm:pt modelId="{EFB8F436-FD54-40AD-8A15-2E0ECA85BCD5}" type="parTrans" cxnId="{22E6EACB-1C19-4CB6-8398-CBF9B100698D}">
      <dgm:prSet/>
      <dgm:spPr/>
      <dgm:t>
        <a:bodyPr/>
        <a:lstStyle/>
        <a:p>
          <a:endParaRPr lang="en-US"/>
        </a:p>
      </dgm:t>
    </dgm:pt>
    <dgm:pt modelId="{7F2B8800-9A94-4F31-A970-ACECC127BE4A}" type="sibTrans" cxnId="{22E6EACB-1C19-4CB6-8398-CBF9B100698D}">
      <dgm:prSet/>
      <dgm:spPr/>
      <dgm:t>
        <a:bodyPr/>
        <a:lstStyle/>
        <a:p>
          <a:endParaRPr lang="en-US"/>
        </a:p>
      </dgm:t>
    </dgm:pt>
    <dgm:pt modelId="{715370A0-ED22-427E-B891-4EDEA85285E3}" type="pres">
      <dgm:prSet presAssocID="{E9C8C71D-6A96-4A32-8B64-6001EF03FCAC}" presName="hierChild1" presStyleCnt="0">
        <dgm:presLayoutVars>
          <dgm:chPref val="1"/>
          <dgm:dir/>
          <dgm:animOne val="branch"/>
          <dgm:animLvl val="lvl"/>
          <dgm:resizeHandles/>
        </dgm:presLayoutVars>
      </dgm:prSet>
      <dgm:spPr/>
    </dgm:pt>
    <dgm:pt modelId="{EF7F407C-30DA-457D-88F5-EBA88B9496CE}" type="pres">
      <dgm:prSet presAssocID="{23790F2B-78B0-4C57-A1E7-DF21BF3CE7A6}" presName="hierRoot1" presStyleCnt="0"/>
      <dgm:spPr/>
    </dgm:pt>
    <dgm:pt modelId="{2F6C60AA-EB2D-4674-A945-0CFA2C4DD248}" type="pres">
      <dgm:prSet presAssocID="{23790F2B-78B0-4C57-A1E7-DF21BF3CE7A6}" presName="composite" presStyleCnt="0"/>
      <dgm:spPr/>
    </dgm:pt>
    <dgm:pt modelId="{E300D8F3-B72D-492A-BCE5-2C575B6D0145}" type="pres">
      <dgm:prSet presAssocID="{23790F2B-78B0-4C57-A1E7-DF21BF3CE7A6}" presName="background" presStyleLbl="node0" presStyleIdx="0" presStyleCnt="2"/>
      <dgm:spPr/>
    </dgm:pt>
    <dgm:pt modelId="{BA97A40E-53A9-46BA-98FF-064605C4B555}" type="pres">
      <dgm:prSet presAssocID="{23790F2B-78B0-4C57-A1E7-DF21BF3CE7A6}" presName="text" presStyleLbl="fgAcc0" presStyleIdx="0" presStyleCnt="2">
        <dgm:presLayoutVars>
          <dgm:chPref val="3"/>
        </dgm:presLayoutVars>
      </dgm:prSet>
      <dgm:spPr/>
    </dgm:pt>
    <dgm:pt modelId="{1F435ACE-BFFE-4173-952D-7AF57F3E70D3}" type="pres">
      <dgm:prSet presAssocID="{23790F2B-78B0-4C57-A1E7-DF21BF3CE7A6}" presName="hierChild2" presStyleCnt="0"/>
      <dgm:spPr/>
    </dgm:pt>
    <dgm:pt modelId="{883DF6FA-612B-49C6-AFF3-25BD5B8414D1}" type="pres">
      <dgm:prSet presAssocID="{A87F9B7D-C0EF-4457-9F6A-CA646A3E1508}" presName="hierRoot1" presStyleCnt="0"/>
      <dgm:spPr/>
    </dgm:pt>
    <dgm:pt modelId="{1FA99D80-7EC7-40AF-AD1C-85860B580C9B}" type="pres">
      <dgm:prSet presAssocID="{A87F9B7D-C0EF-4457-9F6A-CA646A3E1508}" presName="composite" presStyleCnt="0"/>
      <dgm:spPr/>
    </dgm:pt>
    <dgm:pt modelId="{65B8FA96-1616-45A9-A7EB-ABBF3B162D5C}" type="pres">
      <dgm:prSet presAssocID="{A87F9B7D-C0EF-4457-9F6A-CA646A3E1508}" presName="background" presStyleLbl="node0" presStyleIdx="1" presStyleCnt="2"/>
      <dgm:spPr/>
    </dgm:pt>
    <dgm:pt modelId="{A337A87E-9170-4EA2-9513-885584B5F2E3}" type="pres">
      <dgm:prSet presAssocID="{A87F9B7D-C0EF-4457-9F6A-CA646A3E1508}" presName="text" presStyleLbl="fgAcc0" presStyleIdx="1" presStyleCnt="2">
        <dgm:presLayoutVars>
          <dgm:chPref val="3"/>
        </dgm:presLayoutVars>
      </dgm:prSet>
      <dgm:spPr/>
    </dgm:pt>
    <dgm:pt modelId="{67A49FF8-AF06-47D2-9320-AAB4E97DE8FD}" type="pres">
      <dgm:prSet presAssocID="{A87F9B7D-C0EF-4457-9F6A-CA646A3E1508}" presName="hierChild2" presStyleCnt="0"/>
      <dgm:spPr/>
    </dgm:pt>
  </dgm:ptLst>
  <dgm:cxnLst>
    <dgm:cxn modelId="{24689A0C-D3B3-4439-AB74-483538E8A50A}" type="presOf" srcId="{E9C8C71D-6A96-4A32-8B64-6001EF03FCAC}" destId="{715370A0-ED22-427E-B891-4EDEA85285E3}" srcOrd="0" destOrd="0" presId="urn:microsoft.com/office/officeart/2005/8/layout/hierarchy1"/>
    <dgm:cxn modelId="{9B31FC3C-3CEC-4794-8BBE-C848ABD54BE4}" type="presOf" srcId="{23790F2B-78B0-4C57-A1E7-DF21BF3CE7A6}" destId="{BA97A40E-53A9-46BA-98FF-064605C4B555}" srcOrd="0" destOrd="0" presId="urn:microsoft.com/office/officeart/2005/8/layout/hierarchy1"/>
    <dgm:cxn modelId="{22E6EACB-1C19-4CB6-8398-CBF9B100698D}" srcId="{E9C8C71D-6A96-4A32-8B64-6001EF03FCAC}" destId="{A87F9B7D-C0EF-4457-9F6A-CA646A3E1508}" srcOrd="1" destOrd="0" parTransId="{EFB8F436-FD54-40AD-8A15-2E0ECA85BCD5}" sibTransId="{7F2B8800-9A94-4F31-A970-ACECC127BE4A}"/>
    <dgm:cxn modelId="{321727EF-9803-44B9-BFAE-3CAE63671963}" type="presOf" srcId="{A87F9B7D-C0EF-4457-9F6A-CA646A3E1508}" destId="{A337A87E-9170-4EA2-9513-885584B5F2E3}" srcOrd="0" destOrd="0" presId="urn:microsoft.com/office/officeart/2005/8/layout/hierarchy1"/>
    <dgm:cxn modelId="{6D3C13F9-E2AF-4E41-9AF7-D688E76E2D5B}" srcId="{E9C8C71D-6A96-4A32-8B64-6001EF03FCAC}" destId="{23790F2B-78B0-4C57-A1E7-DF21BF3CE7A6}" srcOrd="0" destOrd="0" parTransId="{F0F1CD03-FF6D-4102-990B-E86669531F8B}" sibTransId="{BBD6127C-8E22-4F69-B8A5-D27E5E82F65F}"/>
    <dgm:cxn modelId="{B3962D02-6B45-430A-80D6-19E26D0F85F1}" type="presParOf" srcId="{715370A0-ED22-427E-B891-4EDEA85285E3}" destId="{EF7F407C-30DA-457D-88F5-EBA88B9496CE}" srcOrd="0" destOrd="0" presId="urn:microsoft.com/office/officeart/2005/8/layout/hierarchy1"/>
    <dgm:cxn modelId="{8299F496-3C42-4716-B156-E975EE723BE9}" type="presParOf" srcId="{EF7F407C-30DA-457D-88F5-EBA88B9496CE}" destId="{2F6C60AA-EB2D-4674-A945-0CFA2C4DD248}" srcOrd="0" destOrd="0" presId="urn:microsoft.com/office/officeart/2005/8/layout/hierarchy1"/>
    <dgm:cxn modelId="{46F1507D-3623-4161-971A-F86D04CD690D}" type="presParOf" srcId="{2F6C60AA-EB2D-4674-A945-0CFA2C4DD248}" destId="{E300D8F3-B72D-492A-BCE5-2C575B6D0145}" srcOrd="0" destOrd="0" presId="urn:microsoft.com/office/officeart/2005/8/layout/hierarchy1"/>
    <dgm:cxn modelId="{C55943E4-7B98-4E94-AF68-A02C34F463EE}" type="presParOf" srcId="{2F6C60AA-EB2D-4674-A945-0CFA2C4DD248}" destId="{BA97A40E-53A9-46BA-98FF-064605C4B555}" srcOrd="1" destOrd="0" presId="urn:microsoft.com/office/officeart/2005/8/layout/hierarchy1"/>
    <dgm:cxn modelId="{327BDE0A-3309-46D5-9F34-98EF239C23FB}" type="presParOf" srcId="{EF7F407C-30DA-457D-88F5-EBA88B9496CE}" destId="{1F435ACE-BFFE-4173-952D-7AF57F3E70D3}" srcOrd="1" destOrd="0" presId="urn:microsoft.com/office/officeart/2005/8/layout/hierarchy1"/>
    <dgm:cxn modelId="{1E0932BF-F743-40F5-8318-AF5ED6932F08}" type="presParOf" srcId="{715370A0-ED22-427E-B891-4EDEA85285E3}" destId="{883DF6FA-612B-49C6-AFF3-25BD5B8414D1}" srcOrd="1" destOrd="0" presId="urn:microsoft.com/office/officeart/2005/8/layout/hierarchy1"/>
    <dgm:cxn modelId="{CFDABA4F-A153-41B0-85C9-FEFFB8A52540}" type="presParOf" srcId="{883DF6FA-612B-49C6-AFF3-25BD5B8414D1}" destId="{1FA99D80-7EC7-40AF-AD1C-85860B580C9B}" srcOrd="0" destOrd="0" presId="urn:microsoft.com/office/officeart/2005/8/layout/hierarchy1"/>
    <dgm:cxn modelId="{FCC2F5EE-1AB7-4814-BD64-23A5AB1C5E6F}" type="presParOf" srcId="{1FA99D80-7EC7-40AF-AD1C-85860B580C9B}" destId="{65B8FA96-1616-45A9-A7EB-ABBF3B162D5C}" srcOrd="0" destOrd="0" presId="urn:microsoft.com/office/officeart/2005/8/layout/hierarchy1"/>
    <dgm:cxn modelId="{BCB21F0B-031F-4A8E-990E-AE0B2C10A33B}" type="presParOf" srcId="{1FA99D80-7EC7-40AF-AD1C-85860B580C9B}" destId="{A337A87E-9170-4EA2-9513-885584B5F2E3}" srcOrd="1" destOrd="0" presId="urn:microsoft.com/office/officeart/2005/8/layout/hierarchy1"/>
    <dgm:cxn modelId="{CA006E2C-09DF-4092-A2A1-9B61EBE88597}" type="presParOf" srcId="{883DF6FA-612B-49C6-AFF3-25BD5B8414D1}" destId="{67A49FF8-AF06-47D2-9320-AAB4E97DE8FD}"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3FE0893-4F95-4B38-B54A-8BC490B78041}" type="doc">
      <dgm:prSet loTypeId="urn:microsoft.com/office/officeart/2005/8/layout/vList5" loCatId="list" qsTypeId="urn:microsoft.com/office/officeart/2005/8/quickstyle/simple1" qsCatId="simple" csTypeId="urn:microsoft.com/office/officeart/2005/8/colors/colorful2" csCatId="colorful"/>
      <dgm:spPr/>
      <dgm:t>
        <a:bodyPr/>
        <a:lstStyle/>
        <a:p>
          <a:endParaRPr lang="en-US"/>
        </a:p>
      </dgm:t>
    </dgm:pt>
    <dgm:pt modelId="{4AB4BD92-075C-4F47-97E2-1BF7F5A3138F}">
      <dgm:prSet/>
      <dgm:spPr/>
      <dgm:t>
        <a:bodyPr/>
        <a:lstStyle/>
        <a:p>
          <a:r>
            <a:rPr lang="en-US"/>
            <a:t>Regression target in notebook: </a:t>
          </a:r>
          <a:r>
            <a:rPr lang="en-US" b="1"/>
            <a:t>age</a:t>
          </a:r>
          <a:endParaRPr lang="en-US"/>
        </a:p>
      </dgm:t>
    </dgm:pt>
    <dgm:pt modelId="{D5BC0D8D-3020-4BA3-B452-588D1AF4568B}" type="parTrans" cxnId="{BB0BCB64-53FC-4F9A-9E7D-4DC74FCE562C}">
      <dgm:prSet/>
      <dgm:spPr/>
      <dgm:t>
        <a:bodyPr/>
        <a:lstStyle/>
        <a:p>
          <a:endParaRPr lang="en-US"/>
        </a:p>
      </dgm:t>
    </dgm:pt>
    <dgm:pt modelId="{6E9F3327-75D5-4B23-B334-F2FB0B7F35BD}" type="sibTrans" cxnId="{BB0BCB64-53FC-4F9A-9E7D-4DC74FCE562C}">
      <dgm:prSet/>
      <dgm:spPr/>
      <dgm:t>
        <a:bodyPr/>
        <a:lstStyle/>
        <a:p>
          <a:endParaRPr lang="en-US"/>
        </a:p>
      </dgm:t>
    </dgm:pt>
    <dgm:pt modelId="{5A6BA2AC-283D-470E-979A-D11C665FD750}">
      <dgm:prSet/>
      <dgm:spPr/>
      <dgm:t>
        <a:bodyPr/>
        <a:lstStyle/>
        <a:p>
          <a:r>
            <a:rPr lang="en-US"/>
            <a:t>Feature engineering used:</a:t>
          </a:r>
        </a:p>
      </dgm:t>
    </dgm:pt>
    <dgm:pt modelId="{DE851C4B-F699-4733-B9E8-4C6E0A130171}" type="parTrans" cxnId="{A045FB8E-90CD-4C84-A46C-CEACDE05B1AF}">
      <dgm:prSet/>
      <dgm:spPr/>
      <dgm:t>
        <a:bodyPr/>
        <a:lstStyle/>
        <a:p>
          <a:endParaRPr lang="en-US"/>
        </a:p>
      </dgm:t>
    </dgm:pt>
    <dgm:pt modelId="{F8FE9B1F-D27E-4084-81DA-3B493EC68BFE}" type="sibTrans" cxnId="{A045FB8E-90CD-4C84-A46C-CEACDE05B1AF}">
      <dgm:prSet/>
      <dgm:spPr/>
      <dgm:t>
        <a:bodyPr/>
        <a:lstStyle/>
        <a:p>
          <a:endParaRPr lang="en-US"/>
        </a:p>
      </dgm:t>
    </dgm:pt>
    <dgm:pt modelId="{7054E65E-819D-43C4-AD0B-DD35F201CB03}">
      <dgm:prSet/>
      <dgm:spPr/>
      <dgm:t>
        <a:bodyPr/>
        <a:lstStyle/>
        <a:p>
          <a:r>
            <a:rPr lang="en-US"/>
            <a:t>age_squared (nonlinear relationship)</a:t>
          </a:r>
        </a:p>
      </dgm:t>
    </dgm:pt>
    <dgm:pt modelId="{B263A879-756A-4B9C-934C-F16A42671677}" type="parTrans" cxnId="{C50060B5-3390-45AF-BCA4-6B0CE2AE04B4}">
      <dgm:prSet/>
      <dgm:spPr/>
      <dgm:t>
        <a:bodyPr/>
        <a:lstStyle/>
        <a:p>
          <a:endParaRPr lang="en-US"/>
        </a:p>
      </dgm:t>
    </dgm:pt>
    <dgm:pt modelId="{BD94CEF6-68DE-4C41-B388-35BCA705A0EC}" type="sibTrans" cxnId="{C50060B5-3390-45AF-BCA4-6B0CE2AE04B4}">
      <dgm:prSet/>
      <dgm:spPr/>
      <dgm:t>
        <a:bodyPr/>
        <a:lstStyle/>
        <a:p>
          <a:endParaRPr lang="en-US"/>
        </a:p>
      </dgm:t>
    </dgm:pt>
    <dgm:pt modelId="{37E3700A-C0A5-43B7-8B15-4F6F6E188AD9}">
      <dgm:prSet/>
      <dgm:spPr/>
      <dgm:t>
        <a:bodyPr/>
        <a:lstStyle/>
        <a:p>
          <a:r>
            <a:rPr lang="en-US"/>
            <a:t>pdays_was_missing, pdays_filled</a:t>
          </a:r>
        </a:p>
      </dgm:t>
    </dgm:pt>
    <dgm:pt modelId="{AAB53ACC-B022-49DE-8EB6-9D96996652BA}" type="parTrans" cxnId="{5D9120AE-5A98-471B-8C5D-C513404B14F1}">
      <dgm:prSet/>
      <dgm:spPr/>
      <dgm:t>
        <a:bodyPr/>
        <a:lstStyle/>
        <a:p>
          <a:endParaRPr lang="en-US"/>
        </a:p>
      </dgm:t>
    </dgm:pt>
    <dgm:pt modelId="{1F557423-62B3-43E1-8184-BE37DD63C4BA}" type="sibTrans" cxnId="{5D9120AE-5A98-471B-8C5D-C513404B14F1}">
      <dgm:prSet/>
      <dgm:spPr/>
      <dgm:t>
        <a:bodyPr/>
        <a:lstStyle/>
        <a:p>
          <a:endParaRPr lang="en-US"/>
        </a:p>
      </dgm:t>
    </dgm:pt>
    <dgm:pt modelId="{144E37CF-D79C-4509-B3EB-D7070413D870}">
      <dgm:prSet/>
      <dgm:spPr/>
      <dgm:t>
        <a:bodyPr/>
        <a:lstStyle/>
        <a:p>
          <a:r>
            <a:rPr lang="en-US"/>
            <a:t>campaign_per_previous</a:t>
          </a:r>
        </a:p>
      </dgm:t>
    </dgm:pt>
    <dgm:pt modelId="{5D739DF8-2F9E-4F3C-9760-4E4E6219C521}" type="parTrans" cxnId="{B6F370B3-AF86-484C-900B-4F9F9F1B91CB}">
      <dgm:prSet/>
      <dgm:spPr/>
      <dgm:t>
        <a:bodyPr/>
        <a:lstStyle/>
        <a:p>
          <a:endParaRPr lang="en-US"/>
        </a:p>
      </dgm:t>
    </dgm:pt>
    <dgm:pt modelId="{E3174243-474B-4D88-8F22-C502ED8B4C25}" type="sibTrans" cxnId="{B6F370B3-AF86-484C-900B-4F9F9F1B91CB}">
      <dgm:prSet/>
      <dgm:spPr/>
      <dgm:t>
        <a:bodyPr/>
        <a:lstStyle/>
        <a:p>
          <a:endParaRPr lang="en-US"/>
        </a:p>
      </dgm:t>
    </dgm:pt>
    <dgm:pt modelId="{A8123906-3B0A-498D-AE8A-A39F357FA3B8}">
      <dgm:prSet/>
      <dgm:spPr/>
      <dgm:t>
        <a:bodyPr/>
        <a:lstStyle/>
        <a:p>
          <a:r>
            <a:rPr lang="en-US"/>
            <a:t>Preprocessing pipeline:</a:t>
          </a:r>
        </a:p>
      </dgm:t>
    </dgm:pt>
    <dgm:pt modelId="{1E5EFBC1-11AA-4ABD-8576-771392551853}" type="parTrans" cxnId="{0E698836-51C6-4FA3-A6D2-41EF0071822F}">
      <dgm:prSet/>
      <dgm:spPr/>
      <dgm:t>
        <a:bodyPr/>
        <a:lstStyle/>
        <a:p>
          <a:endParaRPr lang="en-US"/>
        </a:p>
      </dgm:t>
    </dgm:pt>
    <dgm:pt modelId="{7F8861D7-F983-4806-A702-6B375A7E4572}" type="sibTrans" cxnId="{0E698836-51C6-4FA3-A6D2-41EF0071822F}">
      <dgm:prSet/>
      <dgm:spPr/>
      <dgm:t>
        <a:bodyPr/>
        <a:lstStyle/>
        <a:p>
          <a:endParaRPr lang="en-US"/>
        </a:p>
      </dgm:t>
    </dgm:pt>
    <dgm:pt modelId="{38AA8FA1-6168-42DA-88CD-5BFBA6C68D53}">
      <dgm:prSet/>
      <dgm:spPr/>
      <dgm:t>
        <a:bodyPr/>
        <a:lstStyle/>
        <a:p>
          <a:r>
            <a:rPr lang="en-US"/>
            <a:t>Numeric: impute median + scale</a:t>
          </a:r>
        </a:p>
      </dgm:t>
    </dgm:pt>
    <dgm:pt modelId="{9A159309-606D-47A6-BCDF-FEB577F3F51E}" type="parTrans" cxnId="{0619C29D-F42E-4B9B-B5D8-1B5719FE9214}">
      <dgm:prSet/>
      <dgm:spPr/>
      <dgm:t>
        <a:bodyPr/>
        <a:lstStyle/>
        <a:p>
          <a:endParaRPr lang="en-US"/>
        </a:p>
      </dgm:t>
    </dgm:pt>
    <dgm:pt modelId="{74FB5C18-101B-4169-9A63-C188B4B432CB}" type="sibTrans" cxnId="{0619C29D-F42E-4B9B-B5D8-1B5719FE9214}">
      <dgm:prSet/>
      <dgm:spPr/>
      <dgm:t>
        <a:bodyPr/>
        <a:lstStyle/>
        <a:p>
          <a:endParaRPr lang="en-US"/>
        </a:p>
      </dgm:t>
    </dgm:pt>
    <dgm:pt modelId="{DC43A7DA-3C21-4B4F-B9F6-A415186091C5}">
      <dgm:prSet/>
      <dgm:spPr/>
      <dgm:t>
        <a:bodyPr/>
        <a:lstStyle/>
        <a:p>
          <a:r>
            <a:rPr lang="en-US"/>
            <a:t>Categorical: impute most frequent + one-hot encode</a:t>
          </a:r>
        </a:p>
      </dgm:t>
    </dgm:pt>
    <dgm:pt modelId="{3A44665F-9EDC-49E0-89AF-9039CFBB1560}" type="parTrans" cxnId="{F928F14A-E416-4406-887E-1D378390CB73}">
      <dgm:prSet/>
      <dgm:spPr/>
      <dgm:t>
        <a:bodyPr/>
        <a:lstStyle/>
        <a:p>
          <a:endParaRPr lang="en-US"/>
        </a:p>
      </dgm:t>
    </dgm:pt>
    <dgm:pt modelId="{1820C16D-0457-4856-BA39-7CAC8C6EB6E2}" type="sibTrans" cxnId="{F928F14A-E416-4406-887E-1D378390CB73}">
      <dgm:prSet/>
      <dgm:spPr/>
      <dgm:t>
        <a:bodyPr/>
        <a:lstStyle/>
        <a:p>
          <a:endParaRPr lang="en-US"/>
        </a:p>
      </dgm:t>
    </dgm:pt>
    <dgm:pt modelId="{618EBE13-8621-49DA-8154-9046FB10C68E}">
      <dgm:prSet/>
      <dgm:spPr/>
      <dgm:t>
        <a:bodyPr/>
        <a:lstStyle/>
        <a:p>
          <a:r>
            <a:rPr lang="en-US"/>
            <a:t>Models compared:</a:t>
          </a:r>
        </a:p>
      </dgm:t>
    </dgm:pt>
    <dgm:pt modelId="{AB0A5A7A-CDD2-437C-91F8-58F65C8CB44C}" type="parTrans" cxnId="{B55EEF51-F8E1-4C44-9A5E-5278C4A5A213}">
      <dgm:prSet/>
      <dgm:spPr/>
      <dgm:t>
        <a:bodyPr/>
        <a:lstStyle/>
        <a:p>
          <a:endParaRPr lang="en-US"/>
        </a:p>
      </dgm:t>
    </dgm:pt>
    <dgm:pt modelId="{129EF6CD-D038-4518-84ED-2A3CB1584542}" type="sibTrans" cxnId="{B55EEF51-F8E1-4C44-9A5E-5278C4A5A213}">
      <dgm:prSet/>
      <dgm:spPr/>
      <dgm:t>
        <a:bodyPr/>
        <a:lstStyle/>
        <a:p>
          <a:endParaRPr lang="en-US"/>
        </a:p>
      </dgm:t>
    </dgm:pt>
    <dgm:pt modelId="{8ED65BB0-D89E-4353-ACFA-7F78F23E37EC}">
      <dgm:prSet/>
      <dgm:spPr/>
      <dgm:t>
        <a:bodyPr/>
        <a:lstStyle/>
        <a:p>
          <a:r>
            <a:rPr lang="en-US"/>
            <a:t>Linear Regression, Ridge, Lasso</a:t>
          </a:r>
        </a:p>
      </dgm:t>
    </dgm:pt>
    <dgm:pt modelId="{C52BE6A1-4F71-4C71-B8E6-06067696DB3C}" type="parTrans" cxnId="{0B488760-FBAC-4742-812A-05F810BA76A7}">
      <dgm:prSet/>
      <dgm:spPr/>
      <dgm:t>
        <a:bodyPr/>
        <a:lstStyle/>
        <a:p>
          <a:endParaRPr lang="en-US"/>
        </a:p>
      </dgm:t>
    </dgm:pt>
    <dgm:pt modelId="{8D74F66D-CF0E-43DA-9EDA-1BF808DFF343}" type="sibTrans" cxnId="{0B488760-FBAC-4742-812A-05F810BA76A7}">
      <dgm:prSet/>
      <dgm:spPr/>
      <dgm:t>
        <a:bodyPr/>
        <a:lstStyle/>
        <a:p>
          <a:endParaRPr lang="en-US"/>
        </a:p>
      </dgm:t>
    </dgm:pt>
    <dgm:pt modelId="{463926FD-F7CC-43C0-9FE7-89075073DCCD}" type="pres">
      <dgm:prSet presAssocID="{93FE0893-4F95-4B38-B54A-8BC490B78041}" presName="Name0" presStyleCnt="0">
        <dgm:presLayoutVars>
          <dgm:dir/>
          <dgm:animLvl val="lvl"/>
          <dgm:resizeHandles val="exact"/>
        </dgm:presLayoutVars>
      </dgm:prSet>
      <dgm:spPr/>
    </dgm:pt>
    <dgm:pt modelId="{F12DF5B1-4751-4E23-A001-FB0FAEB537E8}" type="pres">
      <dgm:prSet presAssocID="{4AB4BD92-075C-4F47-97E2-1BF7F5A3138F}" presName="linNode" presStyleCnt="0"/>
      <dgm:spPr/>
    </dgm:pt>
    <dgm:pt modelId="{1D4F632A-DD5C-4B3F-ADD5-AFE6E202451D}" type="pres">
      <dgm:prSet presAssocID="{4AB4BD92-075C-4F47-97E2-1BF7F5A3138F}" presName="parentText" presStyleLbl="node1" presStyleIdx="0" presStyleCnt="4">
        <dgm:presLayoutVars>
          <dgm:chMax val="1"/>
          <dgm:bulletEnabled val="1"/>
        </dgm:presLayoutVars>
      </dgm:prSet>
      <dgm:spPr/>
    </dgm:pt>
    <dgm:pt modelId="{7517A263-F3F6-4A72-835C-A29E2F4640C2}" type="pres">
      <dgm:prSet presAssocID="{6E9F3327-75D5-4B23-B334-F2FB0B7F35BD}" presName="sp" presStyleCnt="0"/>
      <dgm:spPr/>
    </dgm:pt>
    <dgm:pt modelId="{8D2BE667-DA1F-43F2-80E4-014842224FC4}" type="pres">
      <dgm:prSet presAssocID="{5A6BA2AC-283D-470E-979A-D11C665FD750}" presName="linNode" presStyleCnt="0"/>
      <dgm:spPr/>
    </dgm:pt>
    <dgm:pt modelId="{18165BCA-4FF7-42FF-9B5A-4C3111538AAD}" type="pres">
      <dgm:prSet presAssocID="{5A6BA2AC-283D-470E-979A-D11C665FD750}" presName="parentText" presStyleLbl="node1" presStyleIdx="1" presStyleCnt="4">
        <dgm:presLayoutVars>
          <dgm:chMax val="1"/>
          <dgm:bulletEnabled val="1"/>
        </dgm:presLayoutVars>
      </dgm:prSet>
      <dgm:spPr/>
    </dgm:pt>
    <dgm:pt modelId="{F2B7DE19-B66C-44FE-8915-C8A61C135B85}" type="pres">
      <dgm:prSet presAssocID="{5A6BA2AC-283D-470E-979A-D11C665FD750}" presName="descendantText" presStyleLbl="alignAccFollowNode1" presStyleIdx="0" presStyleCnt="3">
        <dgm:presLayoutVars>
          <dgm:bulletEnabled val="1"/>
        </dgm:presLayoutVars>
      </dgm:prSet>
      <dgm:spPr/>
    </dgm:pt>
    <dgm:pt modelId="{B973951F-B527-441E-9A71-EC27F2C7F086}" type="pres">
      <dgm:prSet presAssocID="{F8FE9B1F-D27E-4084-81DA-3B493EC68BFE}" presName="sp" presStyleCnt="0"/>
      <dgm:spPr/>
    </dgm:pt>
    <dgm:pt modelId="{1F472FE1-5CE3-4F2A-A4DA-03B224BC761A}" type="pres">
      <dgm:prSet presAssocID="{A8123906-3B0A-498D-AE8A-A39F357FA3B8}" presName="linNode" presStyleCnt="0"/>
      <dgm:spPr/>
    </dgm:pt>
    <dgm:pt modelId="{A1BECAE9-5B15-45D1-8CB1-E2554405C0B0}" type="pres">
      <dgm:prSet presAssocID="{A8123906-3B0A-498D-AE8A-A39F357FA3B8}" presName="parentText" presStyleLbl="node1" presStyleIdx="2" presStyleCnt="4">
        <dgm:presLayoutVars>
          <dgm:chMax val="1"/>
          <dgm:bulletEnabled val="1"/>
        </dgm:presLayoutVars>
      </dgm:prSet>
      <dgm:spPr/>
    </dgm:pt>
    <dgm:pt modelId="{914706D5-06DA-403F-B508-BE6B99AD7809}" type="pres">
      <dgm:prSet presAssocID="{A8123906-3B0A-498D-AE8A-A39F357FA3B8}" presName="descendantText" presStyleLbl="alignAccFollowNode1" presStyleIdx="1" presStyleCnt="3">
        <dgm:presLayoutVars>
          <dgm:bulletEnabled val="1"/>
        </dgm:presLayoutVars>
      </dgm:prSet>
      <dgm:spPr/>
    </dgm:pt>
    <dgm:pt modelId="{B7255AF3-3064-4519-99FB-6F071B5311F2}" type="pres">
      <dgm:prSet presAssocID="{7F8861D7-F983-4806-A702-6B375A7E4572}" presName="sp" presStyleCnt="0"/>
      <dgm:spPr/>
    </dgm:pt>
    <dgm:pt modelId="{0EBE8B93-D16C-40AB-801F-BE28D65CC341}" type="pres">
      <dgm:prSet presAssocID="{618EBE13-8621-49DA-8154-9046FB10C68E}" presName="linNode" presStyleCnt="0"/>
      <dgm:spPr/>
    </dgm:pt>
    <dgm:pt modelId="{2449F9E3-E262-4B26-A073-2802DF3AEB88}" type="pres">
      <dgm:prSet presAssocID="{618EBE13-8621-49DA-8154-9046FB10C68E}" presName="parentText" presStyleLbl="node1" presStyleIdx="3" presStyleCnt="4">
        <dgm:presLayoutVars>
          <dgm:chMax val="1"/>
          <dgm:bulletEnabled val="1"/>
        </dgm:presLayoutVars>
      </dgm:prSet>
      <dgm:spPr/>
    </dgm:pt>
    <dgm:pt modelId="{EFB817B8-52FF-4800-8F18-2333DF50D64A}" type="pres">
      <dgm:prSet presAssocID="{618EBE13-8621-49DA-8154-9046FB10C68E}" presName="descendantText" presStyleLbl="alignAccFollowNode1" presStyleIdx="2" presStyleCnt="3">
        <dgm:presLayoutVars>
          <dgm:bulletEnabled val="1"/>
        </dgm:presLayoutVars>
      </dgm:prSet>
      <dgm:spPr/>
    </dgm:pt>
  </dgm:ptLst>
  <dgm:cxnLst>
    <dgm:cxn modelId="{629DD605-99CF-4C65-97AB-E573A18A4405}" type="presOf" srcId="{DC43A7DA-3C21-4B4F-B9F6-A415186091C5}" destId="{914706D5-06DA-403F-B508-BE6B99AD7809}" srcOrd="0" destOrd="1" presId="urn:microsoft.com/office/officeart/2005/8/layout/vList5"/>
    <dgm:cxn modelId="{8FB5760D-E6A2-4874-BA6A-88289F7B10ED}" type="presOf" srcId="{37E3700A-C0A5-43B7-8B15-4F6F6E188AD9}" destId="{F2B7DE19-B66C-44FE-8915-C8A61C135B85}" srcOrd="0" destOrd="1" presId="urn:microsoft.com/office/officeart/2005/8/layout/vList5"/>
    <dgm:cxn modelId="{3FA98A1B-AE32-4333-8A8B-A298073A3492}" type="presOf" srcId="{7054E65E-819D-43C4-AD0B-DD35F201CB03}" destId="{F2B7DE19-B66C-44FE-8915-C8A61C135B85}" srcOrd="0" destOrd="0" presId="urn:microsoft.com/office/officeart/2005/8/layout/vList5"/>
    <dgm:cxn modelId="{749A7624-9D8D-43AA-8966-7A4E96502A30}" type="presOf" srcId="{4AB4BD92-075C-4F47-97E2-1BF7F5A3138F}" destId="{1D4F632A-DD5C-4B3F-ADD5-AFE6E202451D}" srcOrd="0" destOrd="0" presId="urn:microsoft.com/office/officeart/2005/8/layout/vList5"/>
    <dgm:cxn modelId="{0E698836-51C6-4FA3-A6D2-41EF0071822F}" srcId="{93FE0893-4F95-4B38-B54A-8BC490B78041}" destId="{A8123906-3B0A-498D-AE8A-A39F357FA3B8}" srcOrd="2" destOrd="0" parTransId="{1E5EFBC1-11AA-4ABD-8576-771392551853}" sibTransId="{7F8861D7-F983-4806-A702-6B375A7E4572}"/>
    <dgm:cxn modelId="{0B488760-FBAC-4742-812A-05F810BA76A7}" srcId="{618EBE13-8621-49DA-8154-9046FB10C68E}" destId="{8ED65BB0-D89E-4353-ACFA-7F78F23E37EC}" srcOrd="0" destOrd="0" parTransId="{C52BE6A1-4F71-4C71-B8E6-06067696DB3C}" sibTransId="{8D74F66D-CF0E-43DA-9EDA-1BF808DFF343}"/>
    <dgm:cxn modelId="{BB0BCB64-53FC-4F9A-9E7D-4DC74FCE562C}" srcId="{93FE0893-4F95-4B38-B54A-8BC490B78041}" destId="{4AB4BD92-075C-4F47-97E2-1BF7F5A3138F}" srcOrd="0" destOrd="0" parTransId="{D5BC0D8D-3020-4BA3-B452-588D1AF4568B}" sibTransId="{6E9F3327-75D5-4B23-B334-F2FB0B7F35BD}"/>
    <dgm:cxn modelId="{764CD166-B293-490C-886F-19DD998ED8F9}" type="presOf" srcId="{618EBE13-8621-49DA-8154-9046FB10C68E}" destId="{2449F9E3-E262-4B26-A073-2802DF3AEB88}" srcOrd="0" destOrd="0" presId="urn:microsoft.com/office/officeart/2005/8/layout/vList5"/>
    <dgm:cxn modelId="{1D421247-614A-4D75-8A06-FFC5D23D0F27}" type="presOf" srcId="{A8123906-3B0A-498D-AE8A-A39F357FA3B8}" destId="{A1BECAE9-5B15-45D1-8CB1-E2554405C0B0}" srcOrd="0" destOrd="0" presId="urn:microsoft.com/office/officeart/2005/8/layout/vList5"/>
    <dgm:cxn modelId="{F928F14A-E416-4406-887E-1D378390CB73}" srcId="{A8123906-3B0A-498D-AE8A-A39F357FA3B8}" destId="{DC43A7DA-3C21-4B4F-B9F6-A415186091C5}" srcOrd="1" destOrd="0" parTransId="{3A44665F-9EDC-49E0-89AF-9039CFBB1560}" sibTransId="{1820C16D-0457-4856-BA39-7CAC8C6EB6E2}"/>
    <dgm:cxn modelId="{7533DC50-8B48-4421-AF75-FDC02DC66C86}" type="presOf" srcId="{8ED65BB0-D89E-4353-ACFA-7F78F23E37EC}" destId="{EFB817B8-52FF-4800-8F18-2333DF50D64A}" srcOrd="0" destOrd="0" presId="urn:microsoft.com/office/officeart/2005/8/layout/vList5"/>
    <dgm:cxn modelId="{B55EEF51-F8E1-4C44-9A5E-5278C4A5A213}" srcId="{93FE0893-4F95-4B38-B54A-8BC490B78041}" destId="{618EBE13-8621-49DA-8154-9046FB10C68E}" srcOrd="3" destOrd="0" parTransId="{AB0A5A7A-CDD2-437C-91F8-58F65C8CB44C}" sibTransId="{129EF6CD-D038-4518-84ED-2A3CB1584542}"/>
    <dgm:cxn modelId="{F5C20C7D-A7C2-45C1-8F82-6E99375EDDC4}" type="presOf" srcId="{5A6BA2AC-283D-470E-979A-D11C665FD750}" destId="{18165BCA-4FF7-42FF-9B5A-4C3111538AAD}" srcOrd="0" destOrd="0" presId="urn:microsoft.com/office/officeart/2005/8/layout/vList5"/>
    <dgm:cxn modelId="{A045FB8E-90CD-4C84-A46C-CEACDE05B1AF}" srcId="{93FE0893-4F95-4B38-B54A-8BC490B78041}" destId="{5A6BA2AC-283D-470E-979A-D11C665FD750}" srcOrd="1" destOrd="0" parTransId="{DE851C4B-F699-4733-B9E8-4C6E0A130171}" sibTransId="{F8FE9B1F-D27E-4084-81DA-3B493EC68BFE}"/>
    <dgm:cxn modelId="{77A7DA8F-97F8-4AC1-AC4F-8CB0412A7956}" type="presOf" srcId="{93FE0893-4F95-4B38-B54A-8BC490B78041}" destId="{463926FD-F7CC-43C0-9FE7-89075073DCCD}" srcOrd="0" destOrd="0" presId="urn:microsoft.com/office/officeart/2005/8/layout/vList5"/>
    <dgm:cxn modelId="{0619C29D-F42E-4B9B-B5D8-1B5719FE9214}" srcId="{A8123906-3B0A-498D-AE8A-A39F357FA3B8}" destId="{38AA8FA1-6168-42DA-88CD-5BFBA6C68D53}" srcOrd="0" destOrd="0" parTransId="{9A159309-606D-47A6-BCDF-FEB577F3F51E}" sibTransId="{74FB5C18-101B-4169-9A63-C188B4B432CB}"/>
    <dgm:cxn modelId="{5D9120AE-5A98-471B-8C5D-C513404B14F1}" srcId="{5A6BA2AC-283D-470E-979A-D11C665FD750}" destId="{37E3700A-C0A5-43B7-8B15-4F6F6E188AD9}" srcOrd="1" destOrd="0" parTransId="{AAB53ACC-B022-49DE-8EB6-9D96996652BA}" sibTransId="{1F557423-62B3-43E1-8184-BE37DD63C4BA}"/>
    <dgm:cxn modelId="{B6F370B3-AF86-484C-900B-4F9F9F1B91CB}" srcId="{5A6BA2AC-283D-470E-979A-D11C665FD750}" destId="{144E37CF-D79C-4509-B3EB-D7070413D870}" srcOrd="2" destOrd="0" parTransId="{5D739DF8-2F9E-4F3C-9760-4E4E6219C521}" sibTransId="{E3174243-474B-4D88-8F22-C502ED8B4C25}"/>
    <dgm:cxn modelId="{C50060B5-3390-45AF-BCA4-6B0CE2AE04B4}" srcId="{5A6BA2AC-283D-470E-979A-D11C665FD750}" destId="{7054E65E-819D-43C4-AD0B-DD35F201CB03}" srcOrd="0" destOrd="0" parTransId="{B263A879-756A-4B9C-934C-F16A42671677}" sibTransId="{BD94CEF6-68DE-4C41-B388-35BCA705A0EC}"/>
    <dgm:cxn modelId="{D8A532CB-E4C2-462C-95D7-2FD23B888507}" type="presOf" srcId="{144E37CF-D79C-4509-B3EB-D7070413D870}" destId="{F2B7DE19-B66C-44FE-8915-C8A61C135B85}" srcOrd="0" destOrd="2" presId="urn:microsoft.com/office/officeart/2005/8/layout/vList5"/>
    <dgm:cxn modelId="{992CB4D7-7AB6-4A5E-A651-F5408E953C92}" type="presOf" srcId="{38AA8FA1-6168-42DA-88CD-5BFBA6C68D53}" destId="{914706D5-06DA-403F-B508-BE6B99AD7809}" srcOrd="0" destOrd="0" presId="urn:microsoft.com/office/officeart/2005/8/layout/vList5"/>
    <dgm:cxn modelId="{6FF88275-2110-49F6-949E-B5B7ECF94845}" type="presParOf" srcId="{463926FD-F7CC-43C0-9FE7-89075073DCCD}" destId="{F12DF5B1-4751-4E23-A001-FB0FAEB537E8}" srcOrd="0" destOrd="0" presId="urn:microsoft.com/office/officeart/2005/8/layout/vList5"/>
    <dgm:cxn modelId="{027F91FA-A71C-4083-9C24-2B6240AD85DF}" type="presParOf" srcId="{F12DF5B1-4751-4E23-A001-FB0FAEB537E8}" destId="{1D4F632A-DD5C-4B3F-ADD5-AFE6E202451D}" srcOrd="0" destOrd="0" presId="urn:microsoft.com/office/officeart/2005/8/layout/vList5"/>
    <dgm:cxn modelId="{03532F73-ED27-4E38-9323-2915F1757B9C}" type="presParOf" srcId="{463926FD-F7CC-43C0-9FE7-89075073DCCD}" destId="{7517A263-F3F6-4A72-835C-A29E2F4640C2}" srcOrd="1" destOrd="0" presId="urn:microsoft.com/office/officeart/2005/8/layout/vList5"/>
    <dgm:cxn modelId="{EA89BB24-A03C-40F7-AD55-CE90E723FB14}" type="presParOf" srcId="{463926FD-F7CC-43C0-9FE7-89075073DCCD}" destId="{8D2BE667-DA1F-43F2-80E4-014842224FC4}" srcOrd="2" destOrd="0" presId="urn:microsoft.com/office/officeart/2005/8/layout/vList5"/>
    <dgm:cxn modelId="{EB4EDF46-01C6-4E53-845F-04B21898EA63}" type="presParOf" srcId="{8D2BE667-DA1F-43F2-80E4-014842224FC4}" destId="{18165BCA-4FF7-42FF-9B5A-4C3111538AAD}" srcOrd="0" destOrd="0" presId="urn:microsoft.com/office/officeart/2005/8/layout/vList5"/>
    <dgm:cxn modelId="{46E72CC6-ECEE-4266-94C8-E8CF83338139}" type="presParOf" srcId="{8D2BE667-DA1F-43F2-80E4-014842224FC4}" destId="{F2B7DE19-B66C-44FE-8915-C8A61C135B85}" srcOrd="1" destOrd="0" presId="urn:microsoft.com/office/officeart/2005/8/layout/vList5"/>
    <dgm:cxn modelId="{ECC0FA21-82EB-4547-9B04-45EC26D7007F}" type="presParOf" srcId="{463926FD-F7CC-43C0-9FE7-89075073DCCD}" destId="{B973951F-B527-441E-9A71-EC27F2C7F086}" srcOrd="3" destOrd="0" presId="urn:microsoft.com/office/officeart/2005/8/layout/vList5"/>
    <dgm:cxn modelId="{8A70C0B5-8C82-4959-A6A9-8A21EBE6D019}" type="presParOf" srcId="{463926FD-F7CC-43C0-9FE7-89075073DCCD}" destId="{1F472FE1-5CE3-4F2A-A4DA-03B224BC761A}" srcOrd="4" destOrd="0" presId="urn:microsoft.com/office/officeart/2005/8/layout/vList5"/>
    <dgm:cxn modelId="{43E96061-B220-4D3D-9A62-50B62D22B2E3}" type="presParOf" srcId="{1F472FE1-5CE3-4F2A-A4DA-03B224BC761A}" destId="{A1BECAE9-5B15-45D1-8CB1-E2554405C0B0}" srcOrd="0" destOrd="0" presId="urn:microsoft.com/office/officeart/2005/8/layout/vList5"/>
    <dgm:cxn modelId="{FDCD7A50-F541-4C11-9355-96B92D50ECCB}" type="presParOf" srcId="{1F472FE1-5CE3-4F2A-A4DA-03B224BC761A}" destId="{914706D5-06DA-403F-B508-BE6B99AD7809}" srcOrd="1" destOrd="0" presId="urn:microsoft.com/office/officeart/2005/8/layout/vList5"/>
    <dgm:cxn modelId="{99FDCA52-B3BC-4392-835E-2BEB1811E8C1}" type="presParOf" srcId="{463926FD-F7CC-43C0-9FE7-89075073DCCD}" destId="{B7255AF3-3064-4519-99FB-6F071B5311F2}" srcOrd="5" destOrd="0" presId="urn:microsoft.com/office/officeart/2005/8/layout/vList5"/>
    <dgm:cxn modelId="{D9635880-0EF0-4740-89A0-120CAA562895}" type="presParOf" srcId="{463926FD-F7CC-43C0-9FE7-89075073DCCD}" destId="{0EBE8B93-D16C-40AB-801F-BE28D65CC341}" srcOrd="6" destOrd="0" presId="urn:microsoft.com/office/officeart/2005/8/layout/vList5"/>
    <dgm:cxn modelId="{30C4E14E-77C2-415F-938C-C426C2D0B60B}" type="presParOf" srcId="{0EBE8B93-D16C-40AB-801F-BE28D65CC341}" destId="{2449F9E3-E262-4B26-A073-2802DF3AEB88}" srcOrd="0" destOrd="0" presId="urn:microsoft.com/office/officeart/2005/8/layout/vList5"/>
    <dgm:cxn modelId="{3B647CAA-6F57-4206-B234-5CE7105A8633}" type="presParOf" srcId="{0EBE8B93-D16C-40AB-801F-BE28D65CC341}" destId="{EFB817B8-52FF-4800-8F18-2333DF50D64A}"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66D812E-E83C-4914-B54A-DF1B00333967}" type="doc">
      <dgm:prSet loTypeId="urn:microsoft.com/office/officeart/2005/8/layout/vList5" loCatId="list" qsTypeId="urn:microsoft.com/office/officeart/2005/8/quickstyle/simple1" qsCatId="simple" csTypeId="urn:microsoft.com/office/officeart/2005/8/colors/colorful2" csCatId="colorful"/>
      <dgm:spPr/>
      <dgm:t>
        <a:bodyPr/>
        <a:lstStyle/>
        <a:p>
          <a:endParaRPr lang="en-US"/>
        </a:p>
      </dgm:t>
    </dgm:pt>
    <dgm:pt modelId="{5B6177BE-CCDB-4D93-BF77-802784E6C756}">
      <dgm:prSet/>
      <dgm:spPr/>
      <dgm:t>
        <a:bodyPr/>
        <a:lstStyle/>
        <a:p>
          <a:r>
            <a:rPr lang="en-US"/>
            <a:t>Key findings</a:t>
          </a:r>
        </a:p>
      </dgm:t>
    </dgm:pt>
    <dgm:pt modelId="{A3AF4FF7-0D22-44BB-95FC-78F9CAC93092}" type="parTrans" cxnId="{107A598F-DDD3-4343-BDFC-79DD828A9A88}">
      <dgm:prSet/>
      <dgm:spPr/>
      <dgm:t>
        <a:bodyPr/>
        <a:lstStyle/>
        <a:p>
          <a:endParaRPr lang="en-US"/>
        </a:p>
      </dgm:t>
    </dgm:pt>
    <dgm:pt modelId="{7BD69811-18A4-4F3B-B82A-58EE019EA6AE}" type="sibTrans" cxnId="{107A598F-DDD3-4343-BDFC-79DD828A9A88}">
      <dgm:prSet/>
      <dgm:spPr/>
      <dgm:t>
        <a:bodyPr/>
        <a:lstStyle/>
        <a:p>
          <a:endParaRPr lang="en-US"/>
        </a:p>
      </dgm:t>
    </dgm:pt>
    <dgm:pt modelId="{64C2C957-05B8-4AFF-94AD-206E8F8047C4}">
      <dgm:prSet/>
      <dgm:spPr/>
      <dgm:t>
        <a:bodyPr/>
        <a:lstStyle/>
        <a:p>
          <a:r>
            <a:rPr lang="en-US"/>
            <a:t>Imbalance drives metric choice (F1/ROC-AUC)</a:t>
          </a:r>
        </a:p>
      </dgm:t>
    </dgm:pt>
    <dgm:pt modelId="{1969C83B-0F31-4002-83E2-D52A495016E5}" type="parTrans" cxnId="{3C4689BB-446F-4B10-9108-E664FE22EDAE}">
      <dgm:prSet/>
      <dgm:spPr/>
      <dgm:t>
        <a:bodyPr/>
        <a:lstStyle/>
        <a:p>
          <a:endParaRPr lang="en-US"/>
        </a:p>
      </dgm:t>
    </dgm:pt>
    <dgm:pt modelId="{2300648E-88DE-489C-AF2F-2E2FAC9EFA91}" type="sibTrans" cxnId="{3C4689BB-446F-4B10-9108-E664FE22EDAE}">
      <dgm:prSet/>
      <dgm:spPr/>
      <dgm:t>
        <a:bodyPr/>
        <a:lstStyle/>
        <a:p>
          <a:endParaRPr lang="en-US"/>
        </a:p>
      </dgm:t>
    </dgm:pt>
    <dgm:pt modelId="{277C4633-8262-4A66-AAF2-382B3924113C}">
      <dgm:prSet/>
      <dgm:spPr/>
      <dgm:t>
        <a:bodyPr/>
        <a:lstStyle/>
        <a:p>
          <a:r>
            <a:rPr lang="en-US"/>
            <a:t>SVM tuned performed best overall in F1 (per notebook table)</a:t>
          </a:r>
        </a:p>
      </dgm:t>
    </dgm:pt>
    <dgm:pt modelId="{6DA395F8-2F52-4E9D-AE98-6EFBD7A7692F}" type="parTrans" cxnId="{20ACA561-B5A1-4F5D-923D-1672F0BF8589}">
      <dgm:prSet/>
      <dgm:spPr/>
      <dgm:t>
        <a:bodyPr/>
        <a:lstStyle/>
        <a:p>
          <a:endParaRPr lang="en-US"/>
        </a:p>
      </dgm:t>
    </dgm:pt>
    <dgm:pt modelId="{070AE877-C637-4B74-9650-3901D20871DC}" type="sibTrans" cxnId="{20ACA561-B5A1-4F5D-923D-1672F0BF8589}">
      <dgm:prSet/>
      <dgm:spPr/>
      <dgm:t>
        <a:bodyPr/>
        <a:lstStyle/>
        <a:p>
          <a:endParaRPr lang="en-US"/>
        </a:p>
      </dgm:t>
    </dgm:pt>
    <dgm:pt modelId="{454E3DF5-2F01-45A3-8ADA-FE091633A980}">
      <dgm:prSet/>
      <dgm:spPr/>
      <dgm:t>
        <a:bodyPr/>
        <a:lstStyle/>
        <a:p>
          <a:r>
            <a:rPr lang="en-US"/>
            <a:t>Clustering suggests two major customer segments</a:t>
          </a:r>
        </a:p>
      </dgm:t>
    </dgm:pt>
    <dgm:pt modelId="{79F3A201-462B-4978-8F28-792AED79175F}" type="parTrans" cxnId="{20AE8F46-912C-406C-AF9E-EE12DA008AFB}">
      <dgm:prSet/>
      <dgm:spPr/>
      <dgm:t>
        <a:bodyPr/>
        <a:lstStyle/>
        <a:p>
          <a:endParaRPr lang="en-US"/>
        </a:p>
      </dgm:t>
    </dgm:pt>
    <dgm:pt modelId="{02146E04-271B-4C7B-B88D-659991C36205}" type="sibTrans" cxnId="{20AE8F46-912C-406C-AF9E-EE12DA008AFB}">
      <dgm:prSet/>
      <dgm:spPr/>
      <dgm:t>
        <a:bodyPr/>
        <a:lstStyle/>
        <a:p>
          <a:endParaRPr lang="en-US"/>
        </a:p>
      </dgm:t>
    </dgm:pt>
    <dgm:pt modelId="{B5F2C549-7B65-433F-93E0-21C5548B3D83}">
      <dgm:prSet/>
      <dgm:spPr/>
      <dgm:t>
        <a:bodyPr/>
        <a:lstStyle/>
        <a:p>
          <a:r>
            <a:rPr lang="en-US"/>
            <a:t>Association rules reveal recurring profile combinations in subscribers</a:t>
          </a:r>
        </a:p>
      </dgm:t>
    </dgm:pt>
    <dgm:pt modelId="{F0C57B39-D1F8-4D03-93AD-6724F0FBC68E}" type="parTrans" cxnId="{39A54147-B5EB-4CDF-BD25-6450AF067642}">
      <dgm:prSet/>
      <dgm:spPr/>
      <dgm:t>
        <a:bodyPr/>
        <a:lstStyle/>
        <a:p>
          <a:endParaRPr lang="en-US"/>
        </a:p>
      </dgm:t>
    </dgm:pt>
    <dgm:pt modelId="{97E0874C-DF32-420D-A4DE-667782392A1D}" type="sibTrans" cxnId="{39A54147-B5EB-4CDF-BD25-6450AF067642}">
      <dgm:prSet/>
      <dgm:spPr/>
      <dgm:t>
        <a:bodyPr/>
        <a:lstStyle/>
        <a:p>
          <a:endParaRPr lang="en-US"/>
        </a:p>
      </dgm:t>
    </dgm:pt>
    <dgm:pt modelId="{CBDEA490-65E0-4566-A77A-5085E1200220}">
      <dgm:prSet/>
      <dgm:spPr/>
      <dgm:t>
        <a:bodyPr/>
        <a:lstStyle/>
        <a:p>
          <a:r>
            <a:rPr lang="en-US"/>
            <a:t>Challenges</a:t>
          </a:r>
        </a:p>
      </dgm:t>
    </dgm:pt>
    <dgm:pt modelId="{9AE35172-7941-4413-A8DD-538BBA2B66DB}" type="parTrans" cxnId="{72570F2D-6EA0-4EAB-A2F3-D33641908A9F}">
      <dgm:prSet/>
      <dgm:spPr/>
      <dgm:t>
        <a:bodyPr/>
        <a:lstStyle/>
        <a:p>
          <a:endParaRPr lang="en-US"/>
        </a:p>
      </dgm:t>
    </dgm:pt>
    <dgm:pt modelId="{D2DF0C6D-09F6-4400-B909-C1D0F21FA63D}" type="sibTrans" cxnId="{72570F2D-6EA0-4EAB-A2F3-D33641908A9F}">
      <dgm:prSet/>
      <dgm:spPr/>
      <dgm:t>
        <a:bodyPr/>
        <a:lstStyle/>
        <a:p>
          <a:endParaRPr lang="en-US"/>
        </a:p>
      </dgm:t>
    </dgm:pt>
    <dgm:pt modelId="{4C611E1B-591B-4B0D-9FD3-DA5453C33552}">
      <dgm:prSet/>
      <dgm:spPr/>
      <dgm:t>
        <a:bodyPr/>
        <a:lstStyle/>
        <a:p>
          <a:r>
            <a:rPr lang="en-US"/>
            <a:t>Handling “unknown” + pdays sentinel</a:t>
          </a:r>
        </a:p>
      </dgm:t>
    </dgm:pt>
    <dgm:pt modelId="{5ECAD2A2-B154-4F15-8AAA-CA0D24D3E8CE}" type="parTrans" cxnId="{1A7E59BD-DC21-43AD-8D65-5888423356CC}">
      <dgm:prSet/>
      <dgm:spPr/>
      <dgm:t>
        <a:bodyPr/>
        <a:lstStyle/>
        <a:p>
          <a:endParaRPr lang="en-US"/>
        </a:p>
      </dgm:t>
    </dgm:pt>
    <dgm:pt modelId="{1ADE2B5C-6469-4DA3-822C-0C66F26651C7}" type="sibTrans" cxnId="{1A7E59BD-DC21-43AD-8D65-5888423356CC}">
      <dgm:prSet/>
      <dgm:spPr/>
      <dgm:t>
        <a:bodyPr/>
        <a:lstStyle/>
        <a:p>
          <a:endParaRPr lang="en-US"/>
        </a:p>
      </dgm:t>
    </dgm:pt>
    <dgm:pt modelId="{AE2624EA-99EC-4832-B8F1-04E205BDB494}">
      <dgm:prSet/>
      <dgm:spPr/>
      <dgm:t>
        <a:bodyPr/>
        <a:lstStyle/>
        <a:p>
          <a:r>
            <a:rPr lang="en-US"/>
            <a:t>Avoiding misleading accuracy</a:t>
          </a:r>
        </a:p>
      </dgm:t>
    </dgm:pt>
    <dgm:pt modelId="{23D628B9-3C2D-412F-ADDC-7E745DE07177}" type="parTrans" cxnId="{E7A78F0C-21B5-4804-A881-75253181E093}">
      <dgm:prSet/>
      <dgm:spPr/>
      <dgm:t>
        <a:bodyPr/>
        <a:lstStyle/>
        <a:p>
          <a:endParaRPr lang="en-US"/>
        </a:p>
      </dgm:t>
    </dgm:pt>
    <dgm:pt modelId="{1A740109-2F97-46E1-9C77-465101079C98}" type="sibTrans" cxnId="{E7A78F0C-21B5-4804-A881-75253181E093}">
      <dgm:prSet/>
      <dgm:spPr/>
      <dgm:t>
        <a:bodyPr/>
        <a:lstStyle/>
        <a:p>
          <a:endParaRPr lang="en-US"/>
        </a:p>
      </dgm:t>
    </dgm:pt>
    <dgm:pt modelId="{D1B8CF04-B6F7-49E9-AFE9-F401BF5F9485}">
      <dgm:prSet/>
      <dgm:spPr/>
      <dgm:t>
        <a:bodyPr/>
        <a:lstStyle/>
        <a:p>
          <a:r>
            <a:rPr lang="en-US"/>
            <a:t>Keeping plots readable (outliers)</a:t>
          </a:r>
        </a:p>
      </dgm:t>
    </dgm:pt>
    <dgm:pt modelId="{D7FA72B1-1D87-4AF4-9A48-CCE6A5A7F9D7}" type="parTrans" cxnId="{E336D867-726D-40F7-8B04-6D8A52B2F4E3}">
      <dgm:prSet/>
      <dgm:spPr/>
      <dgm:t>
        <a:bodyPr/>
        <a:lstStyle/>
        <a:p>
          <a:endParaRPr lang="en-US"/>
        </a:p>
      </dgm:t>
    </dgm:pt>
    <dgm:pt modelId="{3F5A524D-3358-4253-80D0-D60B6C034003}" type="sibTrans" cxnId="{E336D867-726D-40F7-8B04-6D8A52B2F4E3}">
      <dgm:prSet/>
      <dgm:spPr/>
      <dgm:t>
        <a:bodyPr/>
        <a:lstStyle/>
        <a:p>
          <a:endParaRPr lang="en-US"/>
        </a:p>
      </dgm:t>
    </dgm:pt>
    <dgm:pt modelId="{848D2524-A4BB-4C55-89B5-742D93977E6F}">
      <dgm:prSet/>
      <dgm:spPr/>
      <dgm:t>
        <a:bodyPr/>
        <a:lstStyle/>
        <a:p>
          <a:r>
            <a:rPr lang="en-US"/>
            <a:t>Next steps:</a:t>
          </a:r>
        </a:p>
      </dgm:t>
    </dgm:pt>
    <dgm:pt modelId="{C65C00EF-F831-4DD3-A53A-C7A951104ECC}" type="parTrans" cxnId="{A1423B17-3089-485B-A010-8B97E7E1EE35}">
      <dgm:prSet/>
      <dgm:spPr/>
      <dgm:t>
        <a:bodyPr/>
        <a:lstStyle/>
        <a:p>
          <a:endParaRPr lang="en-US"/>
        </a:p>
      </dgm:t>
    </dgm:pt>
    <dgm:pt modelId="{A0EF93E2-ED3D-40E9-9A6E-EBB507BBBCD8}" type="sibTrans" cxnId="{A1423B17-3089-485B-A010-8B97E7E1EE35}">
      <dgm:prSet/>
      <dgm:spPr/>
      <dgm:t>
        <a:bodyPr/>
        <a:lstStyle/>
        <a:p>
          <a:endParaRPr lang="en-US"/>
        </a:p>
      </dgm:t>
    </dgm:pt>
    <dgm:pt modelId="{462CB615-EF6B-4EAA-A37C-21CF569051CF}">
      <dgm:prSet/>
      <dgm:spPr/>
      <dgm:t>
        <a:bodyPr/>
        <a:lstStyle/>
        <a:p>
          <a:r>
            <a:rPr lang="en-US"/>
            <a:t>Try tree ensembles (Random Forest / Gradient Boosting)</a:t>
          </a:r>
        </a:p>
      </dgm:t>
    </dgm:pt>
    <dgm:pt modelId="{4208CC3A-F8FD-421A-8760-8D6AD93DB49E}" type="parTrans" cxnId="{B2DF0D82-E78A-4759-A175-753772EFB73D}">
      <dgm:prSet/>
      <dgm:spPr/>
      <dgm:t>
        <a:bodyPr/>
        <a:lstStyle/>
        <a:p>
          <a:endParaRPr lang="en-US"/>
        </a:p>
      </dgm:t>
    </dgm:pt>
    <dgm:pt modelId="{D149DB22-4BC6-4E63-ABEC-5646E3DB3237}" type="sibTrans" cxnId="{B2DF0D82-E78A-4759-A175-753772EFB73D}">
      <dgm:prSet/>
      <dgm:spPr/>
      <dgm:t>
        <a:bodyPr/>
        <a:lstStyle/>
        <a:p>
          <a:endParaRPr lang="en-US"/>
        </a:p>
      </dgm:t>
    </dgm:pt>
    <dgm:pt modelId="{336C4307-64EE-4952-B332-AB355E6D14F7}">
      <dgm:prSet/>
      <dgm:spPr/>
      <dgm:t>
        <a:bodyPr/>
        <a:lstStyle/>
        <a:p>
          <a:r>
            <a:rPr lang="en-US"/>
            <a:t>Threshold tuning for business objectives</a:t>
          </a:r>
        </a:p>
      </dgm:t>
    </dgm:pt>
    <dgm:pt modelId="{F9882B5F-0DC9-4B4B-A43F-8928A492B2AB}" type="parTrans" cxnId="{2407491B-8C4F-4000-976F-CD86C7A0E7CA}">
      <dgm:prSet/>
      <dgm:spPr/>
      <dgm:t>
        <a:bodyPr/>
        <a:lstStyle/>
        <a:p>
          <a:endParaRPr lang="en-US"/>
        </a:p>
      </dgm:t>
    </dgm:pt>
    <dgm:pt modelId="{8E6FC122-7025-4432-B282-0382BBED8451}" type="sibTrans" cxnId="{2407491B-8C4F-4000-976F-CD86C7A0E7CA}">
      <dgm:prSet/>
      <dgm:spPr/>
      <dgm:t>
        <a:bodyPr/>
        <a:lstStyle/>
        <a:p>
          <a:endParaRPr lang="en-US"/>
        </a:p>
      </dgm:t>
    </dgm:pt>
    <dgm:pt modelId="{FB008C0B-4EA6-455F-B2F3-BBAD8C716C39}">
      <dgm:prSet/>
      <dgm:spPr/>
      <dgm:t>
        <a:bodyPr/>
        <a:lstStyle/>
        <a:p>
          <a:r>
            <a:rPr lang="en-US"/>
            <a:t>Deeper cluster interpretation with campaign strategy</a:t>
          </a:r>
        </a:p>
      </dgm:t>
    </dgm:pt>
    <dgm:pt modelId="{3818CF6E-C3AD-4D10-850D-F237D5BF7251}" type="parTrans" cxnId="{06C52827-661E-4E6C-8ED6-AAD309C0C820}">
      <dgm:prSet/>
      <dgm:spPr/>
      <dgm:t>
        <a:bodyPr/>
        <a:lstStyle/>
        <a:p>
          <a:endParaRPr lang="en-US"/>
        </a:p>
      </dgm:t>
    </dgm:pt>
    <dgm:pt modelId="{AB431FD6-DD06-4A98-B1AE-E0422B598383}" type="sibTrans" cxnId="{06C52827-661E-4E6C-8ED6-AAD309C0C820}">
      <dgm:prSet/>
      <dgm:spPr/>
      <dgm:t>
        <a:bodyPr/>
        <a:lstStyle/>
        <a:p>
          <a:endParaRPr lang="en-US"/>
        </a:p>
      </dgm:t>
    </dgm:pt>
    <dgm:pt modelId="{8622930D-17FA-4F12-9C85-63EED28D9C30}" type="pres">
      <dgm:prSet presAssocID="{266D812E-E83C-4914-B54A-DF1B00333967}" presName="Name0" presStyleCnt="0">
        <dgm:presLayoutVars>
          <dgm:dir/>
          <dgm:animLvl val="lvl"/>
          <dgm:resizeHandles val="exact"/>
        </dgm:presLayoutVars>
      </dgm:prSet>
      <dgm:spPr/>
    </dgm:pt>
    <dgm:pt modelId="{0408421B-6FFC-4089-AE20-497C123B54E0}" type="pres">
      <dgm:prSet presAssocID="{5B6177BE-CCDB-4D93-BF77-802784E6C756}" presName="linNode" presStyleCnt="0"/>
      <dgm:spPr/>
    </dgm:pt>
    <dgm:pt modelId="{B55CAA63-6320-4D9D-BADE-C311B810B226}" type="pres">
      <dgm:prSet presAssocID="{5B6177BE-CCDB-4D93-BF77-802784E6C756}" presName="parentText" presStyleLbl="node1" presStyleIdx="0" presStyleCnt="3">
        <dgm:presLayoutVars>
          <dgm:chMax val="1"/>
          <dgm:bulletEnabled val="1"/>
        </dgm:presLayoutVars>
      </dgm:prSet>
      <dgm:spPr/>
    </dgm:pt>
    <dgm:pt modelId="{7002736C-2C09-427A-B86A-D97D732780A0}" type="pres">
      <dgm:prSet presAssocID="{5B6177BE-CCDB-4D93-BF77-802784E6C756}" presName="descendantText" presStyleLbl="alignAccFollowNode1" presStyleIdx="0" presStyleCnt="3">
        <dgm:presLayoutVars>
          <dgm:bulletEnabled val="1"/>
        </dgm:presLayoutVars>
      </dgm:prSet>
      <dgm:spPr/>
    </dgm:pt>
    <dgm:pt modelId="{E0BE3190-003C-4A98-B680-F51FFC54AC0E}" type="pres">
      <dgm:prSet presAssocID="{7BD69811-18A4-4F3B-B82A-58EE019EA6AE}" presName="sp" presStyleCnt="0"/>
      <dgm:spPr/>
    </dgm:pt>
    <dgm:pt modelId="{D84E6A64-081C-4A3E-A64B-6C506D225223}" type="pres">
      <dgm:prSet presAssocID="{CBDEA490-65E0-4566-A77A-5085E1200220}" presName="linNode" presStyleCnt="0"/>
      <dgm:spPr/>
    </dgm:pt>
    <dgm:pt modelId="{E02BB85F-D892-487C-9E9B-E90FA2EC64C6}" type="pres">
      <dgm:prSet presAssocID="{CBDEA490-65E0-4566-A77A-5085E1200220}" presName="parentText" presStyleLbl="node1" presStyleIdx="1" presStyleCnt="3">
        <dgm:presLayoutVars>
          <dgm:chMax val="1"/>
          <dgm:bulletEnabled val="1"/>
        </dgm:presLayoutVars>
      </dgm:prSet>
      <dgm:spPr/>
    </dgm:pt>
    <dgm:pt modelId="{A4621F9C-6479-4D49-88E0-9714EB1332C5}" type="pres">
      <dgm:prSet presAssocID="{CBDEA490-65E0-4566-A77A-5085E1200220}" presName="descendantText" presStyleLbl="alignAccFollowNode1" presStyleIdx="1" presStyleCnt="3">
        <dgm:presLayoutVars>
          <dgm:bulletEnabled val="1"/>
        </dgm:presLayoutVars>
      </dgm:prSet>
      <dgm:spPr/>
    </dgm:pt>
    <dgm:pt modelId="{F30D04F1-B20C-4F11-8CC5-F72E57775F6E}" type="pres">
      <dgm:prSet presAssocID="{D2DF0C6D-09F6-4400-B909-C1D0F21FA63D}" presName="sp" presStyleCnt="0"/>
      <dgm:spPr/>
    </dgm:pt>
    <dgm:pt modelId="{027252CC-32F5-419B-8C14-82A53ABF169A}" type="pres">
      <dgm:prSet presAssocID="{848D2524-A4BB-4C55-89B5-742D93977E6F}" presName="linNode" presStyleCnt="0"/>
      <dgm:spPr/>
    </dgm:pt>
    <dgm:pt modelId="{0156BA45-45BC-4A71-82EE-7AE76CA341D3}" type="pres">
      <dgm:prSet presAssocID="{848D2524-A4BB-4C55-89B5-742D93977E6F}" presName="parentText" presStyleLbl="node1" presStyleIdx="2" presStyleCnt="3">
        <dgm:presLayoutVars>
          <dgm:chMax val="1"/>
          <dgm:bulletEnabled val="1"/>
        </dgm:presLayoutVars>
      </dgm:prSet>
      <dgm:spPr/>
    </dgm:pt>
    <dgm:pt modelId="{E22A043B-23F2-4A63-BE8A-465B36A60DD5}" type="pres">
      <dgm:prSet presAssocID="{848D2524-A4BB-4C55-89B5-742D93977E6F}" presName="descendantText" presStyleLbl="alignAccFollowNode1" presStyleIdx="2" presStyleCnt="3">
        <dgm:presLayoutVars>
          <dgm:bulletEnabled val="1"/>
        </dgm:presLayoutVars>
      </dgm:prSet>
      <dgm:spPr/>
    </dgm:pt>
  </dgm:ptLst>
  <dgm:cxnLst>
    <dgm:cxn modelId="{51FA2202-B7F2-4EF3-AEF3-3D2A003DA301}" type="presOf" srcId="{277C4633-8262-4A66-AAF2-382B3924113C}" destId="{7002736C-2C09-427A-B86A-D97D732780A0}" srcOrd="0" destOrd="1" presId="urn:microsoft.com/office/officeart/2005/8/layout/vList5"/>
    <dgm:cxn modelId="{334DCD07-1E33-4CD8-B773-A77ACDA44531}" type="presOf" srcId="{AE2624EA-99EC-4832-B8F1-04E205BDB494}" destId="{A4621F9C-6479-4D49-88E0-9714EB1332C5}" srcOrd="0" destOrd="1" presId="urn:microsoft.com/office/officeart/2005/8/layout/vList5"/>
    <dgm:cxn modelId="{E7A78F0C-21B5-4804-A881-75253181E093}" srcId="{CBDEA490-65E0-4566-A77A-5085E1200220}" destId="{AE2624EA-99EC-4832-B8F1-04E205BDB494}" srcOrd="1" destOrd="0" parTransId="{23D628B9-3C2D-412F-ADDC-7E745DE07177}" sibTransId="{1A740109-2F97-46E1-9C77-465101079C98}"/>
    <dgm:cxn modelId="{A1423B17-3089-485B-A010-8B97E7E1EE35}" srcId="{266D812E-E83C-4914-B54A-DF1B00333967}" destId="{848D2524-A4BB-4C55-89B5-742D93977E6F}" srcOrd="2" destOrd="0" parTransId="{C65C00EF-F831-4DD3-A53A-C7A951104ECC}" sibTransId="{A0EF93E2-ED3D-40E9-9A6E-EBB507BBBCD8}"/>
    <dgm:cxn modelId="{2407491B-8C4F-4000-976F-CD86C7A0E7CA}" srcId="{848D2524-A4BB-4C55-89B5-742D93977E6F}" destId="{336C4307-64EE-4952-B332-AB355E6D14F7}" srcOrd="1" destOrd="0" parTransId="{F9882B5F-0DC9-4B4B-A43F-8928A492B2AB}" sibTransId="{8E6FC122-7025-4432-B282-0382BBED8451}"/>
    <dgm:cxn modelId="{06C52827-661E-4E6C-8ED6-AAD309C0C820}" srcId="{848D2524-A4BB-4C55-89B5-742D93977E6F}" destId="{FB008C0B-4EA6-455F-B2F3-BBAD8C716C39}" srcOrd="2" destOrd="0" parTransId="{3818CF6E-C3AD-4D10-850D-F237D5BF7251}" sibTransId="{AB431FD6-DD06-4A98-B1AE-E0422B598383}"/>
    <dgm:cxn modelId="{72570F2D-6EA0-4EAB-A2F3-D33641908A9F}" srcId="{266D812E-E83C-4914-B54A-DF1B00333967}" destId="{CBDEA490-65E0-4566-A77A-5085E1200220}" srcOrd="1" destOrd="0" parTransId="{9AE35172-7941-4413-A8DD-538BBA2B66DB}" sibTransId="{D2DF0C6D-09F6-4400-B909-C1D0F21FA63D}"/>
    <dgm:cxn modelId="{C114605C-DE8D-4FA8-A61F-8523D8A74970}" type="presOf" srcId="{4C611E1B-591B-4B0D-9FD3-DA5453C33552}" destId="{A4621F9C-6479-4D49-88E0-9714EB1332C5}" srcOrd="0" destOrd="0" presId="urn:microsoft.com/office/officeart/2005/8/layout/vList5"/>
    <dgm:cxn modelId="{20ACA561-B5A1-4F5D-923D-1672F0BF8589}" srcId="{5B6177BE-CCDB-4D93-BF77-802784E6C756}" destId="{277C4633-8262-4A66-AAF2-382B3924113C}" srcOrd="1" destOrd="0" parTransId="{6DA395F8-2F52-4E9D-AE98-6EFBD7A7692F}" sibTransId="{070AE877-C637-4B74-9650-3901D20871DC}"/>
    <dgm:cxn modelId="{2FA72266-5E18-4941-9863-E9E79C26EFBD}" type="presOf" srcId="{454E3DF5-2F01-45A3-8ADA-FE091633A980}" destId="{7002736C-2C09-427A-B86A-D97D732780A0}" srcOrd="0" destOrd="2" presId="urn:microsoft.com/office/officeart/2005/8/layout/vList5"/>
    <dgm:cxn modelId="{20AE8F46-912C-406C-AF9E-EE12DA008AFB}" srcId="{5B6177BE-CCDB-4D93-BF77-802784E6C756}" destId="{454E3DF5-2F01-45A3-8ADA-FE091633A980}" srcOrd="2" destOrd="0" parTransId="{79F3A201-462B-4978-8F28-792AED79175F}" sibTransId="{02146E04-271B-4C7B-B88D-659991C36205}"/>
    <dgm:cxn modelId="{39A54147-B5EB-4CDF-BD25-6450AF067642}" srcId="{5B6177BE-CCDB-4D93-BF77-802784E6C756}" destId="{B5F2C549-7B65-433F-93E0-21C5548B3D83}" srcOrd="3" destOrd="0" parTransId="{F0C57B39-D1F8-4D03-93AD-6724F0FBC68E}" sibTransId="{97E0874C-DF32-420D-A4DE-667782392A1D}"/>
    <dgm:cxn modelId="{E336D867-726D-40F7-8B04-6D8A52B2F4E3}" srcId="{CBDEA490-65E0-4566-A77A-5085E1200220}" destId="{D1B8CF04-B6F7-49E9-AFE9-F401BF5F9485}" srcOrd="2" destOrd="0" parTransId="{D7FA72B1-1D87-4AF4-9A48-CCE6A5A7F9D7}" sibTransId="{3F5A524D-3358-4253-80D0-D60B6C034003}"/>
    <dgm:cxn modelId="{70945248-C7C6-40C5-8F0E-4FF0B8BFB4CF}" type="presOf" srcId="{336C4307-64EE-4952-B332-AB355E6D14F7}" destId="{E22A043B-23F2-4A63-BE8A-465B36A60DD5}" srcOrd="0" destOrd="1" presId="urn:microsoft.com/office/officeart/2005/8/layout/vList5"/>
    <dgm:cxn modelId="{C1B0466F-D821-4F9C-908C-6904364D10A0}" type="presOf" srcId="{64C2C957-05B8-4AFF-94AD-206E8F8047C4}" destId="{7002736C-2C09-427A-B86A-D97D732780A0}" srcOrd="0" destOrd="0" presId="urn:microsoft.com/office/officeart/2005/8/layout/vList5"/>
    <dgm:cxn modelId="{49FB457F-E633-4D20-A523-0CB283A4CF10}" type="presOf" srcId="{462CB615-EF6B-4EAA-A37C-21CF569051CF}" destId="{E22A043B-23F2-4A63-BE8A-465B36A60DD5}" srcOrd="0" destOrd="0" presId="urn:microsoft.com/office/officeart/2005/8/layout/vList5"/>
    <dgm:cxn modelId="{B2DF0D82-E78A-4759-A175-753772EFB73D}" srcId="{848D2524-A4BB-4C55-89B5-742D93977E6F}" destId="{462CB615-EF6B-4EAA-A37C-21CF569051CF}" srcOrd="0" destOrd="0" parTransId="{4208CC3A-F8FD-421A-8760-8D6AD93DB49E}" sibTransId="{D149DB22-4BC6-4E63-ABEC-5646E3DB3237}"/>
    <dgm:cxn modelId="{DCA4B483-4061-4131-BB87-DB66FEB9DD90}" type="presOf" srcId="{5B6177BE-CCDB-4D93-BF77-802784E6C756}" destId="{B55CAA63-6320-4D9D-BADE-C311B810B226}" srcOrd="0" destOrd="0" presId="urn:microsoft.com/office/officeart/2005/8/layout/vList5"/>
    <dgm:cxn modelId="{4910118E-FC66-4BF5-BC0C-8C018E00F2E4}" type="presOf" srcId="{D1B8CF04-B6F7-49E9-AFE9-F401BF5F9485}" destId="{A4621F9C-6479-4D49-88E0-9714EB1332C5}" srcOrd="0" destOrd="2" presId="urn:microsoft.com/office/officeart/2005/8/layout/vList5"/>
    <dgm:cxn modelId="{107A598F-DDD3-4343-BDFC-79DD828A9A88}" srcId="{266D812E-E83C-4914-B54A-DF1B00333967}" destId="{5B6177BE-CCDB-4D93-BF77-802784E6C756}" srcOrd="0" destOrd="0" parTransId="{A3AF4FF7-0D22-44BB-95FC-78F9CAC93092}" sibTransId="{7BD69811-18A4-4F3B-B82A-58EE019EA6AE}"/>
    <dgm:cxn modelId="{BC0C8C8F-FA31-407E-B346-996AD8D58D7F}" type="presOf" srcId="{266D812E-E83C-4914-B54A-DF1B00333967}" destId="{8622930D-17FA-4F12-9C85-63EED28D9C30}" srcOrd="0" destOrd="0" presId="urn:microsoft.com/office/officeart/2005/8/layout/vList5"/>
    <dgm:cxn modelId="{E76BA99D-18EB-4BD1-84DA-7E18F2A33626}" type="presOf" srcId="{B5F2C549-7B65-433F-93E0-21C5548B3D83}" destId="{7002736C-2C09-427A-B86A-D97D732780A0}" srcOrd="0" destOrd="3" presId="urn:microsoft.com/office/officeart/2005/8/layout/vList5"/>
    <dgm:cxn modelId="{3C4689BB-446F-4B10-9108-E664FE22EDAE}" srcId="{5B6177BE-CCDB-4D93-BF77-802784E6C756}" destId="{64C2C957-05B8-4AFF-94AD-206E8F8047C4}" srcOrd="0" destOrd="0" parTransId="{1969C83B-0F31-4002-83E2-D52A495016E5}" sibTransId="{2300648E-88DE-489C-AF2F-2E2FAC9EFA91}"/>
    <dgm:cxn modelId="{1A7E59BD-DC21-43AD-8D65-5888423356CC}" srcId="{CBDEA490-65E0-4566-A77A-5085E1200220}" destId="{4C611E1B-591B-4B0D-9FD3-DA5453C33552}" srcOrd="0" destOrd="0" parTransId="{5ECAD2A2-B154-4F15-8AAA-CA0D24D3E8CE}" sibTransId="{1ADE2B5C-6469-4DA3-822C-0C66F26651C7}"/>
    <dgm:cxn modelId="{DA77A7CA-3FE3-48D3-9749-1779BEC0647A}" type="presOf" srcId="{CBDEA490-65E0-4566-A77A-5085E1200220}" destId="{E02BB85F-D892-487C-9E9B-E90FA2EC64C6}" srcOrd="0" destOrd="0" presId="urn:microsoft.com/office/officeart/2005/8/layout/vList5"/>
    <dgm:cxn modelId="{5512B1EF-5D9C-42AB-B694-5AF75A4C971E}" type="presOf" srcId="{848D2524-A4BB-4C55-89B5-742D93977E6F}" destId="{0156BA45-45BC-4A71-82EE-7AE76CA341D3}" srcOrd="0" destOrd="0" presId="urn:microsoft.com/office/officeart/2005/8/layout/vList5"/>
    <dgm:cxn modelId="{A60BEFF1-2073-4049-A9ED-5915A93A125B}" type="presOf" srcId="{FB008C0B-4EA6-455F-B2F3-BBAD8C716C39}" destId="{E22A043B-23F2-4A63-BE8A-465B36A60DD5}" srcOrd="0" destOrd="2" presId="urn:microsoft.com/office/officeart/2005/8/layout/vList5"/>
    <dgm:cxn modelId="{68FDC365-73DF-40DD-80E8-371AFA46A093}" type="presParOf" srcId="{8622930D-17FA-4F12-9C85-63EED28D9C30}" destId="{0408421B-6FFC-4089-AE20-497C123B54E0}" srcOrd="0" destOrd="0" presId="urn:microsoft.com/office/officeart/2005/8/layout/vList5"/>
    <dgm:cxn modelId="{17660FFC-F1DA-4972-8229-8827D7D9BE50}" type="presParOf" srcId="{0408421B-6FFC-4089-AE20-497C123B54E0}" destId="{B55CAA63-6320-4D9D-BADE-C311B810B226}" srcOrd="0" destOrd="0" presId="urn:microsoft.com/office/officeart/2005/8/layout/vList5"/>
    <dgm:cxn modelId="{E6C9928D-1B17-407A-BE34-AD61D2E7B91E}" type="presParOf" srcId="{0408421B-6FFC-4089-AE20-497C123B54E0}" destId="{7002736C-2C09-427A-B86A-D97D732780A0}" srcOrd="1" destOrd="0" presId="urn:microsoft.com/office/officeart/2005/8/layout/vList5"/>
    <dgm:cxn modelId="{08826DE8-98B5-4D7F-8379-9D3EEE213FBB}" type="presParOf" srcId="{8622930D-17FA-4F12-9C85-63EED28D9C30}" destId="{E0BE3190-003C-4A98-B680-F51FFC54AC0E}" srcOrd="1" destOrd="0" presId="urn:microsoft.com/office/officeart/2005/8/layout/vList5"/>
    <dgm:cxn modelId="{42AA6EBA-9BA9-4956-8A2C-A8A790D7078B}" type="presParOf" srcId="{8622930D-17FA-4F12-9C85-63EED28D9C30}" destId="{D84E6A64-081C-4A3E-A64B-6C506D225223}" srcOrd="2" destOrd="0" presId="urn:microsoft.com/office/officeart/2005/8/layout/vList5"/>
    <dgm:cxn modelId="{3A3C5F80-5925-4483-AE9B-1D2967DF3758}" type="presParOf" srcId="{D84E6A64-081C-4A3E-A64B-6C506D225223}" destId="{E02BB85F-D892-487C-9E9B-E90FA2EC64C6}" srcOrd="0" destOrd="0" presId="urn:microsoft.com/office/officeart/2005/8/layout/vList5"/>
    <dgm:cxn modelId="{4D9CC263-C3C5-493B-898F-C49169C3B290}" type="presParOf" srcId="{D84E6A64-081C-4A3E-A64B-6C506D225223}" destId="{A4621F9C-6479-4D49-88E0-9714EB1332C5}" srcOrd="1" destOrd="0" presId="urn:microsoft.com/office/officeart/2005/8/layout/vList5"/>
    <dgm:cxn modelId="{C65B8EA2-5A23-4408-A91D-2068CEB67EE8}" type="presParOf" srcId="{8622930D-17FA-4F12-9C85-63EED28D9C30}" destId="{F30D04F1-B20C-4F11-8CC5-F72E57775F6E}" srcOrd="3" destOrd="0" presId="urn:microsoft.com/office/officeart/2005/8/layout/vList5"/>
    <dgm:cxn modelId="{56DFBFCE-4DF4-4138-B05B-64EFEAF6A464}" type="presParOf" srcId="{8622930D-17FA-4F12-9C85-63EED28D9C30}" destId="{027252CC-32F5-419B-8C14-82A53ABF169A}" srcOrd="4" destOrd="0" presId="urn:microsoft.com/office/officeart/2005/8/layout/vList5"/>
    <dgm:cxn modelId="{71C5E0B5-6C65-4F85-94C7-02182EA5C96B}" type="presParOf" srcId="{027252CC-32F5-419B-8C14-82A53ABF169A}" destId="{0156BA45-45BC-4A71-82EE-7AE76CA341D3}" srcOrd="0" destOrd="0" presId="urn:microsoft.com/office/officeart/2005/8/layout/vList5"/>
    <dgm:cxn modelId="{44A92E44-8E8E-489B-A79E-D875876A1524}" type="presParOf" srcId="{027252CC-32F5-419B-8C14-82A53ABF169A}" destId="{E22A043B-23F2-4A63-BE8A-465B36A60DD5}" srcOrd="1" destOrd="0" presId="urn:microsoft.com/office/officeart/2005/8/layout/vList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5FC9C4-353D-4F13-8436-5457E26CC5B0}">
      <dsp:nvSpPr>
        <dsp:cNvPr id="0" name=""/>
        <dsp:cNvSpPr/>
      </dsp:nvSpPr>
      <dsp:spPr>
        <a:xfrm>
          <a:off x="606456" y="0"/>
          <a:ext cx="5453920" cy="5453920"/>
        </a:xfrm>
        <a:prstGeom prst="diamond">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2A2FDE3C-F92A-4536-BE00-26E12B840F79}">
      <dsp:nvSpPr>
        <dsp:cNvPr id="0" name=""/>
        <dsp:cNvSpPr/>
      </dsp:nvSpPr>
      <dsp:spPr>
        <a:xfrm>
          <a:off x="1124578" y="518122"/>
          <a:ext cx="2127028" cy="2127028"/>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EDA &amp; Cleaning (Deliverable 1)</a:t>
          </a:r>
        </a:p>
      </dsp:txBody>
      <dsp:txXfrm>
        <a:off x="1228411" y="621955"/>
        <a:ext cx="1919362" cy="1919362"/>
      </dsp:txXfrm>
    </dsp:sp>
    <dsp:sp modelId="{67938E08-2F4D-499C-9227-62BC18A8C31A}">
      <dsp:nvSpPr>
        <dsp:cNvPr id="0" name=""/>
        <dsp:cNvSpPr/>
      </dsp:nvSpPr>
      <dsp:spPr>
        <a:xfrm>
          <a:off x="3415225" y="518122"/>
          <a:ext cx="2127028" cy="2127028"/>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Regression Modeling (Deliverable 2)</a:t>
          </a:r>
        </a:p>
      </dsp:txBody>
      <dsp:txXfrm>
        <a:off x="3519058" y="621955"/>
        <a:ext cx="1919362" cy="1919362"/>
      </dsp:txXfrm>
    </dsp:sp>
    <dsp:sp modelId="{44646A5E-EEDB-423A-B352-3EDE13261C0B}">
      <dsp:nvSpPr>
        <dsp:cNvPr id="0" name=""/>
        <dsp:cNvSpPr/>
      </dsp:nvSpPr>
      <dsp:spPr>
        <a:xfrm>
          <a:off x="1124578" y="2808768"/>
          <a:ext cx="2127028" cy="2127028"/>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Classification, Clustering, Association Rules (Deliverable 3)</a:t>
          </a:r>
        </a:p>
      </dsp:txBody>
      <dsp:txXfrm>
        <a:off x="1228411" y="2912601"/>
        <a:ext cx="1919362" cy="1919362"/>
      </dsp:txXfrm>
    </dsp:sp>
    <dsp:sp modelId="{1844CF13-4711-4DFF-82B0-5124F8501E10}">
      <dsp:nvSpPr>
        <dsp:cNvPr id="0" name=""/>
        <dsp:cNvSpPr/>
      </dsp:nvSpPr>
      <dsp:spPr>
        <a:xfrm>
          <a:off x="3415225" y="2808768"/>
          <a:ext cx="2127028" cy="2127028"/>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kern="1200"/>
            <a:t>Key findings + implications</a:t>
          </a:r>
        </a:p>
      </dsp:txBody>
      <dsp:txXfrm>
        <a:off x="3519058" y="2912601"/>
        <a:ext cx="1919362" cy="19193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AD5285-4077-4B27-956F-6837AAB74D23}">
      <dsp:nvSpPr>
        <dsp:cNvPr id="0" name=""/>
        <dsp:cNvSpPr/>
      </dsp:nvSpPr>
      <dsp:spPr>
        <a:xfrm>
          <a:off x="0" y="290728"/>
          <a:ext cx="7559504" cy="1352520"/>
        </a:xfrm>
        <a:prstGeom prst="round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Dataset: Bank Marketing (rows ≈ 45,211)</a:t>
          </a:r>
        </a:p>
      </dsp:txBody>
      <dsp:txXfrm>
        <a:off x="66025" y="356753"/>
        <a:ext cx="7427454" cy="1220470"/>
      </dsp:txXfrm>
    </dsp:sp>
    <dsp:sp modelId="{706AB9D0-07C3-4FD9-8091-8E2CC78B3E70}">
      <dsp:nvSpPr>
        <dsp:cNvPr id="0" name=""/>
        <dsp:cNvSpPr/>
      </dsp:nvSpPr>
      <dsp:spPr>
        <a:xfrm>
          <a:off x="0" y="1741168"/>
          <a:ext cx="7559504" cy="1352520"/>
        </a:xfrm>
        <a:prstGeom prst="roundRect">
          <a:avLst/>
        </a:prstGeom>
        <a:solidFill>
          <a:schemeClr val="accent5">
            <a:hueOff val="-4050717"/>
            <a:satOff val="-275"/>
            <a:lumOff val="65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Target used in EDA &amp; classification: y (subscription: 0/1)</a:t>
          </a:r>
        </a:p>
      </dsp:txBody>
      <dsp:txXfrm>
        <a:off x="66025" y="1807193"/>
        <a:ext cx="7427454" cy="1220470"/>
      </dsp:txXfrm>
    </dsp:sp>
    <dsp:sp modelId="{3DA9236F-EAC1-4278-BC23-7B5921A19F25}">
      <dsp:nvSpPr>
        <dsp:cNvPr id="0" name=""/>
        <dsp:cNvSpPr/>
      </dsp:nvSpPr>
      <dsp:spPr>
        <a:xfrm>
          <a:off x="0" y="3191608"/>
          <a:ext cx="7559504" cy="1352520"/>
        </a:xfrm>
        <a:prstGeom prst="roundRect">
          <a:avLst/>
        </a:prstGeom>
        <a:solidFill>
          <a:schemeClr val="accent5">
            <a:hueOff val="-8101434"/>
            <a:satOff val="-551"/>
            <a:lumOff val="13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Mixed features: numeric + categorical (job, education, loan, etc.)</a:t>
          </a:r>
        </a:p>
      </dsp:txBody>
      <dsp:txXfrm>
        <a:off x="66025" y="3257633"/>
        <a:ext cx="7427454" cy="1220470"/>
      </dsp:txXfrm>
    </dsp:sp>
    <dsp:sp modelId="{49BC6C74-7443-4B42-BD4B-B227D86E75D3}">
      <dsp:nvSpPr>
        <dsp:cNvPr id="0" name=""/>
        <dsp:cNvSpPr/>
      </dsp:nvSpPr>
      <dsp:spPr>
        <a:xfrm>
          <a:off x="0" y="4642048"/>
          <a:ext cx="7559504" cy="1352520"/>
        </a:xfrm>
        <a:prstGeom prst="round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Common “unknown” coded values; pdays has special meaning</a:t>
          </a:r>
        </a:p>
      </dsp:txBody>
      <dsp:txXfrm>
        <a:off x="66025" y="4708073"/>
        <a:ext cx="7427454" cy="122047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9B18E1-5FBA-46BA-9424-E2F265C3084F}">
      <dsp:nvSpPr>
        <dsp:cNvPr id="0" name=""/>
        <dsp:cNvSpPr/>
      </dsp:nvSpPr>
      <dsp:spPr>
        <a:xfrm>
          <a:off x="0" y="3295221"/>
          <a:ext cx="7452360" cy="216202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0256" tIns="270256" rIns="270256" bIns="270256" numCol="1" spcCol="1270" anchor="ctr" anchorCtr="0">
          <a:noAutofit/>
        </a:bodyPr>
        <a:lstStyle/>
        <a:p>
          <a:pPr marL="0" lvl="0" indent="0" algn="ctr" defTabSz="1689100">
            <a:lnSpc>
              <a:spcPct val="90000"/>
            </a:lnSpc>
            <a:spcBef>
              <a:spcPct val="0"/>
            </a:spcBef>
            <a:spcAft>
              <a:spcPct val="35000"/>
            </a:spcAft>
            <a:buNone/>
          </a:pPr>
          <a:r>
            <a:rPr lang="en-US" sz="3800" kern="1200"/>
            <a:t>Cleaning actions from notebook:</a:t>
          </a:r>
        </a:p>
      </dsp:txBody>
      <dsp:txXfrm>
        <a:off x="0" y="3295221"/>
        <a:ext cx="7452360" cy="1167492"/>
      </dsp:txXfrm>
    </dsp:sp>
    <dsp:sp modelId="{7897CF6D-9BEA-46CA-B63D-F28DE2284249}">
      <dsp:nvSpPr>
        <dsp:cNvPr id="0" name=""/>
        <dsp:cNvSpPr/>
      </dsp:nvSpPr>
      <dsp:spPr>
        <a:xfrm>
          <a:off x="0" y="4419473"/>
          <a:ext cx="1863089" cy="99453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9050" rIns="106680" bIns="19050" numCol="1" spcCol="1270" anchor="ctr" anchorCtr="0">
          <a:noAutofit/>
        </a:bodyPr>
        <a:lstStyle/>
        <a:p>
          <a:pPr marL="0" lvl="0" indent="0" algn="ctr" defTabSz="666750">
            <a:lnSpc>
              <a:spcPct val="90000"/>
            </a:lnSpc>
            <a:spcBef>
              <a:spcPct val="0"/>
            </a:spcBef>
            <a:spcAft>
              <a:spcPct val="35000"/>
            </a:spcAft>
            <a:buNone/>
          </a:pPr>
          <a:r>
            <a:rPr lang="en-US" sz="1500" kern="1200"/>
            <a:t>Standardize column names</a:t>
          </a:r>
        </a:p>
      </dsp:txBody>
      <dsp:txXfrm>
        <a:off x="0" y="4419473"/>
        <a:ext cx="1863089" cy="994530"/>
      </dsp:txXfrm>
    </dsp:sp>
    <dsp:sp modelId="{AF3FBBD7-2987-4B83-A4DD-EEBDDA79F8BE}">
      <dsp:nvSpPr>
        <dsp:cNvPr id="0" name=""/>
        <dsp:cNvSpPr/>
      </dsp:nvSpPr>
      <dsp:spPr>
        <a:xfrm>
          <a:off x="1863090" y="4419473"/>
          <a:ext cx="1863089" cy="994530"/>
        </a:xfrm>
        <a:prstGeom prst="rect">
          <a:avLst/>
        </a:prstGeom>
        <a:solidFill>
          <a:schemeClr val="accent2">
            <a:tint val="40000"/>
            <a:alpha val="90000"/>
            <a:hueOff val="2244906"/>
            <a:satOff val="-20744"/>
            <a:lumOff val="-2338"/>
            <a:alphaOff val="0"/>
          </a:schemeClr>
        </a:solidFill>
        <a:ln w="19050" cap="flat" cmpd="sng" algn="ctr">
          <a:solidFill>
            <a:schemeClr val="accent2">
              <a:tint val="40000"/>
              <a:alpha val="90000"/>
              <a:hueOff val="2244906"/>
              <a:satOff val="-20744"/>
              <a:lumOff val="-233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9050" rIns="106680" bIns="19050" numCol="1" spcCol="1270" anchor="ctr" anchorCtr="0">
          <a:noAutofit/>
        </a:bodyPr>
        <a:lstStyle/>
        <a:p>
          <a:pPr marL="0" lvl="0" indent="0" algn="ctr" defTabSz="666750">
            <a:lnSpc>
              <a:spcPct val="90000"/>
            </a:lnSpc>
            <a:spcBef>
              <a:spcPct val="0"/>
            </a:spcBef>
            <a:spcAft>
              <a:spcPct val="35000"/>
            </a:spcAft>
            <a:buNone/>
          </a:pPr>
          <a:r>
            <a:rPr lang="en-US" sz="1500" kern="1200"/>
            <a:t>Map target y: {no-&gt;0, yes-&gt;1}</a:t>
          </a:r>
        </a:p>
      </dsp:txBody>
      <dsp:txXfrm>
        <a:off x="1863090" y="4419473"/>
        <a:ext cx="1863089" cy="994530"/>
      </dsp:txXfrm>
    </dsp:sp>
    <dsp:sp modelId="{06780175-7B9F-48F2-87AA-A8591EE387DD}">
      <dsp:nvSpPr>
        <dsp:cNvPr id="0" name=""/>
        <dsp:cNvSpPr/>
      </dsp:nvSpPr>
      <dsp:spPr>
        <a:xfrm>
          <a:off x="3726180" y="4419473"/>
          <a:ext cx="1863089" cy="994530"/>
        </a:xfrm>
        <a:prstGeom prst="rect">
          <a:avLst/>
        </a:prstGeom>
        <a:solidFill>
          <a:schemeClr val="accent2">
            <a:tint val="40000"/>
            <a:alpha val="90000"/>
            <a:hueOff val="4489812"/>
            <a:satOff val="-41488"/>
            <a:lumOff val="-4677"/>
            <a:alphaOff val="0"/>
          </a:schemeClr>
        </a:solidFill>
        <a:ln w="19050" cap="flat" cmpd="sng" algn="ctr">
          <a:solidFill>
            <a:schemeClr val="accent2">
              <a:tint val="40000"/>
              <a:alpha val="90000"/>
              <a:hueOff val="4489812"/>
              <a:satOff val="-41488"/>
              <a:lumOff val="-467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9050" rIns="106680" bIns="19050" numCol="1" spcCol="1270" anchor="ctr" anchorCtr="0">
          <a:noAutofit/>
        </a:bodyPr>
        <a:lstStyle/>
        <a:p>
          <a:pPr marL="0" lvl="0" indent="0" algn="ctr" defTabSz="666750">
            <a:lnSpc>
              <a:spcPct val="90000"/>
            </a:lnSpc>
            <a:spcBef>
              <a:spcPct val="0"/>
            </a:spcBef>
            <a:spcAft>
              <a:spcPct val="35000"/>
            </a:spcAft>
            <a:buNone/>
          </a:pPr>
          <a:r>
            <a:rPr lang="en-US" sz="1500" kern="1200"/>
            <a:t>Convert pdays = -1 to missing + create prev_contacted indicator</a:t>
          </a:r>
        </a:p>
      </dsp:txBody>
      <dsp:txXfrm>
        <a:off x="3726180" y="4419473"/>
        <a:ext cx="1863089" cy="994530"/>
      </dsp:txXfrm>
    </dsp:sp>
    <dsp:sp modelId="{68068246-85B3-4DDF-81E3-7772D3D6A0D6}">
      <dsp:nvSpPr>
        <dsp:cNvPr id="0" name=""/>
        <dsp:cNvSpPr/>
      </dsp:nvSpPr>
      <dsp:spPr>
        <a:xfrm>
          <a:off x="5589270" y="4419473"/>
          <a:ext cx="1863089" cy="994530"/>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9050" rIns="106680" bIns="19050" numCol="1" spcCol="1270" anchor="ctr" anchorCtr="0">
          <a:noAutofit/>
        </a:bodyPr>
        <a:lstStyle/>
        <a:p>
          <a:pPr marL="0" lvl="0" indent="0" algn="ctr" defTabSz="666750">
            <a:lnSpc>
              <a:spcPct val="90000"/>
            </a:lnSpc>
            <a:spcBef>
              <a:spcPct val="0"/>
            </a:spcBef>
            <a:spcAft>
              <a:spcPct val="35000"/>
            </a:spcAft>
            <a:buNone/>
          </a:pPr>
          <a:r>
            <a:rPr lang="en-US" sz="1500" kern="1200"/>
            <a:t>Add *_unknown flags for categorical columns containing “unknown”</a:t>
          </a:r>
        </a:p>
      </dsp:txBody>
      <dsp:txXfrm>
        <a:off x="5589270" y="4419473"/>
        <a:ext cx="1863089" cy="994530"/>
      </dsp:txXfrm>
    </dsp:sp>
    <dsp:sp modelId="{ABA3D5EB-F52E-4A40-8C9F-E19C74461666}">
      <dsp:nvSpPr>
        <dsp:cNvPr id="0" name=""/>
        <dsp:cNvSpPr/>
      </dsp:nvSpPr>
      <dsp:spPr>
        <a:xfrm rot="10800000">
          <a:off x="0" y="2461"/>
          <a:ext cx="7452360" cy="3325190"/>
        </a:xfrm>
        <a:prstGeom prst="upArrowCallou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0256" tIns="270256" rIns="270256" bIns="270256" numCol="1" spcCol="1270" anchor="ctr" anchorCtr="0">
          <a:noAutofit/>
        </a:bodyPr>
        <a:lstStyle/>
        <a:p>
          <a:pPr marL="0" lvl="0" indent="0" algn="ctr" defTabSz="1689100">
            <a:lnSpc>
              <a:spcPct val="90000"/>
            </a:lnSpc>
            <a:spcBef>
              <a:spcPct val="0"/>
            </a:spcBef>
            <a:spcAft>
              <a:spcPct val="35000"/>
            </a:spcAft>
            <a:buNone/>
          </a:pPr>
          <a:r>
            <a:rPr lang="en-US" sz="3800" kern="1200"/>
            <a:t>Validation checks: shape, schema, duplicates, missing values</a:t>
          </a:r>
        </a:p>
      </dsp:txBody>
      <dsp:txXfrm rot="10800000">
        <a:off x="0" y="2461"/>
        <a:ext cx="7452360" cy="21606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00D8F3-B72D-492A-BCE5-2C575B6D0145}">
      <dsp:nvSpPr>
        <dsp:cNvPr id="0" name=""/>
        <dsp:cNvSpPr/>
      </dsp:nvSpPr>
      <dsp:spPr>
        <a:xfrm>
          <a:off x="1320" y="150224"/>
          <a:ext cx="4636182" cy="294397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97A40E-53A9-46BA-98FF-064605C4B555}">
      <dsp:nvSpPr>
        <dsp:cNvPr id="0" name=""/>
        <dsp:cNvSpPr/>
      </dsp:nvSpPr>
      <dsp:spPr>
        <a:xfrm>
          <a:off x="516452" y="639599"/>
          <a:ext cx="4636182" cy="294397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Outliers observed in balance, duration, campaign, and previous</a:t>
          </a:r>
        </a:p>
      </dsp:txBody>
      <dsp:txXfrm>
        <a:off x="602678" y="725825"/>
        <a:ext cx="4463730" cy="2771523"/>
      </dsp:txXfrm>
    </dsp:sp>
    <dsp:sp modelId="{65B8FA96-1616-45A9-A7EB-ABBF3B162D5C}">
      <dsp:nvSpPr>
        <dsp:cNvPr id="0" name=""/>
        <dsp:cNvSpPr/>
      </dsp:nvSpPr>
      <dsp:spPr>
        <a:xfrm>
          <a:off x="5667765" y="150224"/>
          <a:ext cx="4636182" cy="294397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337A87E-9170-4EA2-9513-885584B5F2E3}">
      <dsp:nvSpPr>
        <dsp:cNvPr id="0" name=""/>
        <dsp:cNvSpPr/>
      </dsp:nvSpPr>
      <dsp:spPr>
        <a:xfrm>
          <a:off x="6182897" y="639599"/>
          <a:ext cx="4636182" cy="294397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33350" bIns="133350" numCol="1" spcCol="1270" anchor="ctr" anchorCtr="0">
          <a:noAutofit/>
        </a:bodyPr>
        <a:lstStyle/>
        <a:p>
          <a:pPr marL="0" lvl="0" indent="0" algn="ctr" defTabSz="1555750">
            <a:lnSpc>
              <a:spcPct val="90000"/>
            </a:lnSpc>
            <a:spcBef>
              <a:spcPct val="0"/>
            </a:spcBef>
            <a:spcAft>
              <a:spcPct val="35000"/>
            </a:spcAft>
            <a:buNone/>
          </a:pPr>
          <a:r>
            <a:rPr lang="en-US" sz="3500" kern="1200"/>
            <a:t>Categorical breakdowns show dominant categories and “unknown” presence</a:t>
          </a:r>
        </a:p>
      </dsp:txBody>
      <dsp:txXfrm>
        <a:off x="6269123" y="725825"/>
        <a:ext cx="4463730" cy="277152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4F632A-DD5C-4B3F-ADD5-AFE6E202451D}">
      <dsp:nvSpPr>
        <dsp:cNvPr id="0" name=""/>
        <dsp:cNvSpPr/>
      </dsp:nvSpPr>
      <dsp:spPr>
        <a:xfrm>
          <a:off x="0" y="1868"/>
          <a:ext cx="3895344" cy="89881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90000"/>
            </a:lnSpc>
            <a:spcBef>
              <a:spcPct val="0"/>
            </a:spcBef>
            <a:spcAft>
              <a:spcPct val="35000"/>
            </a:spcAft>
            <a:buNone/>
          </a:pPr>
          <a:r>
            <a:rPr lang="en-US" sz="2500" kern="1200"/>
            <a:t>Regression target in notebook: </a:t>
          </a:r>
          <a:r>
            <a:rPr lang="en-US" sz="2500" b="1" kern="1200"/>
            <a:t>age</a:t>
          </a:r>
          <a:endParaRPr lang="en-US" sz="2500" kern="1200"/>
        </a:p>
      </dsp:txBody>
      <dsp:txXfrm>
        <a:off x="43876" y="45744"/>
        <a:ext cx="3807592" cy="811058"/>
      </dsp:txXfrm>
    </dsp:sp>
    <dsp:sp modelId="{F2B7DE19-B66C-44FE-8915-C8A61C135B85}">
      <dsp:nvSpPr>
        <dsp:cNvPr id="0" name=""/>
        <dsp:cNvSpPr/>
      </dsp:nvSpPr>
      <dsp:spPr>
        <a:xfrm rot="5400000">
          <a:off x="6998347" y="-2067503"/>
          <a:ext cx="719048" cy="6925056"/>
        </a:xfrm>
        <a:prstGeom prst="round2Same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a:t>age_squared (nonlinear relationship)</a:t>
          </a:r>
        </a:p>
        <a:p>
          <a:pPr marL="114300" lvl="1" indent="-114300" algn="l" defTabSz="533400">
            <a:lnSpc>
              <a:spcPct val="90000"/>
            </a:lnSpc>
            <a:spcBef>
              <a:spcPct val="0"/>
            </a:spcBef>
            <a:spcAft>
              <a:spcPct val="15000"/>
            </a:spcAft>
            <a:buChar char="•"/>
          </a:pPr>
          <a:r>
            <a:rPr lang="en-US" sz="1200" kern="1200"/>
            <a:t>pdays_was_missing, pdays_filled</a:t>
          </a:r>
        </a:p>
        <a:p>
          <a:pPr marL="114300" lvl="1" indent="-114300" algn="l" defTabSz="533400">
            <a:lnSpc>
              <a:spcPct val="90000"/>
            </a:lnSpc>
            <a:spcBef>
              <a:spcPct val="0"/>
            </a:spcBef>
            <a:spcAft>
              <a:spcPct val="15000"/>
            </a:spcAft>
            <a:buChar char="•"/>
          </a:pPr>
          <a:r>
            <a:rPr lang="en-US" sz="1200" kern="1200"/>
            <a:t>campaign_per_previous</a:t>
          </a:r>
        </a:p>
      </dsp:txBody>
      <dsp:txXfrm rot="-5400000">
        <a:off x="3895344" y="1070601"/>
        <a:ext cx="6889955" cy="648846"/>
      </dsp:txXfrm>
    </dsp:sp>
    <dsp:sp modelId="{18165BCA-4FF7-42FF-9B5A-4C3111538AAD}">
      <dsp:nvSpPr>
        <dsp:cNvPr id="0" name=""/>
        <dsp:cNvSpPr/>
      </dsp:nvSpPr>
      <dsp:spPr>
        <a:xfrm>
          <a:off x="0" y="945619"/>
          <a:ext cx="3895344" cy="898810"/>
        </a:xfrm>
        <a:prstGeom prst="roundRect">
          <a:avLst/>
        </a:prstGeom>
        <a:solidFill>
          <a:schemeClr val="accent2">
            <a:hueOff val="2147871"/>
            <a:satOff val="-6164"/>
            <a:lumOff val="-987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90000"/>
            </a:lnSpc>
            <a:spcBef>
              <a:spcPct val="0"/>
            </a:spcBef>
            <a:spcAft>
              <a:spcPct val="35000"/>
            </a:spcAft>
            <a:buNone/>
          </a:pPr>
          <a:r>
            <a:rPr lang="en-US" sz="2500" kern="1200"/>
            <a:t>Feature engineering used:</a:t>
          </a:r>
        </a:p>
      </dsp:txBody>
      <dsp:txXfrm>
        <a:off x="43876" y="989495"/>
        <a:ext cx="3807592" cy="811058"/>
      </dsp:txXfrm>
    </dsp:sp>
    <dsp:sp modelId="{914706D5-06DA-403F-B508-BE6B99AD7809}">
      <dsp:nvSpPr>
        <dsp:cNvPr id="0" name=""/>
        <dsp:cNvSpPr/>
      </dsp:nvSpPr>
      <dsp:spPr>
        <a:xfrm rot="5400000">
          <a:off x="6998347" y="-1123753"/>
          <a:ext cx="719048" cy="6925056"/>
        </a:xfrm>
        <a:prstGeom prst="round2Same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a:t>Numeric: impute median + scale</a:t>
          </a:r>
        </a:p>
        <a:p>
          <a:pPr marL="114300" lvl="1" indent="-114300" algn="l" defTabSz="533400">
            <a:lnSpc>
              <a:spcPct val="90000"/>
            </a:lnSpc>
            <a:spcBef>
              <a:spcPct val="0"/>
            </a:spcBef>
            <a:spcAft>
              <a:spcPct val="15000"/>
            </a:spcAft>
            <a:buChar char="•"/>
          </a:pPr>
          <a:r>
            <a:rPr lang="en-US" sz="1200" kern="1200"/>
            <a:t>Categorical: impute most frequent + one-hot encode</a:t>
          </a:r>
        </a:p>
      </dsp:txBody>
      <dsp:txXfrm rot="-5400000">
        <a:off x="3895344" y="2014351"/>
        <a:ext cx="6889955" cy="648846"/>
      </dsp:txXfrm>
    </dsp:sp>
    <dsp:sp modelId="{A1BECAE9-5B15-45D1-8CB1-E2554405C0B0}">
      <dsp:nvSpPr>
        <dsp:cNvPr id="0" name=""/>
        <dsp:cNvSpPr/>
      </dsp:nvSpPr>
      <dsp:spPr>
        <a:xfrm>
          <a:off x="0" y="1889369"/>
          <a:ext cx="3895344" cy="898810"/>
        </a:xfrm>
        <a:prstGeom prst="roundRect">
          <a:avLst/>
        </a:prstGeom>
        <a:solidFill>
          <a:schemeClr val="accent2">
            <a:hueOff val="4295743"/>
            <a:satOff val="-12329"/>
            <a:lumOff val="-1973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90000"/>
            </a:lnSpc>
            <a:spcBef>
              <a:spcPct val="0"/>
            </a:spcBef>
            <a:spcAft>
              <a:spcPct val="35000"/>
            </a:spcAft>
            <a:buNone/>
          </a:pPr>
          <a:r>
            <a:rPr lang="en-US" sz="2500" kern="1200"/>
            <a:t>Preprocessing pipeline:</a:t>
          </a:r>
        </a:p>
      </dsp:txBody>
      <dsp:txXfrm>
        <a:off x="43876" y="1933245"/>
        <a:ext cx="3807592" cy="811058"/>
      </dsp:txXfrm>
    </dsp:sp>
    <dsp:sp modelId="{EFB817B8-52FF-4800-8F18-2333DF50D64A}">
      <dsp:nvSpPr>
        <dsp:cNvPr id="0" name=""/>
        <dsp:cNvSpPr/>
      </dsp:nvSpPr>
      <dsp:spPr>
        <a:xfrm rot="5400000">
          <a:off x="6998347" y="-180002"/>
          <a:ext cx="719048" cy="6925056"/>
        </a:xfrm>
        <a:prstGeom prst="round2Same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n-US" sz="1200" kern="1200"/>
            <a:t>Linear Regression, Ridge, Lasso</a:t>
          </a:r>
        </a:p>
      </dsp:txBody>
      <dsp:txXfrm rot="-5400000">
        <a:off x="3895344" y="2958102"/>
        <a:ext cx="6889955" cy="648846"/>
      </dsp:txXfrm>
    </dsp:sp>
    <dsp:sp modelId="{2449F9E3-E262-4B26-A073-2802DF3AEB88}">
      <dsp:nvSpPr>
        <dsp:cNvPr id="0" name=""/>
        <dsp:cNvSpPr/>
      </dsp:nvSpPr>
      <dsp:spPr>
        <a:xfrm>
          <a:off x="0" y="2833120"/>
          <a:ext cx="3895344" cy="898810"/>
        </a:xfrm>
        <a:prstGeom prst="roundRec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90000"/>
            </a:lnSpc>
            <a:spcBef>
              <a:spcPct val="0"/>
            </a:spcBef>
            <a:spcAft>
              <a:spcPct val="35000"/>
            </a:spcAft>
            <a:buNone/>
          </a:pPr>
          <a:r>
            <a:rPr lang="en-US" sz="2500" kern="1200"/>
            <a:t>Models compared:</a:t>
          </a:r>
        </a:p>
      </dsp:txBody>
      <dsp:txXfrm>
        <a:off x="43876" y="2876996"/>
        <a:ext cx="3807592" cy="8110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02736C-2C09-427A-B86A-D97D732780A0}">
      <dsp:nvSpPr>
        <dsp:cNvPr id="0" name=""/>
        <dsp:cNvSpPr/>
      </dsp:nvSpPr>
      <dsp:spPr>
        <a:xfrm rot="5400000">
          <a:off x="6589693" y="-2661723"/>
          <a:ext cx="1121829" cy="6729984"/>
        </a:xfrm>
        <a:prstGeom prst="round2Same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90000"/>
            </a:lnSpc>
            <a:spcBef>
              <a:spcPct val="0"/>
            </a:spcBef>
            <a:spcAft>
              <a:spcPct val="15000"/>
            </a:spcAft>
            <a:buChar char="•"/>
          </a:pPr>
          <a:r>
            <a:rPr lang="en-US" sz="1500" kern="1200"/>
            <a:t>Imbalance drives metric choice (F1/ROC-AUC)</a:t>
          </a:r>
        </a:p>
        <a:p>
          <a:pPr marL="114300" lvl="1" indent="-114300" algn="l" defTabSz="666750">
            <a:lnSpc>
              <a:spcPct val="90000"/>
            </a:lnSpc>
            <a:spcBef>
              <a:spcPct val="0"/>
            </a:spcBef>
            <a:spcAft>
              <a:spcPct val="15000"/>
            </a:spcAft>
            <a:buChar char="•"/>
          </a:pPr>
          <a:r>
            <a:rPr lang="en-US" sz="1500" kern="1200"/>
            <a:t>SVM tuned performed best overall in F1 (per notebook table)</a:t>
          </a:r>
        </a:p>
        <a:p>
          <a:pPr marL="114300" lvl="1" indent="-114300" algn="l" defTabSz="666750">
            <a:lnSpc>
              <a:spcPct val="90000"/>
            </a:lnSpc>
            <a:spcBef>
              <a:spcPct val="0"/>
            </a:spcBef>
            <a:spcAft>
              <a:spcPct val="15000"/>
            </a:spcAft>
            <a:buChar char="•"/>
          </a:pPr>
          <a:r>
            <a:rPr lang="en-US" sz="1500" kern="1200"/>
            <a:t>Clustering suggests two major customer segments</a:t>
          </a:r>
        </a:p>
        <a:p>
          <a:pPr marL="114300" lvl="1" indent="-114300" algn="l" defTabSz="666750">
            <a:lnSpc>
              <a:spcPct val="90000"/>
            </a:lnSpc>
            <a:spcBef>
              <a:spcPct val="0"/>
            </a:spcBef>
            <a:spcAft>
              <a:spcPct val="15000"/>
            </a:spcAft>
            <a:buChar char="•"/>
          </a:pPr>
          <a:r>
            <a:rPr lang="en-US" sz="1500" kern="1200"/>
            <a:t>Association rules reveal recurring profile combinations in subscribers</a:t>
          </a:r>
        </a:p>
      </dsp:txBody>
      <dsp:txXfrm rot="-5400000">
        <a:off x="3785616" y="197117"/>
        <a:ext cx="6675221" cy="1012303"/>
      </dsp:txXfrm>
    </dsp:sp>
    <dsp:sp modelId="{B55CAA63-6320-4D9D-BADE-C311B810B226}">
      <dsp:nvSpPr>
        <dsp:cNvPr id="0" name=""/>
        <dsp:cNvSpPr/>
      </dsp:nvSpPr>
      <dsp:spPr>
        <a:xfrm>
          <a:off x="0" y="2124"/>
          <a:ext cx="3785616" cy="1402286"/>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93345" rIns="186690" bIns="93345" numCol="1" spcCol="1270" anchor="ctr" anchorCtr="0">
          <a:noAutofit/>
        </a:bodyPr>
        <a:lstStyle/>
        <a:p>
          <a:pPr marL="0" lvl="0" indent="0" algn="ctr" defTabSz="2178050">
            <a:lnSpc>
              <a:spcPct val="90000"/>
            </a:lnSpc>
            <a:spcBef>
              <a:spcPct val="0"/>
            </a:spcBef>
            <a:spcAft>
              <a:spcPct val="35000"/>
            </a:spcAft>
            <a:buNone/>
          </a:pPr>
          <a:r>
            <a:rPr lang="en-US" sz="4900" kern="1200"/>
            <a:t>Key findings</a:t>
          </a:r>
        </a:p>
      </dsp:txBody>
      <dsp:txXfrm>
        <a:off x="68454" y="70578"/>
        <a:ext cx="3648708" cy="1265378"/>
      </dsp:txXfrm>
    </dsp:sp>
    <dsp:sp modelId="{A4621F9C-6479-4D49-88E0-9714EB1332C5}">
      <dsp:nvSpPr>
        <dsp:cNvPr id="0" name=""/>
        <dsp:cNvSpPr/>
      </dsp:nvSpPr>
      <dsp:spPr>
        <a:xfrm rot="5400000">
          <a:off x="6589693" y="-1189323"/>
          <a:ext cx="1121829" cy="6729984"/>
        </a:xfrm>
        <a:prstGeom prst="round2Same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90000"/>
            </a:lnSpc>
            <a:spcBef>
              <a:spcPct val="0"/>
            </a:spcBef>
            <a:spcAft>
              <a:spcPct val="15000"/>
            </a:spcAft>
            <a:buChar char="•"/>
          </a:pPr>
          <a:r>
            <a:rPr lang="en-US" sz="1500" kern="1200"/>
            <a:t>Handling “unknown” + pdays sentinel</a:t>
          </a:r>
        </a:p>
        <a:p>
          <a:pPr marL="114300" lvl="1" indent="-114300" algn="l" defTabSz="666750">
            <a:lnSpc>
              <a:spcPct val="90000"/>
            </a:lnSpc>
            <a:spcBef>
              <a:spcPct val="0"/>
            </a:spcBef>
            <a:spcAft>
              <a:spcPct val="15000"/>
            </a:spcAft>
            <a:buChar char="•"/>
          </a:pPr>
          <a:r>
            <a:rPr lang="en-US" sz="1500" kern="1200"/>
            <a:t>Avoiding misleading accuracy</a:t>
          </a:r>
        </a:p>
        <a:p>
          <a:pPr marL="114300" lvl="1" indent="-114300" algn="l" defTabSz="666750">
            <a:lnSpc>
              <a:spcPct val="90000"/>
            </a:lnSpc>
            <a:spcBef>
              <a:spcPct val="0"/>
            </a:spcBef>
            <a:spcAft>
              <a:spcPct val="15000"/>
            </a:spcAft>
            <a:buChar char="•"/>
          </a:pPr>
          <a:r>
            <a:rPr lang="en-US" sz="1500" kern="1200"/>
            <a:t>Keeping plots readable (outliers)</a:t>
          </a:r>
        </a:p>
      </dsp:txBody>
      <dsp:txXfrm rot="-5400000">
        <a:off x="3785616" y="1669517"/>
        <a:ext cx="6675221" cy="1012303"/>
      </dsp:txXfrm>
    </dsp:sp>
    <dsp:sp modelId="{E02BB85F-D892-487C-9E9B-E90FA2EC64C6}">
      <dsp:nvSpPr>
        <dsp:cNvPr id="0" name=""/>
        <dsp:cNvSpPr/>
      </dsp:nvSpPr>
      <dsp:spPr>
        <a:xfrm>
          <a:off x="0" y="1474525"/>
          <a:ext cx="3785616" cy="1402286"/>
        </a:xfrm>
        <a:prstGeom prst="roundRec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93345" rIns="186690" bIns="93345" numCol="1" spcCol="1270" anchor="ctr" anchorCtr="0">
          <a:noAutofit/>
        </a:bodyPr>
        <a:lstStyle/>
        <a:p>
          <a:pPr marL="0" lvl="0" indent="0" algn="ctr" defTabSz="2178050">
            <a:lnSpc>
              <a:spcPct val="90000"/>
            </a:lnSpc>
            <a:spcBef>
              <a:spcPct val="0"/>
            </a:spcBef>
            <a:spcAft>
              <a:spcPct val="35000"/>
            </a:spcAft>
            <a:buNone/>
          </a:pPr>
          <a:r>
            <a:rPr lang="en-US" sz="4900" kern="1200"/>
            <a:t>Challenges</a:t>
          </a:r>
        </a:p>
      </dsp:txBody>
      <dsp:txXfrm>
        <a:off x="68454" y="1542979"/>
        <a:ext cx="3648708" cy="1265378"/>
      </dsp:txXfrm>
    </dsp:sp>
    <dsp:sp modelId="{E22A043B-23F2-4A63-BE8A-465B36A60DD5}">
      <dsp:nvSpPr>
        <dsp:cNvPr id="0" name=""/>
        <dsp:cNvSpPr/>
      </dsp:nvSpPr>
      <dsp:spPr>
        <a:xfrm rot="5400000">
          <a:off x="6589693" y="283077"/>
          <a:ext cx="1121829" cy="6729984"/>
        </a:xfrm>
        <a:prstGeom prst="round2Same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90000"/>
            </a:lnSpc>
            <a:spcBef>
              <a:spcPct val="0"/>
            </a:spcBef>
            <a:spcAft>
              <a:spcPct val="15000"/>
            </a:spcAft>
            <a:buChar char="•"/>
          </a:pPr>
          <a:r>
            <a:rPr lang="en-US" sz="1500" kern="1200"/>
            <a:t>Try tree ensembles (Random Forest / Gradient Boosting)</a:t>
          </a:r>
        </a:p>
        <a:p>
          <a:pPr marL="114300" lvl="1" indent="-114300" algn="l" defTabSz="666750">
            <a:lnSpc>
              <a:spcPct val="90000"/>
            </a:lnSpc>
            <a:spcBef>
              <a:spcPct val="0"/>
            </a:spcBef>
            <a:spcAft>
              <a:spcPct val="15000"/>
            </a:spcAft>
            <a:buChar char="•"/>
          </a:pPr>
          <a:r>
            <a:rPr lang="en-US" sz="1500" kern="1200"/>
            <a:t>Threshold tuning for business objectives</a:t>
          </a:r>
        </a:p>
        <a:p>
          <a:pPr marL="114300" lvl="1" indent="-114300" algn="l" defTabSz="666750">
            <a:lnSpc>
              <a:spcPct val="90000"/>
            </a:lnSpc>
            <a:spcBef>
              <a:spcPct val="0"/>
            </a:spcBef>
            <a:spcAft>
              <a:spcPct val="15000"/>
            </a:spcAft>
            <a:buChar char="•"/>
          </a:pPr>
          <a:r>
            <a:rPr lang="en-US" sz="1500" kern="1200"/>
            <a:t>Deeper cluster interpretation with campaign strategy</a:t>
          </a:r>
        </a:p>
      </dsp:txBody>
      <dsp:txXfrm rot="-5400000">
        <a:off x="3785616" y="3141918"/>
        <a:ext cx="6675221" cy="1012303"/>
      </dsp:txXfrm>
    </dsp:sp>
    <dsp:sp modelId="{0156BA45-45BC-4A71-82EE-7AE76CA341D3}">
      <dsp:nvSpPr>
        <dsp:cNvPr id="0" name=""/>
        <dsp:cNvSpPr/>
      </dsp:nvSpPr>
      <dsp:spPr>
        <a:xfrm>
          <a:off x="0" y="2946926"/>
          <a:ext cx="3785616" cy="1402286"/>
        </a:xfrm>
        <a:prstGeom prst="roundRec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93345" rIns="186690" bIns="93345" numCol="1" spcCol="1270" anchor="ctr" anchorCtr="0">
          <a:noAutofit/>
        </a:bodyPr>
        <a:lstStyle/>
        <a:p>
          <a:pPr marL="0" lvl="0" indent="0" algn="ctr" defTabSz="2178050">
            <a:lnSpc>
              <a:spcPct val="90000"/>
            </a:lnSpc>
            <a:spcBef>
              <a:spcPct val="0"/>
            </a:spcBef>
            <a:spcAft>
              <a:spcPct val="35000"/>
            </a:spcAft>
            <a:buNone/>
          </a:pPr>
          <a:r>
            <a:rPr lang="en-US" sz="4900" kern="1200"/>
            <a:t>Next steps:</a:t>
          </a:r>
        </a:p>
      </dsp:txBody>
      <dsp:txXfrm>
        <a:off x="68454" y="3015380"/>
        <a:ext cx="3648708" cy="1265378"/>
      </dsp:txXfrm>
    </dsp:sp>
  </dsp:spTree>
</dsp:drawing>
</file>

<file path=ppt/diagrams/layout1.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52B11D-AD0C-4F6A-ADFA-229C868AC948}" type="datetimeFigureOut">
              <a:rPr lang="en-US" smtClean="0"/>
              <a:t>2/15/2026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98ECCF-9E82-4F7E-81A7-6B2B58A043FD}" type="slidenum">
              <a:rPr lang="en-US" smtClean="0"/>
              <a:t>‹#›</a:t>
            </a:fld>
            <a:endParaRPr lang="en-US"/>
          </a:p>
        </p:txBody>
      </p:sp>
    </p:spTree>
    <p:extLst>
      <p:ext uri="{BB962C8B-B14F-4D97-AF65-F5344CB8AC3E}">
        <p14:creationId xmlns:p14="http://schemas.microsoft.com/office/powerpoint/2010/main" val="1300873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I’m presenting our end-to-end analysis of the Bank Marketing dataset. I’ll walk through how we validated and cleaned the data, what we found during exploratory analysis, and how those insights flowed into modeling. Then I’ll summarize regression results, compare multiple classification models, explain clustering outcomes, and finish with association rule mining patterns. The goal is to show not only results, but also the reasoning behind preprocessing choices and how each step connects to practical business insights.</a:t>
            </a:r>
          </a:p>
        </p:txBody>
      </p:sp>
      <p:sp>
        <p:nvSpPr>
          <p:cNvPr id="4" name="Slide Number Placeholder 3"/>
          <p:cNvSpPr>
            <a:spLocks noGrp="1"/>
          </p:cNvSpPr>
          <p:nvPr>
            <p:ph type="sldNum" sz="quarter" idx="5"/>
          </p:nvPr>
        </p:nvSpPr>
        <p:spPr/>
        <p:txBody>
          <a:bodyPr/>
          <a:lstStyle/>
          <a:p>
            <a:fld id="{9398ECCF-9E82-4F7E-81A7-6B2B58A043FD}" type="slidenum">
              <a:rPr lang="en-US" smtClean="0"/>
              <a:t>1</a:t>
            </a:fld>
            <a:endParaRPr lang="en-US"/>
          </a:p>
        </p:txBody>
      </p:sp>
    </p:spTree>
    <p:extLst>
      <p:ext uri="{BB962C8B-B14F-4D97-AF65-F5344CB8AC3E}">
        <p14:creationId xmlns:p14="http://schemas.microsoft.com/office/powerpoint/2010/main" val="33783056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the same structure as our notebooks. First, I’ll cover how we checked dataset quality, handled special missing-value encodings like “unknown” and sentinel values, and explored distributions and relationships. Next, I’ll explain our regression pipeline and why we engineered features like squared age and missingness indicators. After that, I’ll compare classification models, then show clustering selection and profiling, and finally share association rules that highlight meaningful customer patterns. I’ll close with the biggest takeaways and what we’d improve next.</a:t>
            </a:r>
          </a:p>
        </p:txBody>
      </p:sp>
      <p:sp>
        <p:nvSpPr>
          <p:cNvPr id="4" name="Slide Number Placeholder 3"/>
          <p:cNvSpPr>
            <a:spLocks noGrp="1"/>
          </p:cNvSpPr>
          <p:nvPr>
            <p:ph type="sldNum" sz="quarter" idx="5"/>
          </p:nvPr>
        </p:nvSpPr>
        <p:spPr/>
        <p:txBody>
          <a:bodyPr/>
          <a:lstStyle/>
          <a:p>
            <a:fld id="{9398ECCF-9E82-4F7E-81A7-6B2B58A043FD}" type="slidenum">
              <a:rPr lang="en-US" smtClean="0"/>
              <a:t>2</a:t>
            </a:fld>
            <a:endParaRPr lang="en-US"/>
          </a:p>
        </p:txBody>
      </p:sp>
    </p:spTree>
    <p:extLst>
      <p:ext uri="{BB962C8B-B14F-4D97-AF65-F5344CB8AC3E}">
        <p14:creationId xmlns:p14="http://schemas.microsoft.com/office/powerpoint/2010/main" val="2365308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the Bank Marketing dataset with about 45 thousand customer contact records and a mix of numeric and categorical fields. The main target for classification and business interpretation is the subscription outcome, represented as y, encoded as 0 for “no” and 1 for “yes.” The dataset also includes fields that require careful handling—for example, some categorical fields use the literal value “unknown,” and </a:t>
            </a:r>
            <a:r>
              <a:rPr lang="en-US" dirty="0" err="1"/>
              <a:t>pdays</a:t>
            </a:r>
            <a:r>
              <a:rPr lang="en-US" dirty="0"/>
              <a:t> uses a sentinel meaning “not previously contacted.” These details matter because they can quietly distort models if treated like regular values.</a:t>
            </a:r>
          </a:p>
        </p:txBody>
      </p:sp>
      <p:sp>
        <p:nvSpPr>
          <p:cNvPr id="4" name="Slide Number Placeholder 3"/>
          <p:cNvSpPr>
            <a:spLocks noGrp="1"/>
          </p:cNvSpPr>
          <p:nvPr>
            <p:ph type="sldNum" sz="quarter" idx="5"/>
          </p:nvPr>
        </p:nvSpPr>
        <p:spPr/>
        <p:txBody>
          <a:bodyPr/>
          <a:lstStyle/>
          <a:p>
            <a:fld id="{9398ECCF-9E82-4F7E-81A7-6B2B58A043FD}" type="slidenum">
              <a:rPr lang="en-US" smtClean="0"/>
              <a:t>3</a:t>
            </a:fld>
            <a:endParaRPr lang="en-US"/>
          </a:p>
        </p:txBody>
      </p:sp>
    </p:spTree>
    <p:extLst>
      <p:ext uri="{BB962C8B-B14F-4D97-AF65-F5344CB8AC3E}">
        <p14:creationId xmlns:p14="http://schemas.microsoft.com/office/powerpoint/2010/main" val="31081042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doing any modeling, we validated the dataset structure and quality. We checked the schema, confirmed there were no true nulls in the raw file, and verified duplicates. The bigger issue wasn’t nulls—it was how missingness was represented. Some categorical fields store missing-like values as “unknown,” and </a:t>
            </a:r>
            <a:r>
              <a:rPr lang="en-US" dirty="0" err="1"/>
              <a:t>pdays</a:t>
            </a:r>
            <a:r>
              <a:rPr lang="en-US" dirty="0"/>
              <a:t> used -1 to represent “never contacted.” Instead of leaving those as normal values, we converted </a:t>
            </a:r>
            <a:r>
              <a:rPr lang="en-US" dirty="0" err="1"/>
              <a:t>pdays</a:t>
            </a:r>
            <a:r>
              <a:rPr lang="en-US" dirty="0"/>
              <a:t> -1 into missing and created an indicator called </a:t>
            </a:r>
            <a:r>
              <a:rPr lang="en-US" dirty="0" err="1"/>
              <a:t>prev_contacted</a:t>
            </a:r>
            <a:r>
              <a:rPr lang="en-US" dirty="0"/>
              <a:t>. We also added explicit unknown flags for relevant categorical fields so the model can learn from missingness patterns instead of being confused by them.</a:t>
            </a:r>
          </a:p>
        </p:txBody>
      </p:sp>
      <p:sp>
        <p:nvSpPr>
          <p:cNvPr id="4" name="Slide Number Placeholder 3"/>
          <p:cNvSpPr>
            <a:spLocks noGrp="1"/>
          </p:cNvSpPr>
          <p:nvPr>
            <p:ph type="sldNum" sz="quarter" idx="5"/>
          </p:nvPr>
        </p:nvSpPr>
        <p:spPr/>
        <p:txBody>
          <a:bodyPr/>
          <a:lstStyle/>
          <a:p>
            <a:fld id="{9398ECCF-9E82-4F7E-81A7-6B2B58A043FD}" type="slidenum">
              <a:rPr lang="en-US" smtClean="0"/>
              <a:t>4</a:t>
            </a:fld>
            <a:endParaRPr lang="en-US"/>
          </a:p>
        </p:txBody>
      </p:sp>
    </p:spTree>
    <p:extLst>
      <p:ext uri="{BB962C8B-B14F-4D97-AF65-F5344CB8AC3E}">
        <p14:creationId xmlns:p14="http://schemas.microsoft.com/office/powerpoint/2010/main" val="23380882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key observation early on is that the target is imbalanced—most customers did not subscribe, and a smaller portion did. This matters because simple accuracy can look high even if a model performs poorly on the “yes” class. That’s why later, especially for classification, we rely more on F1-score, recall, precision, and ROC-AUC rather than only accuracy. This imbalance also motivates using class weighting in some models to avoid under-predicting the minority class.</a:t>
            </a:r>
          </a:p>
        </p:txBody>
      </p:sp>
      <p:sp>
        <p:nvSpPr>
          <p:cNvPr id="4" name="Slide Number Placeholder 3"/>
          <p:cNvSpPr>
            <a:spLocks noGrp="1"/>
          </p:cNvSpPr>
          <p:nvPr>
            <p:ph type="sldNum" sz="quarter" idx="5"/>
          </p:nvPr>
        </p:nvSpPr>
        <p:spPr/>
        <p:txBody>
          <a:bodyPr/>
          <a:lstStyle/>
          <a:p>
            <a:fld id="{9398ECCF-9E82-4F7E-81A7-6B2B58A043FD}" type="slidenum">
              <a:rPr lang="en-US" smtClean="0"/>
              <a:t>5</a:t>
            </a:fld>
            <a:endParaRPr lang="en-US"/>
          </a:p>
        </p:txBody>
      </p:sp>
    </p:spTree>
    <p:extLst>
      <p:ext uri="{BB962C8B-B14F-4D97-AF65-F5344CB8AC3E}">
        <p14:creationId xmlns:p14="http://schemas.microsoft.com/office/powerpoint/2010/main" val="17282044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reviewed numeric distributions to understand scale, skew, and potential outliers. Some features like age are fairly centered, while others—especially balance and duration—show heavy skew and long tails. Campaign-related variables also have most values clustered low with a small number of extreme cases. These shapes matter for modeling because they affect how algorithms interpret distances and how sensitive models are to outliers. This is one reason we later standardize numeric features and also visualize outliers explicitly.</a:t>
            </a:r>
          </a:p>
        </p:txBody>
      </p:sp>
      <p:sp>
        <p:nvSpPr>
          <p:cNvPr id="4" name="Slide Number Placeholder 3"/>
          <p:cNvSpPr>
            <a:spLocks noGrp="1"/>
          </p:cNvSpPr>
          <p:nvPr>
            <p:ph type="sldNum" sz="quarter" idx="5"/>
          </p:nvPr>
        </p:nvSpPr>
        <p:spPr/>
        <p:txBody>
          <a:bodyPr/>
          <a:lstStyle/>
          <a:p>
            <a:fld id="{9398ECCF-9E82-4F7E-81A7-6B2B58A043FD}" type="slidenum">
              <a:rPr lang="en-US" smtClean="0"/>
              <a:t>6</a:t>
            </a:fld>
            <a:endParaRPr lang="en-US"/>
          </a:p>
        </p:txBody>
      </p:sp>
    </p:spTree>
    <p:extLst>
      <p:ext uri="{BB962C8B-B14F-4D97-AF65-F5344CB8AC3E}">
        <p14:creationId xmlns:p14="http://schemas.microsoft.com/office/powerpoint/2010/main" val="35928519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highlights two things: outliers and category composition. The outlier boxplots show that a few customers have extreme values in balance and duration, and campaign variables have occasional spikes. On the categorical side, we can see which segments dominate—like common job groups, education levels, and contact types—and we also see where “unknown” appears frequently. This matters because “unknown” isn’t just noise; it can capture operational realities like incomplete records or unreachable contact channels, so we preserved it as an explicit signal using unknown flags.</a:t>
            </a:r>
          </a:p>
        </p:txBody>
      </p:sp>
      <p:sp>
        <p:nvSpPr>
          <p:cNvPr id="4" name="Slide Number Placeholder 3"/>
          <p:cNvSpPr>
            <a:spLocks noGrp="1"/>
          </p:cNvSpPr>
          <p:nvPr>
            <p:ph type="sldNum" sz="quarter" idx="5"/>
          </p:nvPr>
        </p:nvSpPr>
        <p:spPr/>
        <p:txBody>
          <a:bodyPr/>
          <a:lstStyle/>
          <a:p>
            <a:fld id="{9398ECCF-9E82-4F7E-81A7-6B2B58A043FD}" type="slidenum">
              <a:rPr lang="en-US" smtClean="0"/>
              <a:t>7</a:t>
            </a:fld>
            <a:endParaRPr lang="en-US"/>
          </a:p>
        </p:txBody>
      </p:sp>
    </p:spTree>
    <p:extLst>
      <p:ext uri="{BB962C8B-B14F-4D97-AF65-F5344CB8AC3E}">
        <p14:creationId xmlns:p14="http://schemas.microsoft.com/office/powerpoint/2010/main" val="16219988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connect features to the subscription outcome. The numeric-by-target plots show how distributions shift between y=0 and y=1, which hints at predictive value. The subscription-rate charts make this more interpretable by showing conversion probability across categories like job or contact type, compared against the baseline conversion rate. Finally, the correlation heatmap gives a quick numeric-only view of relationships, mainly to spot obvious redundancy or potential leakage risks. The overall goal of these visuals is to move from “what’s in the data” to “what seems to matter for predicting subscription.”</a:t>
            </a:r>
          </a:p>
        </p:txBody>
      </p:sp>
      <p:sp>
        <p:nvSpPr>
          <p:cNvPr id="4" name="Slide Number Placeholder 3"/>
          <p:cNvSpPr>
            <a:spLocks noGrp="1"/>
          </p:cNvSpPr>
          <p:nvPr>
            <p:ph type="sldNum" sz="quarter" idx="5"/>
          </p:nvPr>
        </p:nvSpPr>
        <p:spPr/>
        <p:txBody>
          <a:bodyPr/>
          <a:lstStyle/>
          <a:p>
            <a:fld id="{9398ECCF-9E82-4F7E-81A7-6B2B58A043FD}" type="slidenum">
              <a:rPr lang="en-US" smtClean="0"/>
              <a:t>8</a:t>
            </a:fld>
            <a:endParaRPr lang="en-US"/>
          </a:p>
        </p:txBody>
      </p:sp>
    </p:spTree>
    <p:extLst>
      <p:ext uri="{BB962C8B-B14F-4D97-AF65-F5344CB8AC3E}">
        <p14:creationId xmlns:p14="http://schemas.microsoft.com/office/powerpoint/2010/main" val="2276886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regression deliverable, the notebook predicts age as a continuous target and compares linear models. We engineered features like age squared to represent nonlinear effects, and we handled </a:t>
            </a:r>
            <a:r>
              <a:rPr lang="en-US" dirty="0" err="1"/>
              <a:t>pdays</a:t>
            </a:r>
            <a:r>
              <a:rPr lang="en-US" dirty="0"/>
              <a:t> carefully by creating a missingness flag and a filled version so the model can treat “never contacted” differently from true numeric values. We also created a campaign-per-previous feature to capture campaign intensity relative to prior interactions. To keep the workflow consistent and reproducible, we used a preprocessing pipeline: numeric features were imputed and standardized, and categorical features were imputed and one-hot encoded. Then we trained and compared Linear Regression, Ridge, and Lasso.</a:t>
            </a:r>
          </a:p>
        </p:txBody>
      </p:sp>
      <p:sp>
        <p:nvSpPr>
          <p:cNvPr id="4" name="Slide Number Placeholder 3"/>
          <p:cNvSpPr>
            <a:spLocks noGrp="1"/>
          </p:cNvSpPr>
          <p:nvPr>
            <p:ph type="sldNum" sz="quarter" idx="5"/>
          </p:nvPr>
        </p:nvSpPr>
        <p:spPr/>
        <p:txBody>
          <a:bodyPr/>
          <a:lstStyle/>
          <a:p>
            <a:fld id="{9398ECCF-9E82-4F7E-81A7-6B2B58A043FD}" type="slidenum">
              <a:rPr lang="en-US" smtClean="0"/>
              <a:t>9</a:t>
            </a:fld>
            <a:endParaRPr lang="en-US"/>
          </a:p>
        </p:txBody>
      </p:sp>
    </p:spTree>
    <p:extLst>
      <p:ext uri="{BB962C8B-B14F-4D97-AF65-F5344CB8AC3E}">
        <p14:creationId xmlns:p14="http://schemas.microsoft.com/office/powerpoint/2010/main" val="936088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results are very consistent across all three linear approaches. Ridge slightly edges the others, but practically, the differences are minimal. The model explains about 98 percent of the variance in age with an RMSE around 1.46, which indicates predictions are typically within about one and a half years of the true value. The performance report visualization combines a comparison of RMSE and R-squared across models, along with an actual-versus-predicted plot and residual distribution. This gives us confidence that the pipeline is stable and that regularization doesn’t drastically change outcomes for this setup.</a:t>
            </a:r>
          </a:p>
        </p:txBody>
      </p:sp>
      <p:sp>
        <p:nvSpPr>
          <p:cNvPr id="4" name="Slide Number Placeholder 3"/>
          <p:cNvSpPr>
            <a:spLocks noGrp="1"/>
          </p:cNvSpPr>
          <p:nvPr>
            <p:ph type="sldNum" sz="quarter" idx="5"/>
          </p:nvPr>
        </p:nvSpPr>
        <p:spPr/>
        <p:txBody>
          <a:bodyPr/>
          <a:lstStyle/>
          <a:p>
            <a:fld id="{9398ECCF-9E82-4F7E-81A7-6B2B58A043FD}" type="slidenum">
              <a:rPr lang="en-US" smtClean="0"/>
              <a:t>10</a:t>
            </a:fld>
            <a:endParaRPr lang="en-US"/>
          </a:p>
        </p:txBody>
      </p:sp>
    </p:spTree>
    <p:extLst>
      <p:ext uri="{BB962C8B-B14F-4D97-AF65-F5344CB8AC3E}">
        <p14:creationId xmlns:p14="http://schemas.microsoft.com/office/powerpoint/2010/main" val="42509776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classification, we compared multiple models and focused on metrics that matter for imbalanced outcomes. Accuracy alone can be misleading, so we emphasized F1-score, precision, recall, and ROC-AUC. We trained baseline Logistic Regression, Decision Tree, and Linear SVM models using the same preprocessing pipeline. Then we tuned the SVM using grid search and selected C equals 0.5 based on cross-validated F1. The visuals here show the overall metric comparison and the tuned SVM’s confusion matrix and curves. The tuned model improves our balance between catching “yes” cases and limiting false positives, which is exactly the tradeoff we need in a marketing subscription context.</a:t>
            </a:r>
          </a:p>
          <a:p>
            <a:endParaRPr lang="en-US" dirty="0"/>
          </a:p>
        </p:txBody>
      </p:sp>
      <p:sp>
        <p:nvSpPr>
          <p:cNvPr id="4" name="Slide Number Placeholder 3"/>
          <p:cNvSpPr>
            <a:spLocks noGrp="1"/>
          </p:cNvSpPr>
          <p:nvPr>
            <p:ph type="sldNum" sz="quarter" idx="5"/>
          </p:nvPr>
        </p:nvSpPr>
        <p:spPr/>
        <p:txBody>
          <a:bodyPr/>
          <a:lstStyle/>
          <a:p>
            <a:fld id="{9398ECCF-9E82-4F7E-81A7-6B2B58A043FD}" type="slidenum">
              <a:rPr lang="en-US" smtClean="0"/>
              <a:t>11</a:t>
            </a:fld>
            <a:endParaRPr lang="en-US"/>
          </a:p>
        </p:txBody>
      </p:sp>
    </p:spTree>
    <p:extLst>
      <p:ext uri="{BB962C8B-B14F-4D97-AF65-F5344CB8AC3E}">
        <p14:creationId xmlns:p14="http://schemas.microsoft.com/office/powerpoint/2010/main" val="3888109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Clustering becomes useful when we can describe what each cluster represents. The two clusters are not evenly sized, which suggests one segment is the majority customer pattern and the other is a distinct minority segment. When we profile numeric averages, we see meaningful differences—for example, one cluster has much higher previous contacts and meaningful </a:t>
            </a:r>
            <a:r>
              <a:rPr lang="en-US" dirty="0" err="1"/>
              <a:t>pdays</a:t>
            </a:r>
            <a:r>
              <a:rPr lang="en-US" dirty="0"/>
              <a:t> values, while the other appears more like customers with little to no prior contact history. The categorical breakdowns add interpretability, showing which job or demographic groups are most common in each cluster. This kind of profiling is what turns clustering from a math result into an actionable segmentation story.</a:t>
            </a:r>
          </a:p>
        </p:txBody>
      </p:sp>
      <p:sp>
        <p:nvSpPr>
          <p:cNvPr id="4" name="Slide Number Placeholder 3"/>
          <p:cNvSpPr>
            <a:spLocks noGrp="1"/>
          </p:cNvSpPr>
          <p:nvPr>
            <p:ph type="sldNum" sz="quarter" idx="5"/>
          </p:nvPr>
        </p:nvSpPr>
        <p:spPr/>
        <p:txBody>
          <a:bodyPr/>
          <a:lstStyle/>
          <a:p>
            <a:fld id="{9398ECCF-9E82-4F7E-81A7-6B2B58A043FD}" type="slidenum">
              <a:rPr lang="en-US" smtClean="0"/>
              <a:t>13</a:t>
            </a:fld>
            <a:endParaRPr lang="en-US"/>
          </a:p>
        </p:txBody>
      </p:sp>
    </p:spTree>
    <p:extLst>
      <p:ext uri="{BB962C8B-B14F-4D97-AF65-F5344CB8AC3E}">
        <p14:creationId xmlns:p14="http://schemas.microsoft.com/office/powerpoint/2010/main" val="1258056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used association rule mining to uncover common patterns among customers who actually subscribed, meaning we restricted transactions to y equals 1. We converted each row into interpretable items such as job equals a value, housing equals yes or no, and binned numeric features like age into ranges. Then we ran </a:t>
            </a:r>
            <a:r>
              <a:rPr lang="en-US" dirty="0" err="1"/>
              <a:t>Apriori</a:t>
            </a:r>
            <a:r>
              <a:rPr lang="en-US" dirty="0"/>
              <a:t> using a minimum support of five percent and limited pattern length to keep results readable. After generating rules, we filtered to higher-confidence rules to reduce noise. The rules don’t say “cause,” but they do highlight frequent combinations that can help marketing teams understand which profiles tend to appear together among successful conversions.</a:t>
            </a:r>
          </a:p>
        </p:txBody>
      </p:sp>
      <p:sp>
        <p:nvSpPr>
          <p:cNvPr id="4" name="Slide Number Placeholder 3"/>
          <p:cNvSpPr>
            <a:spLocks noGrp="1"/>
          </p:cNvSpPr>
          <p:nvPr>
            <p:ph type="sldNum" sz="quarter" idx="5"/>
          </p:nvPr>
        </p:nvSpPr>
        <p:spPr/>
        <p:txBody>
          <a:bodyPr/>
          <a:lstStyle/>
          <a:p>
            <a:fld id="{9398ECCF-9E82-4F7E-81A7-6B2B58A043FD}" type="slidenum">
              <a:rPr lang="en-US" smtClean="0"/>
              <a:t>14</a:t>
            </a:fld>
            <a:endParaRPr lang="en-US"/>
          </a:p>
        </p:txBody>
      </p:sp>
    </p:spTree>
    <p:extLst>
      <p:ext uri="{BB962C8B-B14F-4D97-AF65-F5344CB8AC3E}">
        <p14:creationId xmlns:p14="http://schemas.microsoft.com/office/powerpoint/2010/main" val="3102851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dataset required careful handling of encoded missingness, especially “unknown” categories and the special meaning of </a:t>
            </a:r>
            <a:r>
              <a:rPr lang="en-US" dirty="0" err="1"/>
              <a:t>pdays</a:t>
            </a:r>
            <a:r>
              <a:rPr lang="en-US" dirty="0"/>
              <a:t>. The target imbalance pushed us to evaluate models with metrics like F1 and ROC-AUC rather than relying on accuracy. For classification, the tuned linear SVM produced the strongest balance of performance for identifying subscribers. Clustering suggested two major customer segments, especially separated by previous-contact behavior. Association rules added another layer by showing frequent item combinations among positive outcomes. The main challenges were making preprocessing choices explicit and keeping visualizations interpretable despite skew and outliers. Next, we would test stronger nonlinear models, tune decision thresholds for business priorities, and connect cluster profiles to targeted marketing actions.</a:t>
            </a:r>
          </a:p>
        </p:txBody>
      </p:sp>
      <p:sp>
        <p:nvSpPr>
          <p:cNvPr id="4" name="Slide Number Placeholder 3"/>
          <p:cNvSpPr>
            <a:spLocks noGrp="1"/>
          </p:cNvSpPr>
          <p:nvPr>
            <p:ph type="sldNum" sz="quarter" idx="5"/>
          </p:nvPr>
        </p:nvSpPr>
        <p:spPr/>
        <p:txBody>
          <a:bodyPr/>
          <a:lstStyle/>
          <a:p>
            <a:fld id="{9398ECCF-9E82-4F7E-81A7-6B2B58A043FD}" type="slidenum">
              <a:rPr lang="en-US" smtClean="0"/>
              <a:t>15</a:t>
            </a:fld>
            <a:endParaRPr lang="en-US"/>
          </a:p>
        </p:txBody>
      </p:sp>
    </p:spTree>
    <p:extLst>
      <p:ext uri="{BB962C8B-B14F-4D97-AF65-F5344CB8AC3E}">
        <p14:creationId xmlns:p14="http://schemas.microsoft.com/office/powerpoint/2010/main" val="1761442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D83E4-DD31-35CC-3F8E-FD5A5B0342D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462566-2F21-9997-B8DA-6B40F7A1ED9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86D3BB-DE0C-E9D6-615F-C9865A8957DF}"/>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5" name="Footer Placeholder 4">
            <a:extLst>
              <a:ext uri="{FF2B5EF4-FFF2-40B4-BE49-F238E27FC236}">
                <a16:creationId xmlns:a16="http://schemas.microsoft.com/office/drawing/2014/main" id="{0104268D-B5F2-D358-CB7C-8D657BE319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61E25B-6630-0978-A6C8-E6548158F33A}"/>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2642160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3333D-20D7-32EA-38A3-7F954030F5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EC95ED-CC6F-F833-091E-7D0DA99ED97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E45230-8FB5-D50F-911E-4A5B80ECB4B7}"/>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5" name="Footer Placeholder 4">
            <a:extLst>
              <a:ext uri="{FF2B5EF4-FFF2-40B4-BE49-F238E27FC236}">
                <a16:creationId xmlns:a16="http://schemas.microsoft.com/office/drawing/2014/main" id="{BCBA2178-5D9B-85B5-8F3A-C2E2144F97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FD8F18-7733-506C-D35F-E62885DB39D4}"/>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16642076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AE7AD-9401-101D-AA98-0819E88661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FB94CB-F3EA-42C2-1B28-DE2F25123D8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52F145-4F0E-C71E-AE2B-6013F491F336}"/>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5" name="Footer Placeholder 4">
            <a:extLst>
              <a:ext uri="{FF2B5EF4-FFF2-40B4-BE49-F238E27FC236}">
                <a16:creationId xmlns:a16="http://schemas.microsoft.com/office/drawing/2014/main" id="{46F1DB17-63BF-27DF-288D-F51B0F1917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A310C0-945C-895B-1CD0-073019208BD4}"/>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7317391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6FDD7-397D-66C6-4D16-44D8E8257F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9595C3-E168-6C17-BC61-49461A33E4D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472BEE0-E82C-7F25-BC46-D897D9570F6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BFEEDA-EB79-034B-D3B7-69C33BC156FF}"/>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6" name="Footer Placeholder 5">
            <a:extLst>
              <a:ext uri="{FF2B5EF4-FFF2-40B4-BE49-F238E27FC236}">
                <a16:creationId xmlns:a16="http://schemas.microsoft.com/office/drawing/2014/main" id="{A613E5A9-3FB0-7AEF-DE5E-6E4CBEF77A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B17E91-A62F-77A6-6E11-1D704F849965}"/>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36602256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151F6-7B22-CD55-EE1A-1CD01194C44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7C63DBE-A63D-B65C-7BD1-34A56E74ED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4F275D-3C12-555B-D6F2-7E3A96EB160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68630C5-ECCE-9A30-F1AE-59DF1BBE321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A9D6285-08A7-0E20-D531-EBFCA98880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F0BE865-8D7B-B534-2A34-3122409E8AF7}"/>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8" name="Footer Placeholder 7">
            <a:extLst>
              <a:ext uri="{FF2B5EF4-FFF2-40B4-BE49-F238E27FC236}">
                <a16:creationId xmlns:a16="http://schemas.microsoft.com/office/drawing/2014/main" id="{219A22E3-852D-164F-CD67-5E364A4AF0E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D1D8E19-0508-F2D6-960A-41D2384F9A57}"/>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107767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208A9-6050-33C1-9B03-55AB78024E0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DFD19D9-1B58-D4DC-8C3C-CF708C0E941D}"/>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4" name="Footer Placeholder 3">
            <a:extLst>
              <a:ext uri="{FF2B5EF4-FFF2-40B4-BE49-F238E27FC236}">
                <a16:creationId xmlns:a16="http://schemas.microsoft.com/office/drawing/2014/main" id="{7DE4179E-09D4-3785-4FD5-C5B293E7C7F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A4C50B4-8A86-1684-E4C3-B534FEAA5B6B}"/>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27994734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2C7776F-3CBF-A990-D02D-87506992CDA5}"/>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3" name="Footer Placeholder 2">
            <a:extLst>
              <a:ext uri="{FF2B5EF4-FFF2-40B4-BE49-F238E27FC236}">
                <a16:creationId xmlns:a16="http://schemas.microsoft.com/office/drawing/2014/main" id="{376DB48E-694E-45D0-DAD3-F733A791E0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4E0D9FD-2EBF-7FED-652C-A2F46FA30C1A}"/>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1905203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C53AC-A9B5-E716-1CBF-BAF874ED80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F4E4C05-8590-B41B-8457-30FC4B4C48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E7D760A-AC48-7A2E-A154-D5E0EDD2A8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4671FB0-11AB-1AF5-4261-8FEDDD55E7BD}"/>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6" name="Footer Placeholder 5">
            <a:extLst>
              <a:ext uri="{FF2B5EF4-FFF2-40B4-BE49-F238E27FC236}">
                <a16:creationId xmlns:a16="http://schemas.microsoft.com/office/drawing/2014/main" id="{8E8D73F9-161C-0296-7BE7-4800206EEE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4DA723-9D69-7153-E4CD-4EDB91B84049}"/>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24452195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BF1625-D804-E831-531E-C49851CCE1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6FD4A1E-1BAC-5CDD-A513-5CE0CF03EB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CED8B1F-BA87-8C32-4319-C2749D1F427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C227E6-B916-97BF-C117-C5ADF8169FAE}"/>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6" name="Footer Placeholder 5">
            <a:extLst>
              <a:ext uri="{FF2B5EF4-FFF2-40B4-BE49-F238E27FC236}">
                <a16:creationId xmlns:a16="http://schemas.microsoft.com/office/drawing/2014/main" id="{3780C576-5662-B5A3-0474-C332209B62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0DF919-8922-3150-FCA4-5F39C03E363D}"/>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22275147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03FFC8-A750-F789-ECF1-010CBE8B6F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A8D073-4591-62E1-8D4C-4E257943B8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663715-AFFD-CD4D-832D-2BFFB703121B}"/>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5" name="Footer Placeholder 4">
            <a:extLst>
              <a:ext uri="{FF2B5EF4-FFF2-40B4-BE49-F238E27FC236}">
                <a16:creationId xmlns:a16="http://schemas.microsoft.com/office/drawing/2014/main" id="{BD71F744-3CBF-603E-BF36-DA037CA187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4DD2C7-E6ED-13FE-3E11-5E5F0692385B}"/>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2873620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DFA5F7-4F16-C653-9F75-95B29A3636C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653EEAE-279B-AC53-F87F-888D770F68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76B916-A0F7-B9C6-41CB-8FC55F90D33F}"/>
              </a:ext>
            </a:extLst>
          </p:cNvPr>
          <p:cNvSpPr>
            <a:spLocks noGrp="1"/>
          </p:cNvSpPr>
          <p:nvPr>
            <p:ph type="dt" sz="half" idx="10"/>
          </p:nvPr>
        </p:nvSpPr>
        <p:spPr/>
        <p:txBody>
          <a:bodyPr/>
          <a:lstStyle/>
          <a:p>
            <a:fld id="{2F6A8904-B0B0-4102-837A-D2C8819AB1E4}" type="datetimeFigureOut">
              <a:rPr lang="en-US" smtClean="0"/>
              <a:t>2/15/2026</a:t>
            </a:fld>
            <a:endParaRPr lang="en-US"/>
          </a:p>
        </p:txBody>
      </p:sp>
      <p:sp>
        <p:nvSpPr>
          <p:cNvPr id="5" name="Footer Placeholder 4">
            <a:extLst>
              <a:ext uri="{FF2B5EF4-FFF2-40B4-BE49-F238E27FC236}">
                <a16:creationId xmlns:a16="http://schemas.microsoft.com/office/drawing/2014/main" id="{123348EB-2CF4-89EE-5A5D-9BA1CC372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DA2B0B-AF65-8771-C534-3ED86EE4A720}"/>
              </a:ext>
            </a:extLst>
          </p:cNvPr>
          <p:cNvSpPr>
            <a:spLocks noGrp="1"/>
          </p:cNvSpPr>
          <p:nvPr>
            <p:ph type="sldNum" sz="quarter" idx="12"/>
          </p:nvPr>
        </p:nvSpPr>
        <p:spPr/>
        <p:txBody>
          <a:bodyPr/>
          <a:lstStyle/>
          <a:p>
            <a:fld id="{5517FDB1-0EBA-4710-B48C-17486E2D8726}" type="slidenum">
              <a:rPr lang="en-US" smtClean="0"/>
              <a:t>‹#›</a:t>
            </a:fld>
            <a:endParaRPr lang="en-US"/>
          </a:p>
        </p:txBody>
      </p:sp>
    </p:spTree>
    <p:extLst>
      <p:ext uri="{BB962C8B-B14F-4D97-AF65-F5344CB8AC3E}">
        <p14:creationId xmlns:p14="http://schemas.microsoft.com/office/powerpoint/2010/main" val="176261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150A6D2-061A-4F73-5CD8-8F2B7A1B86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7EE736-108E-5302-540C-B854886217D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8399A2-2831-4C11-C7D1-E5E9EA7914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F6A8904-B0B0-4102-837A-D2C8819AB1E4}" type="datetimeFigureOut">
              <a:rPr lang="en-US" smtClean="0"/>
              <a:t>2/15/2026</a:t>
            </a:fld>
            <a:endParaRPr lang="en-US"/>
          </a:p>
        </p:txBody>
      </p:sp>
      <p:sp>
        <p:nvSpPr>
          <p:cNvPr id="5" name="Footer Placeholder 4">
            <a:extLst>
              <a:ext uri="{FF2B5EF4-FFF2-40B4-BE49-F238E27FC236}">
                <a16:creationId xmlns:a16="http://schemas.microsoft.com/office/drawing/2014/main" id="{3753416C-37CE-E8D3-A2F7-13A54CAB17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BA53004-449E-60AF-E5BA-009DE3086B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17FDB1-0EBA-4710-B48C-17486E2D8726}" type="slidenum">
              <a:rPr lang="en-US" smtClean="0"/>
              <a:t>‹#›</a:t>
            </a:fld>
            <a:endParaRPr lang="en-US"/>
          </a:p>
        </p:txBody>
      </p:sp>
    </p:spTree>
    <p:extLst>
      <p:ext uri="{BB962C8B-B14F-4D97-AF65-F5344CB8AC3E}">
        <p14:creationId xmlns:p14="http://schemas.microsoft.com/office/powerpoint/2010/main" val="2818952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slide" Target="slide8.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10.jpeg"/><Relationship Id="rId7" Type="http://schemas.openxmlformats.org/officeDocument/2006/relationships/diagramColors" Target="../diagrams/colors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1" name="Rectangle 10">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F2D7B1-0B62-5E15-B823-9E714D231810}"/>
              </a:ext>
            </a:extLst>
          </p:cNvPr>
          <p:cNvSpPr>
            <a:spLocks noGrp="1"/>
          </p:cNvSpPr>
          <p:nvPr>
            <p:ph type="ctrTitle"/>
          </p:nvPr>
        </p:nvSpPr>
        <p:spPr>
          <a:xfrm>
            <a:off x="761803" y="350196"/>
            <a:ext cx="4646904" cy="1624520"/>
          </a:xfrm>
        </p:spPr>
        <p:txBody>
          <a:bodyPr vert="horz" lIns="91440" tIns="45720" rIns="91440" bIns="45720" rtlCol="0" anchor="ctr">
            <a:normAutofit/>
          </a:bodyPr>
          <a:lstStyle/>
          <a:p>
            <a:pPr algn="l"/>
            <a:r>
              <a:rPr lang="en-US" sz="2500" b="1" dirty="0"/>
              <a:t>Bank Marketing Dataset: EDA, Regression, Classification, Clustering &amp; Pattern Mining</a:t>
            </a:r>
            <a:endParaRPr lang="en-US" sz="2500" dirty="0"/>
          </a:p>
        </p:txBody>
      </p:sp>
      <p:sp>
        <p:nvSpPr>
          <p:cNvPr id="3" name="Subtitle 2">
            <a:extLst>
              <a:ext uri="{FF2B5EF4-FFF2-40B4-BE49-F238E27FC236}">
                <a16:creationId xmlns:a16="http://schemas.microsoft.com/office/drawing/2014/main" id="{EC728650-9F24-CA48-E557-AC74429A592F}"/>
              </a:ext>
            </a:extLst>
          </p:cNvPr>
          <p:cNvSpPr>
            <a:spLocks noGrp="1"/>
          </p:cNvSpPr>
          <p:nvPr>
            <p:ph type="subTitle" idx="1"/>
          </p:nvPr>
        </p:nvSpPr>
        <p:spPr>
          <a:xfrm>
            <a:off x="761802" y="2743200"/>
            <a:ext cx="4646905" cy="3613149"/>
          </a:xfrm>
        </p:spPr>
        <p:txBody>
          <a:bodyPr vert="horz" lIns="91440" tIns="45720" rIns="91440" bIns="45720" rtlCol="0" anchor="ctr">
            <a:normAutofit fontScale="92500" lnSpcReduction="10000"/>
          </a:bodyPr>
          <a:lstStyle/>
          <a:p>
            <a:pPr algn="l"/>
            <a:r>
              <a:rPr lang="en-US" sz="2000" b="1" dirty="0"/>
              <a:t>University of the Cumberlands</a:t>
            </a:r>
          </a:p>
          <a:p>
            <a:pPr algn="l"/>
            <a:r>
              <a:rPr lang="en-US" sz="2000" b="1" dirty="0"/>
              <a:t>Advanced Big Data and Data Mining </a:t>
            </a:r>
          </a:p>
          <a:p>
            <a:pPr algn="l"/>
            <a:r>
              <a:rPr lang="en-US" sz="2000" b="1" dirty="0"/>
              <a:t>Instructor: Dr. Satish </a:t>
            </a:r>
            <a:r>
              <a:rPr lang="en-US" sz="2000" b="1" dirty="0" err="1"/>
              <a:t>Penmatsa</a:t>
            </a:r>
            <a:endParaRPr lang="en-US" sz="2000" b="1" dirty="0"/>
          </a:p>
          <a:p>
            <a:pPr algn="l"/>
            <a:r>
              <a:rPr lang="en-US" sz="2000" b="1" dirty="0"/>
              <a:t>Group Members : </a:t>
            </a:r>
          </a:p>
          <a:p>
            <a:pPr algn="l"/>
            <a:r>
              <a:rPr lang="en-US" sz="2000" b="1" dirty="0"/>
              <a:t>Suresh Ghimire</a:t>
            </a:r>
          </a:p>
          <a:p>
            <a:pPr algn="l"/>
            <a:r>
              <a:rPr lang="en-US" sz="2000" b="1" dirty="0"/>
              <a:t> Sagar </a:t>
            </a:r>
            <a:r>
              <a:rPr lang="en-US" sz="2000" b="1" dirty="0" err="1"/>
              <a:t>Bhetwal</a:t>
            </a:r>
            <a:endParaRPr lang="en-US" sz="2000" b="1" dirty="0"/>
          </a:p>
          <a:p>
            <a:pPr algn="l"/>
            <a:r>
              <a:rPr lang="en-US" sz="2000" b="1" dirty="0"/>
              <a:t>Nirajan Acharya</a:t>
            </a:r>
          </a:p>
          <a:p>
            <a:pPr algn="l"/>
            <a:r>
              <a:rPr lang="en-US" sz="2000" b="1" dirty="0"/>
              <a:t>Umesh Dhakal</a:t>
            </a:r>
          </a:p>
          <a:p>
            <a:pPr algn="l"/>
            <a:r>
              <a:rPr lang="en-US" sz="2000" b="1" dirty="0"/>
              <a:t> </a:t>
            </a:r>
            <a:r>
              <a:rPr lang="en-US" sz="2000" b="1" dirty="0" err="1"/>
              <a:t>Enjal</a:t>
            </a:r>
            <a:r>
              <a:rPr lang="en-US" sz="2000" b="1" dirty="0"/>
              <a:t> Chauhan</a:t>
            </a:r>
          </a:p>
          <a:p>
            <a:pPr algn="l"/>
            <a:r>
              <a:rPr lang="en-US" sz="2000" b="1" dirty="0"/>
              <a:t>Date: 15 February, 2026</a:t>
            </a:r>
          </a:p>
        </p:txBody>
      </p:sp>
      <p:pic>
        <p:nvPicPr>
          <p:cNvPr id="5" name="Picture 4" descr="Graph">
            <a:extLst>
              <a:ext uri="{FF2B5EF4-FFF2-40B4-BE49-F238E27FC236}">
                <a16:creationId xmlns:a16="http://schemas.microsoft.com/office/drawing/2014/main" id="{B85DB4AF-6505-D71B-B723-9F81FA6435D6}"/>
              </a:ext>
            </a:extLst>
          </p:cNvPr>
          <p:cNvPicPr>
            <a:picLocks noChangeAspect="1"/>
          </p:cNvPicPr>
          <p:nvPr/>
        </p:nvPicPr>
        <p:blipFill>
          <a:blip r:embed="rId3"/>
          <a:srcRect l="16558" r="27824"/>
          <a:stretch>
            <a:fillRect/>
          </a:stretch>
        </p:blipFill>
        <p:spPr>
          <a:xfrm>
            <a:off x="6096000" y="1"/>
            <a:ext cx="6102825" cy="6858000"/>
          </a:xfrm>
          <a:prstGeom prst="rect">
            <a:avLst/>
          </a:prstGeom>
        </p:spPr>
      </p:pic>
    </p:spTree>
    <p:extLst>
      <p:ext uri="{BB962C8B-B14F-4D97-AF65-F5344CB8AC3E}">
        <p14:creationId xmlns:p14="http://schemas.microsoft.com/office/powerpoint/2010/main" val="24980945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B0EF43-DB36-0840-8F14-46917C5CDCAD}"/>
              </a:ext>
            </a:extLst>
          </p:cNvPr>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Roadmap</a:t>
            </a:r>
          </a:p>
        </p:txBody>
      </p:sp>
      <p:graphicFrame>
        <p:nvGraphicFramePr>
          <p:cNvPr id="5" name="Content Placeholder 2">
            <a:extLst>
              <a:ext uri="{FF2B5EF4-FFF2-40B4-BE49-F238E27FC236}">
                <a16:creationId xmlns:a16="http://schemas.microsoft.com/office/drawing/2014/main" id="{5A59CAD3-0EF7-2CEA-F7EE-A5A428F23983}"/>
              </a:ext>
            </a:extLst>
          </p:cNvPr>
          <p:cNvGraphicFramePr>
            <a:graphicFrameLocks noGrp="1"/>
          </p:cNvGraphicFramePr>
          <p:nvPr>
            <p:ph idx="1"/>
            <p:extLst>
              <p:ext uri="{D42A27DB-BD31-4B8C-83A1-F6EECF244321}">
                <p14:modId xmlns:p14="http://schemas.microsoft.com/office/powerpoint/2010/main" val="374439462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5932632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CB49665F-0298-4449-8D2D-209989CB9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Color 2">
            <a:extLst>
              <a:ext uri="{FF2B5EF4-FFF2-40B4-BE49-F238E27FC236}">
                <a16:creationId xmlns:a16="http://schemas.microsoft.com/office/drawing/2014/main" id="{A71EEC14-174A-46FA-B046-474750457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3" name="Group 12">
            <a:extLst>
              <a:ext uri="{FF2B5EF4-FFF2-40B4-BE49-F238E27FC236}">
                <a16:creationId xmlns:a16="http://schemas.microsoft.com/office/drawing/2014/main" id="{EEB6CB95-E653-4C6C-AE51-62FD848E8D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89" y="-2"/>
            <a:ext cx="3468234" cy="6858000"/>
            <a:chOff x="651279" y="598259"/>
            <a:chExt cx="10889442" cy="5680742"/>
          </a:xfrm>
        </p:grpSpPr>
        <p:sp>
          <p:nvSpPr>
            <p:cNvPr id="14" name="Color">
              <a:extLst>
                <a:ext uri="{FF2B5EF4-FFF2-40B4-BE49-F238E27FC236}">
                  <a16:creationId xmlns:a16="http://schemas.microsoft.com/office/drawing/2014/main" id="{BDD3CB8E-ABA7-4F37-BB2C-64FFD19813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Color">
              <a:extLst>
                <a:ext uri="{FF2B5EF4-FFF2-40B4-BE49-F238E27FC236}">
                  <a16:creationId xmlns:a16="http://schemas.microsoft.com/office/drawing/2014/main" id="{C2CA788A-B2FD-494C-BED0-83E31F6DF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35C91ED-83D3-907E-25F6-89BB5A9A263D}"/>
              </a:ext>
            </a:extLst>
          </p:cNvPr>
          <p:cNvSpPr>
            <a:spLocks noGrp="1"/>
          </p:cNvSpPr>
          <p:nvPr>
            <p:ph type="title"/>
          </p:nvPr>
        </p:nvSpPr>
        <p:spPr>
          <a:xfrm rot="16200000">
            <a:off x="-1325880" y="1947672"/>
            <a:ext cx="5961888" cy="2788920"/>
          </a:xfrm>
        </p:spPr>
        <p:txBody>
          <a:bodyPr anchor="ctr">
            <a:normAutofit/>
          </a:bodyPr>
          <a:lstStyle/>
          <a:p>
            <a:r>
              <a:rPr lang="en-US" sz="4800">
                <a:solidFill>
                  <a:schemeClr val="bg1"/>
                </a:solidFill>
              </a:rPr>
              <a:t>Dataset Overview</a:t>
            </a:r>
          </a:p>
        </p:txBody>
      </p:sp>
      <p:graphicFrame>
        <p:nvGraphicFramePr>
          <p:cNvPr id="5" name="Content Placeholder 2">
            <a:extLst>
              <a:ext uri="{FF2B5EF4-FFF2-40B4-BE49-F238E27FC236}">
                <a16:creationId xmlns:a16="http://schemas.microsoft.com/office/drawing/2014/main" id="{13F4281D-3CD5-9456-4A9E-3E440BE8BA2D}"/>
              </a:ext>
            </a:extLst>
          </p:cNvPr>
          <p:cNvGraphicFramePr>
            <a:graphicFrameLocks noGrp="1"/>
          </p:cNvGraphicFramePr>
          <p:nvPr>
            <p:ph idx="1"/>
            <p:extLst>
              <p:ext uri="{D42A27DB-BD31-4B8C-83A1-F6EECF244321}">
                <p14:modId xmlns:p14="http://schemas.microsoft.com/office/powerpoint/2010/main" val="1313289995"/>
              </p:ext>
            </p:extLst>
          </p:nvPr>
        </p:nvGraphicFramePr>
        <p:xfrm>
          <a:off x="3794296" y="288758"/>
          <a:ext cx="7559504" cy="628529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98646338"/>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68A55F-7B32-44D8-AEE5-1AF4053265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DA6D0-918D-F84F-856C-C2B906C79187}"/>
              </a:ext>
            </a:extLst>
          </p:cNvPr>
          <p:cNvSpPr>
            <a:spLocks noGrp="1"/>
          </p:cNvSpPr>
          <p:nvPr>
            <p:ph type="title"/>
          </p:nvPr>
        </p:nvSpPr>
        <p:spPr>
          <a:xfrm>
            <a:off x="655320" y="429030"/>
            <a:ext cx="2834640" cy="5457589"/>
          </a:xfrm>
        </p:spPr>
        <p:txBody>
          <a:bodyPr anchor="ctr">
            <a:normAutofit/>
          </a:bodyPr>
          <a:lstStyle/>
          <a:p>
            <a:r>
              <a:rPr lang="en-US" sz="4000"/>
              <a:t>Data Validation &amp; Cleaning Decisions</a:t>
            </a:r>
          </a:p>
        </p:txBody>
      </p:sp>
      <p:sp>
        <p:nvSpPr>
          <p:cNvPr id="11" name="Rectangle 10">
            <a:extLst>
              <a:ext uri="{FF2B5EF4-FFF2-40B4-BE49-F238E27FC236}">
                <a16:creationId xmlns:a16="http://schemas.microsoft.com/office/drawing/2014/main" id="{CD1AAA2C-FBBE-42AA-B869-31D524B765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5320" y="6112341"/>
            <a:ext cx="10835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5F937BBF-9326-4230-AB1B-F1795E350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045208" y="4686084"/>
            <a:ext cx="54864" cy="2834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B2B7B8AE-0DEA-CE50-5FAC-D8DF13735FD2}"/>
              </a:ext>
            </a:extLst>
          </p:cNvPr>
          <p:cNvGraphicFramePr>
            <a:graphicFrameLocks noGrp="1"/>
          </p:cNvGraphicFramePr>
          <p:nvPr>
            <p:ph idx="1"/>
            <p:extLst>
              <p:ext uri="{D42A27DB-BD31-4B8C-83A1-F6EECF244321}">
                <p14:modId xmlns:p14="http://schemas.microsoft.com/office/powerpoint/2010/main" val="2652823350"/>
              </p:ext>
            </p:extLst>
          </p:nvPr>
        </p:nvGraphicFramePr>
        <p:xfrm>
          <a:off x="4041648" y="429030"/>
          <a:ext cx="7452360" cy="54597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07546030"/>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7F781D-D377-5B39-D05F-FA3339594515}"/>
              </a:ext>
            </a:extLst>
          </p:cNvPr>
          <p:cNvSpPr>
            <a:spLocks noGrp="1"/>
          </p:cNvSpPr>
          <p:nvPr>
            <p:ph type="title"/>
          </p:nvPr>
        </p:nvSpPr>
        <p:spPr>
          <a:xfrm>
            <a:off x="645064" y="525982"/>
            <a:ext cx="4282983" cy="1200361"/>
          </a:xfrm>
        </p:spPr>
        <p:txBody>
          <a:bodyPr anchor="b">
            <a:normAutofit/>
          </a:bodyPr>
          <a:lstStyle/>
          <a:p>
            <a:r>
              <a:rPr lang="en-US" sz="3600"/>
              <a:t>Target Balance (Class Imbalance)</a:t>
            </a:r>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77C34B5-2E41-2431-E16C-4DAF5580953E}"/>
              </a:ext>
            </a:extLst>
          </p:cNvPr>
          <p:cNvSpPr>
            <a:spLocks noGrp="1"/>
          </p:cNvSpPr>
          <p:nvPr>
            <p:ph idx="1"/>
          </p:nvPr>
        </p:nvSpPr>
        <p:spPr>
          <a:xfrm>
            <a:off x="645066" y="2031101"/>
            <a:ext cx="4282984" cy="3511943"/>
          </a:xfrm>
        </p:spPr>
        <p:txBody>
          <a:bodyPr anchor="ctr">
            <a:normAutofit/>
          </a:bodyPr>
          <a:lstStyle/>
          <a:p>
            <a:r>
              <a:rPr lang="en-US" sz="1800"/>
              <a:t>What to show:</a:t>
            </a:r>
          </a:p>
          <a:p>
            <a:pPr lvl="1"/>
            <a:r>
              <a:rPr lang="en-US" sz="1800"/>
              <a:t>Short explanation: subscription “yes” is minority</a:t>
            </a:r>
          </a:p>
          <a:p>
            <a:pPr lvl="1"/>
            <a:endParaRPr lang="en-US" sz="1800"/>
          </a:p>
          <a:p>
            <a:pPr lvl="1"/>
            <a:endParaRPr lang="en-US" sz="1800"/>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06CF1B9-F69F-DCDA-B0A9-1938FADB289D}"/>
              </a:ext>
            </a:extLst>
          </p:cNvPr>
          <p:cNvPicPr>
            <a:picLocks noChangeAspect="1"/>
          </p:cNvPicPr>
          <p:nvPr/>
        </p:nvPicPr>
        <p:blipFill>
          <a:blip r:embed="rId3"/>
          <a:stretch>
            <a:fillRect/>
          </a:stretch>
        </p:blipFill>
        <p:spPr>
          <a:xfrm>
            <a:off x="5987738" y="1286479"/>
            <a:ext cx="5628018" cy="4052172"/>
          </a:xfrm>
          <a:prstGeom prst="rect">
            <a:avLst/>
          </a:prstGeom>
        </p:spPr>
      </p:pic>
    </p:spTree>
    <p:extLst>
      <p:ext uri="{BB962C8B-B14F-4D97-AF65-F5344CB8AC3E}">
        <p14:creationId xmlns:p14="http://schemas.microsoft.com/office/powerpoint/2010/main" val="2211835540"/>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764DA-5CDE-A497-A5E1-FD6F98C9B333}"/>
              </a:ext>
            </a:extLst>
          </p:cNvPr>
          <p:cNvSpPr>
            <a:spLocks noGrp="1"/>
          </p:cNvSpPr>
          <p:nvPr>
            <p:ph type="title"/>
          </p:nvPr>
        </p:nvSpPr>
        <p:spPr/>
        <p:txBody>
          <a:bodyPr/>
          <a:lstStyle/>
          <a:p>
            <a:r>
              <a:rPr lang="en-US"/>
              <a:t>Numeric Feature Distributions</a:t>
            </a:r>
            <a:endParaRPr lang="en-US" dirty="0"/>
          </a:p>
        </p:txBody>
      </p:sp>
      <p:sp>
        <p:nvSpPr>
          <p:cNvPr id="3" name="Content Placeholder 2">
            <a:extLst>
              <a:ext uri="{FF2B5EF4-FFF2-40B4-BE49-F238E27FC236}">
                <a16:creationId xmlns:a16="http://schemas.microsoft.com/office/drawing/2014/main" id="{E931FCAB-1DC7-EABB-4BB7-E8466EE328CA}"/>
              </a:ext>
            </a:extLst>
          </p:cNvPr>
          <p:cNvSpPr>
            <a:spLocks noGrp="1"/>
          </p:cNvSpPr>
          <p:nvPr>
            <p:ph idx="1"/>
          </p:nvPr>
        </p:nvSpPr>
        <p:spPr/>
        <p:txBody>
          <a:bodyPr/>
          <a:lstStyle/>
          <a:p>
            <a:r>
              <a:rPr lang="en-US"/>
              <a:t>Brief callouts: skew and long tails (balance, duration, campaign)</a:t>
            </a:r>
            <a:endParaRPr lang="en-US" dirty="0"/>
          </a:p>
        </p:txBody>
      </p:sp>
      <p:pic>
        <p:nvPicPr>
          <p:cNvPr id="5" name="Picture 4">
            <a:extLst>
              <a:ext uri="{FF2B5EF4-FFF2-40B4-BE49-F238E27FC236}">
                <a16:creationId xmlns:a16="http://schemas.microsoft.com/office/drawing/2014/main" id="{78E3EB89-75F4-BBA1-EA22-3627F4130379}"/>
              </a:ext>
            </a:extLst>
          </p:cNvPr>
          <p:cNvPicPr>
            <a:picLocks noChangeAspect="1"/>
          </p:cNvPicPr>
          <p:nvPr/>
        </p:nvPicPr>
        <p:blipFill>
          <a:blip r:embed="rId3"/>
          <a:stretch>
            <a:fillRect/>
          </a:stretch>
        </p:blipFill>
        <p:spPr>
          <a:xfrm>
            <a:off x="1338725" y="4567400"/>
            <a:ext cx="3370436" cy="1968607"/>
          </a:xfrm>
          <a:prstGeom prst="rect">
            <a:avLst/>
          </a:prstGeom>
        </p:spPr>
      </p:pic>
      <p:pic>
        <p:nvPicPr>
          <p:cNvPr id="7" name="Picture 6">
            <a:extLst>
              <a:ext uri="{FF2B5EF4-FFF2-40B4-BE49-F238E27FC236}">
                <a16:creationId xmlns:a16="http://schemas.microsoft.com/office/drawing/2014/main" id="{F17130E2-9C39-B773-79D9-ACB132F5F118}"/>
              </a:ext>
            </a:extLst>
          </p:cNvPr>
          <p:cNvPicPr>
            <a:picLocks noChangeAspect="1"/>
          </p:cNvPicPr>
          <p:nvPr/>
        </p:nvPicPr>
        <p:blipFill>
          <a:blip r:embed="rId4"/>
          <a:stretch>
            <a:fillRect/>
          </a:stretch>
        </p:blipFill>
        <p:spPr>
          <a:xfrm>
            <a:off x="1147817" y="2330244"/>
            <a:ext cx="3228459" cy="1878112"/>
          </a:xfrm>
          <a:prstGeom prst="rect">
            <a:avLst/>
          </a:prstGeom>
        </p:spPr>
      </p:pic>
      <p:pic>
        <p:nvPicPr>
          <p:cNvPr id="9" name="Picture 8">
            <a:extLst>
              <a:ext uri="{FF2B5EF4-FFF2-40B4-BE49-F238E27FC236}">
                <a16:creationId xmlns:a16="http://schemas.microsoft.com/office/drawing/2014/main" id="{D91BD426-95A9-0CE1-5C72-3CC0CB23B656}"/>
              </a:ext>
            </a:extLst>
          </p:cNvPr>
          <p:cNvPicPr>
            <a:picLocks noChangeAspect="1"/>
          </p:cNvPicPr>
          <p:nvPr/>
        </p:nvPicPr>
        <p:blipFill>
          <a:blip r:embed="rId5"/>
          <a:stretch>
            <a:fillRect/>
          </a:stretch>
        </p:blipFill>
        <p:spPr>
          <a:xfrm>
            <a:off x="5270619" y="2185498"/>
            <a:ext cx="3416181" cy="1983589"/>
          </a:xfrm>
          <a:prstGeom prst="rect">
            <a:avLst/>
          </a:prstGeom>
        </p:spPr>
      </p:pic>
      <p:pic>
        <p:nvPicPr>
          <p:cNvPr id="11" name="Picture 10">
            <a:extLst>
              <a:ext uri="{FF2B5EF4-FFF2-40B4-BE49-F238E27FC236}">
                <a16:creationId xmlns:a16="http://schemas.microsoft.com/office/drawing/2014/main" id="{5C536C60-1214-5909-4D2D-07C289AB8F2F}"/>
              </a:ext>
            </a:extLst>
          </p:cNvPr>
          <p:cNvPicPr>
            <a:picLocks noChangeAspect="1"/>
          </p:cNvPicPr>
          <p:nvPr/>
        </p:nvPicPr>
        <p:blipFill>
          <a:blip r:embed="rId6"/>
          <a:stretch>
            <a:fillRect/>
          </a:stretch>
        </p:blipFill>
        <p:spPr>
          <a:xfrm>
            <a:off x="7482840" y="4304024"/>
            <a:ext cx="4022065" cy="2389855"/>
          </a:xfrm>
          <a:prstGeom prst="rect">
            <a:avLst/>
          </a:prstGeom>
        </p:spPr>
      </p:pic>
    </p:spTree>
    <p:extLst>
      <p:ext uri="{BB962C8B-B14F-4D97-AF65-F5344CB8AC3E}">
        <p14:creationId xmlns:p14="http://schemas.microsoft.com/office/powerpoint/2010/main" val="3529530033"/>
      </p:ext>
    </p:extLst>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C8908E2-EE49-44D2-9428-A28D2312A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11" name="Group 10">
            <a:extLst>
              <a:ext uri="{FF2B5EF4-FFF2-40B4-BE49-F238E27FC236}">
                <a16:creationId xmlns:a16="http://schemas.microsoft.com/office/drawing/2014/main" id="{05314994-6337-4875-8CF5-652CAFE834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1999" cy="4267200"/>
            <a:chOff x="7467600" y="0"/>
            <a:chExt cx="4724400" cy="6858000"/>
          </a:xfrm>
        </p:grpSpPr>
        <p:sp>
          <p:nvSpPr>
            <p:cNvPr id="12" name="Rectangle 11">
              <a:extLst>
                <a:ext uri="{FF2B5EF4-FFF2-40B4-BE49-F238E27FC236}">
                  <a16:creationId xmlns:a16="http://schemas.microsoft.com/office/drawing/2014/main" id="{B3A2D4D6-D501-439A-9FC6-397879C465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5CD20BAA-1998-4EBB-AD61-13A92072EC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5" name="Freeform: Shape 14">
            <a:extLst>
              <a:ext uri="{FF2B5EF4-FFF2-40B4-BE49-F238E27FC236}">
                <a16:creationId xmlns:a16="http://schemas.microsoft.com/office/drawing/2014/main" id="{7449A6C7-D15F-4AA5-BFA5-71A404B47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2672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17" name="Rectangle 16">
            <a:extLst>
              <a:ext uri="{FF2B5EF4-FFF2-40B4-BE49-F238E27FC236}">
                <a16:creationId xmlns:a16="http://schemas.microsoft.com/office/drawing/2014/main" id="{ED888B23-07FA-482A-96DF-47E31AF1A6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457201"/>
            <a:ext cx="11277600" cy="5943598"/>
          </a:xfrm>
          <a:prstGeom prst="rect">
            <a:avLst/>
          </a:prstGeom>
          <a:ln w="12700" cap="flat" cmpd="sng" algn="ctr">
            <a:noFill/>
            <a:prstDash val="solid"/>
            <a:miter lim="800000"/>
          </a:ln>
          <a:effectLst>
            <a:outerShdw blurRad="317500" algn="ctr" rotWithShape="0">
              <a:schemeClr val="tx1">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06C8C42B-8688-4025-A381-4FFD4EAA70C0}"/>
              </a:ext>
            </a:extLst>
          </p:cNvPr>
          <p:cNvSpPr>
            <a:spLocks noGrp="1"/>
          </p:cNvSpPr>
          <p:nvPr>
            <p:ph type="title"/>
          </p:nvPr>
        </p:nvSpPr>
        <p:spPr>
          <a:xfrm>
            <a:off x="1143000" y="990599"/>
            <a:ext cx="9906000" cy="685800"/>
          </a:xfrm>
        </p:spPr>
        <p:txBody>
          <a:bodyPr anchor="t">
            <a:normAutofit/>
          </a:bodyPr>
          <a:lstStyle/>
          <a:p>
            <a:r>
              <a:rPr lang="en-US" sz="4000"/>
              <a:t>Outliers + Categorical Distributions</a:t>
            </a:r>
          </a:p>
        </p:txBody>
      </p:sp>
      <p:graphicFrame>
        <p:nvGraphicFramePr>
          <p:cNvPr id="5" name="Content Placeholder 2">
            <a:extLst>
              <a:ext uri="{FF2B5EF4-FFF2-40B4-BE49-F238E27FC236}">
                <a16:creationId xmlns:a16="http://schemas.microsoft.com/office/drawing/2014/main" id="{F15A8FF3-9156-FBBB-670F-147480922FFE}"/>
              </a:ext>
            </a:extLst>
          </p:cNvPr>
          <p:cNvGraphicFramePr>
            <a:graphicFrameLocks noGrp="1"/>
          </p:cNvGraphicFramePr>
          <p:nvPr>
            <p:ph idx="1"/>
            <p:extLst>
              <p:ext uri="{D42A27DB-BD31-4B8C-83A1-F6EECF244321}">
                <p14:modId xmlns:p14="http://schemas.microsoft.com/office/powerpoint/2010/main" val="1967357837"/>
              </p:ext>
            </p:extLst>
          </p:nvPr>
        </p:nvGraphicFramePr>
        <p:xfrm>
          <a:off x="685800" y="2137228"/>
          <a:ext cx="10820400" cy="37337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mc:Choice xmlns:pslz="http://schemas.microsoft.com/office/powerpoint/2016/slidezoom" Requires="pslz">
          <p:graphicFrame>
            <p:nvGraphicFramePr>
              <p:cNvPr id="6" name="Slide Zoom 5">
                <a:extLst>
                  <a:ext uri="{FF2B5EF4-FFF2-40B4-BE49-F238E27FC236}">
                    <a16:creationId xmlns:a16="http://schemas.microsoft.com/office/drawing/2014/main" id="{8D1B788B-8986-CC78-AD43-5C94935371F9}"/>
                  </a:ext>
                </a:extLst>
              </p:cNvPr>
              <p:cNvGraphicFramePr>
                <a:graphicFrameLocks noChangeAspect="1"/>
              </p:cNvGraphicFramePr>
              <p:nvPr>
                <p:extLst>
                  <p:ext uri="{D42A27DB-BD31-4B8C-83A1-F6EECF244321}">
                    <p14:modId xmlns:p14="http://schemas.microsoft.com/office/powerpoint/2010/main" val="2880039731"/>
                  </p:ext>
                </p:extLst>
              </p:nvPr>
            </p:nvGraphicFramePr>
            <p:xfrm>
              <a:off x="3291840" y="-461010"/>
              <a:ext cx="3048000" cy="1714500"/>
            </p:xfrm>
            <a:graphic>
              <a:graphicData uri="http://schemas.microsoft.com/office/powerpoint/2016/slidezoom">
                <pslz:sldZm>
                  <pslz:sldZmObj sldId="263" cId="1203641651">
                    <pslz:zmPr id="{7EEACA42-254B-46D4-9E50-3BF17A2D1683}" returnToParent="0" transitionDur="1000">
                      <p166:blipFill xmlns:p166="http://schemas.microsoft.com/office/powerpoint/2016/6/main">
                        <a:blip r:embed="rId8"/>
                        <a:stretch>
                          <a:fillRect/>
                        </a:stretch>
                      </p166:blipFill>
                      <p166:spPr xmlns:p166="http://schemas.microsoft.com/office/powerpoint/2016/6/main">
                        <a:xfrm>
                          <a:off x="0" y="0"/>
                          <a:ext cx="3048000" cy="1714500"/>
                        </a:xfrm>
                        <a:prstGeom prst="rect">
                          <a:avLst/>
                        </a:prstGeom>
                        <a:ln w="3175">
                          <a:solidFill>
                            <a:prstClr val="ltGray"/>
                          </a:solidFill>
                        </a:ln>
                      </p166:spPr>
                    </pslz:zmPr>
                  </pslz:sldZmObj>
                </pslz:sldZm>
              </a:graphicData>
            </a:graphic>
          </p:graphicFrame>
        </mc:Choice>
        <mc:Fallback>
          <p:pic>
            <p:nvPicPr>
              <p:cNvPr id="6" name="Slide Zoom 5">
                <a:hlinkClick r:id="rId9" action="ppaction://hlinksldjump"/>
                <a:extLst>
                  <a:ext uri="{FF2B5EF4-FFF2-40B4-BE49-F238E27FC236}">
                    <a16:creationId xmlns:a16="http://schemas.microsoft.com/office/drawing/2014/main" id="{8D1B788B-8986-CC78-AD43-5C94935371F9}"/>
                  </a:ext>
                </a:extLst>
              </p:cNvPr>
              <p:cNvPicPr>
                <a:picLocks noGrp="1" noRot="1" noChangeAspect="1" noMove="1" noResize="1" noEditPoints="1" noAdjustHandles="1" noChangeArrowheads="1" noChangeShapeType="1"/>
              </p:cNvPicPr>
              <p:nvPr/>
            </p:nvPicPr>
            <p:blipFill>
              <a:blip r:embed="rId8"/>
              <a:stretch>
                <a:fillRect/>
              </a:stretch>
            </p:blipFill>
            <p:spPr>
              <a:xfrm>
                <a:off x="3291840" y="-461010"/>
                <a:ext cx="3048000" cy="1714500"/>
              </a:xfrm>
              <a:prstGeom prst="rect">
                <a:avLst/>
              </a:prstGeom>
              <a:ln w="3175">
                <a:solidFill>
                  <a:prstClr val="ltGray"/>
                </a:solidFill>
              </a:ln>
            </p:spPr>
          </p:pic>
        </mc:Fallback>
      </mc:AlternateContent>
    </p:spTree>
    <p:extLst>
      <p:ext uri="{BB962C8B-B14F-4D97-AF65-F5344CB8AC3E}">
        <p14:creationId xmlns:p14="http://schemas.microsoft.com/office/powerpoint/2010/main" val="1639736289"/>
      </p:ext>
    </p:extLst>
  </p:cSld>
  <p:clrMapOvr>
    <a:masterClrMapping/>
  </p:clrMapOvr>
  <mc:AlternateContent xmlns:mc="http://schemas.openxmlformats.org/markup-compatibility/2006">
    <mc:Choice xmlns:p14="http://schemas.microsoft.com/office/powerpoint/2010/main" Requires="p14">
      <p:transition p14:dur="100">
        <p:cut/>
      </p:transition>
    </mc:Choice>
    <mc:Fallback>
      <p:transition>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B1102A-AE7E-7481-087B-D1C4B4E5D71D}"/>
              </a:ext>
            </a:extLst>
          </p:cNvPr>
          <p:cNvSpPr>
            <a:spLocks noGrp="1"/>
          </p:cNvSpPr>
          <p:nvPr>
            <p:ph type="title"/>
          </p:nvPr>
        </p:nvSpPr>
        <p:spPr>
          <a:xfrm>
            <a:off x="630936" y="639520"/>
            <a:ext cx="3429000" cy="1719072"/>
          </a:xfrm>
        </p:spPr>
        <p:txBody>
          <a:bodyPr anchor="b">
            <a:normAutofit/>
          </a:bodyPr>
          <a:lstStyle/>
          <a:p>
            <a:r>
              <a:rPr lang="en-US" sz="3800"/>
              <a:t>Feature - Target Relationships</a:t>
            </a:r>
          </a:p>
        </p:txBody>
      </p:sp>
      <p:sp>
        <p:nvSpPr>
          <p:cNvPr id="18"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8E33BEE-0A9F-EA52-4C2E-9F047A87293A}"/>
              </a:ext>
            </a:extLst>
          </p:cNvPr>
          <p:cNvSpPr>
            <a:spLocks noGrp="1"/>
          </p:cNvSpPr>
          <p:nvPr>
            <p:ph idx="1"/>
          </p:nvPr>
        </p:nvSpPr>
        <p:spPr>
          <a:xfrm>
            <a:off x="630936" y="2807208"/>
            <a:ext cx="3429000" cy="3410712"/>
          </a:xfrm>
        </p:spPr>
        <p:txBody>
          <a:bodyPr anchor="t">
            <a:normAutofit/>
          </a:bodyPr>
          <a:lstStyle/>
          <a:p>
            <a:r>
              <a:rPr lang="en-US" sz="2200"/>
              <a:t>Numeric vs target: distribution shifts across y=0 vs y=1</a:t>
            </a:r>
          </a:p>
          <a:p>
            <a:r>
              <a:rPr lang="en-US" sz="2200"/>
              <a:t>Subscription rate by category: strongest differences by variables like month/contact/job (depending on plot)</a:t>
            </a:r>
          </a:p>
        </p:txBody>
      </p:sp>
      <p:pic>
        <p:nvPicPr>
          <p:cNvPr id="8" name="Picture 7">
            <a:extLst>
              <a:ext uri="{FF2B5EF4-FFF2-40B4-BE49-F238E27FC236}">
                <a16:creationId xmlns:a16="http://schemas.microsoft.com/office/drawing/2014/main" id="{6DA8DCD4-39B2-EC02-BDD3-713843F61CDA}"/>
              </a:ext>
            </a:extLst>
          </p:cNvPr>
          <p:cNvPicPr>
            <a:picLocks noChangeAspect="1"/>
          </p:cNvPicPr>
          <p:nvPr/>
        </p:nvPicPr>
        <p:blipFill>
          <a:blip r:embed="rId3"/>
          <a:stretch>
            <a:fillRect/>
          </a:stretch>
        </p:blipFill>
        <p:spPr>
          <a:xfrm>
            <a:off x="4654296" y="1375144"/>
            <a:ext cx="6903720" cy="4107712"/>
          </a:xfrm>
          <a:prstGeom prst="rect">
            <a:avLst/>
          </a:prstGeom>
        </p:spPr>
      </p:pic>
    </p:spTree>
    <p:extLst>
      <p:ext uri="{BB962C8B-B14F-4D97-AF65-F5344CB8AC3E}">
        <p14:creationId xmlns:p14="http://schemas.microsoft.com/office/powerpoint/2010/main" val="1203641651"/>
      </p:ext>
    </p:extLst>
  </p:cSld>
  <p:clrMapOvr>
    <a:masterClrMapping/>
  </p:clrMapOvr>
  <p:transition spd="slow">
    <p:randomBar dir="vert"/>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C8908E2-EE49-44D2-9428-A28D2312A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11" name="Group 10">
            <a:extLst>
              <a:ext uri="{FF2B5EF4-FFF2-40B4-BE49-F238E27FC236}">
                <a16:creationId xmlns:a16="http://schemas.microsoft.com/office/drawing/2014/main" id="{05314994-6337-4875-8CF5-652CAFE834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1999" cy="4267200"/>
            <a:chOff x="7467600" y="0"/>
            <a:chExt cx="4724400" cy="6858000"/>
          </a:xfrm>
        </p:grpSpPr>
        <p:sp>
          <p:nvSpPr>
            <p:cNvPr id="12" name="Rectangle 11">
              <a:extLst>
                <a:ext uri="{FF2B5EF4-FFF2-40B4-BE49-F238E27FC236}">
                  <a16:creationId xmlns:a16="http://schemas.microsoft.com/office/drawing/2014/main" id="{B3A2D4D6-D501-439A-9FC6-397879C465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5CD20BAA-1998-4EBB-AD61-13A92072EC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5" name="Freeform: Shape 14">
            <a:extLst>
              <a:ext uri="{FF2B5EF4-FFF2-40B4-BE49-F238E27FC236}">
                <a16:creationId xmlns:a16="http://schemas.microsoft.com/office/drawing/2014/main" id="{7449A6C7-D15F-4AA5-BFA5-71A404B47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2672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17" name="Rectangle 16">
            <a:extLst>
              <a:ext uri="{FF2B5EF4-FFF2-40B4-BE49-F238E27FC236}">
                <a16:creationId xmlns:a16="http://schemas.microsoft.com/office/drawing/2014/main" id="{ED888B23-07FA-482A-96DF-47E31AF1A6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457201"/>
            <a:ext cx="11277600" cy="5943598"/>
          </a:xfrm>
          <a:prstGeom prst="rect">
            <a:avLst/>
          </a:prstGeom>
          <a:ln w="12700" cap="flat" cmpd="sng" algn="ctr">
            <a:noFill/>
            <a:prstDash val="solid"/>
            <a:miter lim="800000"/>
          </a:ln>
          <a:effectLst>
            <a:outerShdw blurRad="317500" algn="ctr" rotWithShape="0">
              <a:schemeClr val="tx1">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77A58193-45B5-02C2-0BF0-DB44350FDE69}"/>
              </a:ext>
            </a:extLst>
          </p:cNvPr>
          <p:cNvSpPr>
            <a:spLocks noGrp="1"/>
          </p:cNvSpPr>
          <p:nvPr>
            <p:ph type="title"/>
          </p:nvPr>
        </p:nvSpPr>
        <p:spPr>
          <a:xfrm>
            <a:off x="1143000" y="990599"/>
            <a:ext cx="9906000" cy="685800"/>
          </a:xfrm>
        </p:spPr>
        <p:txBody>
          <a:bodyPr anchor="t">
            <a:normAutofit/>
          </a:bodyPr>
          <a:lstStyle/>
          <a:p>
            <a:r>
              <a:rPr lang="en-US" sz="4000"/>
              <a:t>Regression Modeling Setup</a:t>
            </a:r>
          </a:p>
        </p:txBody>
      </p:sp>
      <p:graphicFrame>
        <p:nvGraphicFramePr>
          <p:cNvPr id="5" name="Content Placeholder 2">
            <a:extLst>
              <a:ext uri="{FF2B5EF4-FFF2-40B4-BE49-F238E27FC236}">
                <a16:creationId xmlns:a16="http://schemas.microsoft.com/office/drawing/2014/main" id="{8EDE797B-158A-7911-21F6-F449F0A230A4}"/>
              </a:ext>
            </a:extLst>
          </p:cNvPr>
          <p:cNvGraphicFramePr>
            <a:graphicFrameLocks noGrp="1"/>
          </p:cNvGraphicFramePr>
          <p:nvPr>
            <p:ph idx="1"/>
            <p:extLst>
              <p:ext uri="{D42A27DB-BD31-4B8C-83A1-F6EECF244321}">
                <p14:modId xmlns:p14="http://schemas.microsoft.com/office/powerpoint/2010/main" val="894433777"/>
              </p:ext>
            </p:extLst>
          </p:nvPr>
        </p:nvGraphicFramePr>
        <p:xfrm>
          <a:off x="685800" y="2137228"/>
          <a:ext cx="10820400" cy="37337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60962394"/>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C18733-8F56-4BB4-CCD5-7B86A83EEB42}"/>
              </a:ext>
            </a:extLst>
          </p:cNvPr>
          <p:cNvSpPr>
            <a:spLocks noGrp="1"/>
          </p:cNvSpPr>
          <p:nvPr>
            <p:ph type="title"/>
          </p:nvPr>
        </p:nvSpPr>
        <p:spPr>
          <a:xfrm>
            <a:off x="630936" y="639520"/>
            <a:ext cx="3429000" cy="1719072"/>
          </a:xfrm>
        </p:spPr>
        <p:txBody>
          <a:bodyPr anchor="b">
            <a:normAutofit/>
          </a:bodyPr>
          <a:lstStyle/>
          <a:p>
            <a:r>
              <a:rPr lang="en-US" sz="3800"/>
              <a:t>Regression Results + Visualization</a:t>
            </a:r>
          </a:p>
        </p:txBody>
      </p:sp>
      <p:sp>
        <p:nvSpPr>
          <p:cNvPr id="15"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EA666AF-2DE4-EA25-E0AA-B0F308302871}"/>
              </a:ext>
            </a:extLst>
          </p:cNvPr>
          <p:cNvSpPr>
            <a:spLocks noGrp="1"/>
          </p:cNvSpPr>
          <p:nvPr>
            <p:ph idx="1"/>
          </p:nvPr>
        </p:nvSpPr>
        <p:spPr>
          <a:xfrm>
            <a:off x="630936" y="2807208"/>
            <a:ext cx="3429000" cy="3410712"/>
          </a:xfrm>
        </p:spPr>
        <p:txBody>
          <a:bodyPr anchor="t">
            <a:normAutofit/>
          </a:bodyPr>
          <a:lstStyle/>
          <a:p>
            <a:r>
              <a:rPr lang="en-US" sz="2200" dirty="0"/>
              <a:t>Key result: Ridge / Linear Regression / Lasso are extremely close</a:t>
            </a:r>
          </a:p>
          <a:p>
            <a:r>
              <a:rPr lang="en-US" sz="2200" dirty="0"/>
              <a:t>Reported metrics from notebook (test):</a:t>
            </a:r>
          </a:p>
          <a:p>
            <a:pPr lvl="1"/>
            <a:r>
              <a:rPr lang="en-US" sz="2200" dirty="0"/>
              <a:t>R² ≈ 0.981</a:t>
            </a:r>
          </a:p>
          <a:p>
            <a:pPr lvl="1"/>
            <a:r>
              <a:rPr lang="en-US" sz="2200" dirty="0"/>
              <a:t>RMSE ≈ 1.46</a:t>
            </a:r>
          </a:p>
          <a:p>
            <a:pPr lvl="1"/>
            <a:endParaRPr lang="en-US" sz="2200" dirty="0"/>
          </a:p>
        </p:txBody>
      </p:sp>
      <p:pic>
        <p:nvPicPr>
          <p:cNvPr id="5" name="Picture 4">
            <a:extLst>
              <a:ext uri="{FF2B5EF4-FFF2-40B4-BE49-F238E27FC236}">
                <a16:creationId xmlns:a16="http://schemas.microsoft.com/office/drawing/2014/main" id="{43C7EE4E-B82E-C2F2-8E33-7AF120C73CB1}"/>
              </a:ext>
            </a:extLst>
          </p:cNvPr>
          <p:cNvPicPr>
            <a:picLocks noChangeAspect="1"/>
          </p:cNvPicPr>
          <p:nvPr/>
        </p:nvPicPr>
        <p:blipFill>
          <a:blip r:embed="rId3"/>
          <a:stretch>
            <a:fillRect/>
          </a:stretch>
        </p:blipFill>
        <p:spPr>
          <a:xfrm>
            <a:off x="4654296" y="779698"/>
            <a:ext cx="6903720" cy="5298604"/>
          </a:xfrm>
          <a:prstGeom prst="rect">
            <a:avLst/>
          </a:prstGeom>
        </p:spPr>
      </p:pic>
    </p:spTree>
    <p:extLst>
      <p:ext uri="{BB962C8B-B14F-4D97-AF65-F5344CB8AC3E}">
        <p14:creationId xmlns:p14="http://schemas.microsoft.com/office/powerpoint/2010/main" val="3871289885"/>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616FBC-8E91-1B0A-10D1-4B6394221E65}"/>
              </a:ext>
            </a:extLst>
          </p:cNvPr>
          <p:cNvSpPr>
            <a:spLocks noGrp="1"/>
          </p:cNvSpPr>
          <p:nvPr>
            <p:ph type="title"/>
          </p:nvPr>
        </p:nvSpPr>
        <p:spPr>
          <a:xfrm>
            <a:off x="841248" y="548640"/>
            <a:ext cx="3600860" cy="5431536"/>
          </a:xfrm>
        </p:spPr>
        <p:txBody>
          <a:bodyPr>
            <a:normAutofit/>
          </a:bodyPr>
          <a:lstStyle/>
          <a:p>
            <a:r>
              <a:rPr lang="en-US" sz="4600"/>
              <a:t>Classification Models</a:t>
            </a:r>
          </a:p>
        </p:txBody>
      </p:sp>
      <p:sp>
        <p:nvSpPr>
          <p:cNvPr id="1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D42A6E-63FD-75C1-C179-4FCCD84B0C7B}"/>
              </a:ext>
            </a:extLst>
          </p:cNvPr>
          <p:cNvSpPr>
            <a:spLocks noGrp="1"/>
          </p:cNvSpPr>
          <p:nvPr>
            <p:ph idx="1"/>
          </p:nvPr>
        </p:nvSpPr>
        <p:spPr>
          <a:xfrm>
            <a:off x="5126418" y="552091"/>
            <a:ext cx="6224335" cy="5431536"/>
          </a:xfrm>
        </p:spPr>
        <p:txBody>
          <a:bodyPr anchor="ctr">
            <a:normAutofit/>
          </a:bodyPr>
          <a:lstStyle/>
          <a:p>
            <a:r>
              <a:rPr lang="en-US" sz="2200"/>
              <a:t>Models evaluated:</a:t>
            </a:r>
          </a:p>
          <a:p>
            <a:pPr lvl="1"/>
            <a:r>
              <a:rPr lang="en-US" sz="2200"/>
              <a:t>Logistic Regression (baseline)</a:t>
            </a:r>
          </a:p>
          <a:p>
            <a:pPr lvl="1"/>
            <a:r>
              <a:rPr lang="en-US" sz="2200"/>
              <a:t>Decision Tree (baseline)</a:t>
            </a:r>
          </a:p>
          <a:p>
            <a:pPr lvl="1"/>
            <a:r>
              <a:rPr lang="en-US" sz="2200"/>
              <a:t>Linear SVM (baseline + tuned)</a:t>
            </a:r>
          </a:p>
          <a:p>
            <a:pPr marL="457200" lvl="1" indent="0">
              <a:buNone/>
            </a:pPr>
            <a:endParaRPr lang="en-US" sz="2200"/>
          </a:p>
          <a:p>
            <a:pPr lvl="1"/>
            <a:r>
              <a:rPr lang="en-US" sz="2200"/>
              <a:t>Why F1 matters: class imbalance (yes ≈ 11.7%)</a:t>
            </a:r>
          </a:p>
          <a:p>
            <a:pPr lvl="1"/>
            <a:r>
              <a:rPr lang="en-US" sz="2200"/>
              <a:t>Best tuned parameter:</a:t>
            </a:r>
          </a:p>
          <a:p>
            <a:pPr lvl="2"/>
            <a:r>
              <a:rPr lang="en-US" sz="2200"/>
              <a:t>SVM best C = 0.5 (from GridSearch)</a:t>
            </a:r>
          </a:p>
          <a:p>
            <a:endParaRPr lang="en-US" sz="2200"/>
          </a:p>
        </p:txBody>
      </p:sp>
    </p:spTree>
    <p:extLst>
      <p:ext uri="{BB962C8B-B14F-4D97-AF65-F5344CB8AC3E}">
        <p14:creationId xmlns:p14="http://schemas.microsoft.com/office/powerpoint/2010/main" val="317846236"/>
      </p:ext>
    </p:extLst>
  </p:cSld>
  <p:clrMapOvr>
    <a:masterClrMapping/>
  </p:clrMapOvr>
  <p:transition spd="slow">
    <p:cove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B15F61-F4A6-0C75-8680-14D67381B042}"/>
              </a:ext>
            </a:extLst>
          </p:cNvPr>
          <p:cNvSpPr>
            <a:spLocks noGrp="1"/>
          </p:cNvSpPr>
          <p:nvPr>
            <p:ph type="title"/>
          </p:nvPr>
        </p:nvSpPr>
        <p:spPr>
          <a:xfrm>
            <a:off x="841248" y="548640"/>
            <a:ext cx="3600860" cy="5431536"/>
          </a:xfrm>
        </p:spPr>
        <p:txBody>
          <a:bodyPr>
            <a:normAutofit/>
          </a:bodyPr>
          <a:lstStyle/>
          <a:p>
            <a:r>
              <a:rPr lang="en-US" sz="5400"/>
              <a:t>Clustering: Selecting K + Visualizing Clusters</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DA4864A-0D54-D291-5A8D-2B0FCB0D4183}"/>
              </a:ext>
            </a:extLst>
          </p:cNvPr>
          <p:cNvSpPr>
            <a:spLocks noGrp="1"/>
          </p:cNvSpPr>
          <p:nvPr>
            <p:ph idx="1"/>
          </p:nvPr>
        </p:nvSpPr>
        <p:spPr>
          <a:xfrm>
            <a:off x="5126418" y="552091"/>
            <a:ext cx="6224335" cy="5431536"/>
          </a:xfrm>
        </p:spPr>
        <p:txBody>
          <a:bodyPr anchor="ctr">
            <a:normAutofit/>
          </a:bodyPr>
          <a:lstStyle/>
          <a:p>
            <a:r>
              <a:rPr lang="en-US" sz="2200"/>
              <a:t>Clustering method: MiniBatch K-Means on preprocessed features (no target column)</a:t>
            </a:r>
          </a:p>
          <a:p>
            <a:pPr lvl="1"/>
            <a:r>
              <a:rPr lang="en-US" sz="2200"/>
              <a:t>Elbow (inertia) + silhouette</a:t>
            </a:r>
          </a:p>
          <a:p>
            <a:pPr lvl="1"/>
            <a:r>
              <a:rPr lang="en-US" sz="2200"/>
              <a:t>Best k reported: 2</a:t>
            </a:r>
          </a:p>
          <a:p>
            <a:r>
              <a:rPr lang="en-US" sz="2200"/>
              <a:t>K selection:</a:t>
            </a:r>
          </a:p>
          <a:p>
            <a:r>
              <a:rPr lang="en-US" sz="2200"/>
              <a:t>2D visualization: TruncatedSVD projection</a:t>
            </a:r>
          </a:p>
          <a:p>
            <a:endParaRPr lang="en-US" sz="2200"/>
          </a:p>
        </p:txBody>
      </p:sp>
    </p:spTree>
    <p:extLst>
      <p:ext uri="{BB962C8B-B14F-4D97-AF65-F5344CB8AC3E}">
        <p14:creationId xmlns:p14="http://schemas.microsoft.com/office/powerpoint/2010/main" val="2837203199"/>
      </p:ext>
    </p:extLst>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A173DF-E576-A3E1-C59F-781B39674D54}"/>
              </a:ext>
            </a:extLst>
          </p:cNvPr>
          <p:cNvSpPr>
            <a:spLocks noGrp="1"/>
          </p:cNvSpPr>
          <p:nvPr>
            <p:ph type="title"/>
          </p:nvPr>
        </p:nvSpPr>
        <p:spPr>
          <a:xfrm>
            <a:off x="838200" y="365125"/>
            <a:ext cx="10515600" cy="1325563"/>
          </a:xfrm>
        </p:spPr>
        <p:txBody>
          <a:bodyPr>
            <a:normAutofit/>
          </a:bodyPr>
          <a:lstStyle/>
          <a:p>
            <a:r>
              <a:rPr lang="en-US" sz="4600"/>
              <a:t>Cluster Profiling (What the clusters mean)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4C83593-88A5-5B8B-B271-7B46CFC9FB15}"/>
              </a:ext>
            </a:extLst>
          </p:cNvPr>
          <p:cNvSpPr>
            <a:spLocks noGrp="1"/>
          </p:cNvSpPr>
          <p:nvPr>
            <p:ph idx="1"/>
          </p:nvPr>
        </p:nvSpPr>
        <p:spPr>
          <a:xfrm>
            <a:off x="838200" y="1929384"/>
            <a:ext cx="10515600" cy="4251960"/>
          </a:xfrm>
        </p:spPr>
        <p:txBody>
          <a:bodyPr>
            <a:normAutofit/>
          </a:bodyPr>
          <a:lstStyle/>
          <a:p>
            <a:r>
              <a:rPr lang="en-US" sz="2200"/>
              <a:t>Cluster size summary</a:t>
            </a:r>
          </a:p>
          <a:p>
            <a:pPr lvl="1"/>
            <a:r>
              <a:rPr lang="en-US" sz="2200"/>
              <a:t>Cluster 0: 36,954</a:t>
            </a:r>
          </a:p>
          <a:p>
            <a:pPr lvl="1"/>
            <a:r>
              <a:rPr lang="en-US" sz="2200"/>
              <a:t>Cluster 1: 8,257</a:t>
            </a:r>
          </a:p>
          <a:p>
            <a:r>
              <a:rPr lang="en-US" sz="2200"/>
              <a:t>Numeric averages table (age, balance, duration, campaign, previous, pdays)</a:t>
            </a:r>
          </a:p>
          <a:p>
            <a:r>
              <a:rPr lang="en-US" sz="2200"/>
              <a:t>Top categorical breakdowns (example shown in notebook: job)</a:t>
            </a:r>
          </a:p>
        </p:txBody>
      </p:sp>
    </p:spTree>
    <p:extLst>
      <p:ext uri="{BB962C8B-B14F-4D97-AF65-F5344CB8AC3E}">
        <p14:creationId xmlns:p14="http://schemas.microsoft.com/office/powerpoint/2010/main" val="1194911558"/>
      </p:ext>
    </p:extLst>
  </p:cSld>
  <p:clrMapOvr>
    <a:masterClrMapping/>
  </p:clrMapOvr>
  <p:transition spd="slow">
    <p:comb/>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BA777F-9DB6-5B13-DA36-F30DAB45232B}"/>
              </a:ext>
            </a:extLst>
          </p:cNvPr>
          <p:cNvSpPr>
            <a:spLocks noGrp="1"/>
          </p:cNvSpPr>
          <p:nvPr>
            <p:ph type="title"/>
          </p:nvPr>
        </p:nvSpPr>
        <p:spPr>
          <a:xfrm>
            <a:off x="841248" y="548640"/>
            <a:ext cx="3600860" cy="5431536"/>
          </a:xfrm>
        </p:spPr>
        <p:txBody>
          <a:bodyPr>
            <a:normAutofit/>
          </a:bodyPr>
          <a:lstStyle/>
          <a:p>
            <a:r>
              <a:rPr lang="en-US" sz="4600"/>
              <a:t>Association Rule Mining (Patterns among successful subscriptions)</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D535B4A-6BFE-1A65-AE17-CB95AAA32DA8}"/>
              </a:ext>
            </a:extLst>
          </p:cNvPr>
          <p:cNvSpPr>
            <a:spLocks noGrp="1"/>
          </p:cNvSpPr>
          <p:nvPr>
            <p:ph idx="1"/>
          </p:nvPr>
        </p:nvSpPr>
        <p:spPr>
          <a:xfrm>
            <a:off x="5126418" y="552091"/>
            <a:ext cx="6224335" cy="5431536"/>
          </a:xfrm>
        </p:spPr>
        <p:txBody>
          <a:bodyPr anchor="ctr">
            <a:normAutofit/>
          </a:bodyPr>
          <a:lstStyle/>
          <a:p>
            <a:r>
              <a:rPr lang="en-US" sz="2200"/>
              <a:t>Association Rule Mining (Patterns among successful subscriptions)</a:t>
            </a:r>
          </a:p>
          <a:p>
            <a:r>
              <a:rPr lang="en-US" sz="2200"/>
              <a:t>Method: Apriori + association rules</a:t>
            </a:r>
          </a:p>
          <a:p>
            <a:r>
              <a:rPr lang="en-US" sz="2200"/>
              <a:t>Constraints used:</a:t>
            </a:r>
          </a:p>
          <a:p>
            <a:pPr lvl="1"/>
            <a:r>
              <a:rPr lang="en-US" sz="2200"/>
              <a:t>min_support = 0.05</a:t>
            </a:r>
          </a:p>
          <a:p>
            <a:pPr lvl="1"/>
            <a:r>
              <a:rPr lang="en-US" sz="2200"/>
              <a:t>max_len = 3</a:t>
            </a:r>
          </a:p>
          <a:p>
            <a:pPr lvl="1"/>
            <a:r>
              <a:rPr lang="en-US" sz="2200"/>
              <a:t>rules filtered to confidence ≥ </a:t>
            </a:r>
            <a:r>
              <a:rPr lang="en-US" sz="2200" b="1"/>
              <a:t>0.60</a:t>
            </a:r>
            <a:endParaRPr lang="en-US" sz="2200"/>
          </a:p>
        </p:txBody>
      </p:sp>
    </p:spTree>
    <p:extLst>
      <p:ext uri="{BB962C8B-B14F-4D97-AF65-F5344CB8AC3E}">
        <p14:creationId xmlns:p14="http://schemas.microsoft.com/office/powerpoint/2010/main" val="3400147394"/>
      </p:ext>
    </p:extLst>
  </p:cSld>
  <p:clrMapOvr>
    <a:masterClrMapping/>
  </p:clrMapOvr>
  <mc:AlternateContent xmlns:mc="http://schemas.openxmlformats.org/markup-compatibility/2006">
    <mc:Choice xmlns:p14="http://schemas.microsoft.com/office/powerpoint/2010/main" Requires="p14">
      <p:transition spd="slow" p14:dur="1400">
        <p14:doors dir="ver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B8E0D9F-9D73-B4BD-D4DC-4F92C799B25F}"/>
              </a:ext>
            </a:extLst>
          </p:cNvPr>
          <p:cNvPicPr>
            <a:picLocks noChangeAspect="1"/>
          </p:cNvPicPr>
          <p:nvPr/>
        </p:nvPicPr>
        <p:blipFill>
          <a:blip r:embed="rId3">
            <a:duotone>
              <a:schemeClr val="bg2">
                <a:shade val="45000"/>
                <a:satMod val="135000"/>
              </a:schemeClr>
              <a:prstClr val="white"/>
            </a:duotone>
          </a:blip>
          <a:srcRect/>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688DF2-E908-4448-ED87-63B57E677A8A}"/>
              </a:ext>
            </a:extLst>
          </p:cNvPr>
          <p:cNvSpPr>
            <a:spLocks noGrp="1"/>
          </p:cNvSpPr>
          <p:nvPr>
            <p:ph type="title"/>
          </p:nvPr>
        </p:nvSpPr>
        <p:spPr>
          <a:xfrm>
            <a:off x="838200" y="365125"/>
            <a:ext cx="10515600" cy="1325563"/>
          </a:xfrm>
        </p:spPr>
        <p:txBody>
          <a:bodyPr>
            <a:normAutofit/>
          </a:bodyPr>
          <a:lstStyle/>
          <a:p>
            <a:r>
              <a:rPr lang="en-US" dirty="0"/>
              <a:t>Key Findings, Challenges, Next Steps</a:t>
            </a:r>
          </a:p>
        </p:txBody>
      </p:sp>
      <p:graphicFrame>
        <p:nvGraphicFramePr>
          <p:cNvPr id="5" name="Content Placeholder 2">
            <a:extLst>
              <a:ext uri="{FF2B5EF4-FFF2-40B4-BE49-F238E27FC236}">
                <a16:creationId xmlns:a16="http://schemas.microsoft.com/office/drawing/2014/main" id="{359E8AC6-42D1-1B51-5E22-1FEC97DB3081}"/>
              </a:ext>
            </a:extLst>
          </p:cNvPr>
          <p:cNvGraphicFramePr>
            <a:graphicFrameLocks noGrp="1"/>
          </p:cNvGraphicFramePr>
          <p:nvPr>
            <p:ph idx="1"/>
            <p:extLst>
              <p:ext uri="{D42A27DB-BD31-4B8C-83A1-F6EECF244321}">
                <p14:modId xmlns:p14="http://schemas.microsoft.com/office/powerpoint/2010/main" val="199187977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027311098"/>
      </p:ext>
    </p:extLst>
  </p:cSld>
  <p:clrMapOvr>
    <a:masterClrMapping/>
  </p:clrMapOvr>
  <p:transition spd="slow">
    <p:cove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12BAB75BE95C84A90D85BE4A5F82094" ma:contentTypeVersion="11" ma:contentTypeDescription="Create a new document." ma:contentTypeScope="" ma:versionID="f6b5dfbdc13e07ee8bdd8021327b34f5">
  <xsd:schema xmlns:xsd="http://www.w3.org/2001/XMLSchema" xmlns:xs="http://www.w3.org/2001/XMLSchema" xmlns:p="http://schemas.microsoft.com/office/2006/metadata/properties" xmlns:ns3="bc5f7283-e1b5-456c-b0dc-5b4857ffd6c0" targetNamespace="http://schemas.microsoft.com/office/2006/metadata/properties" ma:root="true" ma:fieldsID="51a46b36ab0123d1e855f0ffefaa95be" ns3:_="">
    <xsd:import namespace="bc5f7283-e1b5-456c-b0dc-5b4857ffd6c0"/>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5f7283-e1b5-456c-b0dc-5b4857ffd6c0"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BillingMetadata" ma:index="1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bc5f7283-e1b5-456c-b0dc-5b4857ffd6c0" xsi:nil="true"/>
  </documentManagement>
</p:properties>
</file>

<file path=customXml/itemProps1.xml><?xml version="1.0" encoding="utf-8"?>
<ds:datastoreItem xmlns:ds="http://schemas.openxmlformats.org/officeDocument/2006/customXml" ds:itemID="{D87F0966-824B-4A73-BEE4-01A5028871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c5f7283-e1b5-456c-b0dc-5b4857ffd6c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9B38309-A822-4B90-B87D-5E5B8C5F2F6A}">
  <ds:schemaRefs>
    <ds:schemaRef ds:uri="http://schemas.microsoft.com/sharepoint/v3/contenttype/forms"/>
  </ds:schemaRefs>
</ds:datastoreItem>
</file>

<file path=customXml/itemProps3.xml><?xml version="1.0" encoding="utf-8"?>
<ds:datastoreItem xmlns:ds="http://schemas.openxmlformats.org/officeDocument/2006/customXml" ds:itemID="{81927F41-571A-42A6-84EE-7760F3C1561B}">
  <ds:schemaRefs>
    <ds:schemaRef ds:uri="http://www.w3.org/XML/1998/namespace"/>
    <ds:schemaRef ds:uri="http://schemas.microsoft.com/office/2006/documentManagement/types"/>
    <ds:schemaRef ds:uri="bc5f7283-e1b5-456c-b0dc-5b4857ffd6c0"/>
    <ds:schemaRef ds:uri="http://schemas.openxmlformats.org/package/2006/metadata/core-properties"/>
    <ds:schemaRef ds:uri="http://purl.org/dc/elements/1.1/"/>
    <ds:schemaRef ds:uri="http://purl.org/dc/terms/"/>
    <ds:schemaRef ds:uri="http://schemas.microsoft.com/office/infopath/2007/PartnerControls"/>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129</TotalTime>
  <Words>2137</Words>
  <Application>Microsoft Office PowerPoint</Application>
  <PresentationFormat>Widescreen</PresentationFormat>
  <Paragraphs>125</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Calibri</vt:lpstr>
      <vt:lpstr>Office Theme</vt:lpstr>
      <vt:lpstr>Bank Marketing Dataset: EDA, Regression, Classification, Clustering &amp; Pattern Mining</vt:lpstr>
      <vt:lpstr>Roadmap</vt:lpstr>
      <vt:lpstr>Dataset Overview</vt:lpstr>
      <vt:lpstr>Data Validation &amp; Cleaning Decisions</vt:lpstr>
      <vt:lpstr>Target Balance (Class Imbalance)</vt:lpstr>
      <vt:lpstr>Numeric Feature Distributions</vt:lpstr>
      <vt:lpstr>Outliers + Categorical Distributions</vt:lpstr>
      <vt:lpstr>Feature - Target Relationships</vt:lpstr>
      <vt:lpstr>Regression Modeling Setup</vt:lpstr>
      <vt:lpstr>Regression Results + Visualization</vt:lpstr>
      <vt:lpstr>Classification Models</vt:lpstr>
      <vt:lpstr>Clustering: Selecting K + Visualizing Clusters</vt:lpstr>
      <vt:lpstr>Cluster Profiling (What the clusters mean)</vt:lpstr>
      <vt:lpstr>Association Rule Mining (Patterns among successful subscriptions)</vt:lpstr>
      <vt:lpstr>Key Findings, Challenges,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Suresh Ghimire</dc:creator>
  <cp:lastModifiedBy>Suresh Ghimire</cp:lastModifiedBy>
  <cp:revision>2</cp:revision>
  <dcterms:created xsi:type="dcterms:W3CDTF">2026-02-15T13:18:25Z</dcterms:created>
  <dcterms:modified xsi:type="dcterms:W3CDTF">2026-02-15T15:27:29Z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0x010100012BAB75BE95C84A90D85BE4A5F82094</vt:lpwstr>
  </property>
</Properties>
</file>